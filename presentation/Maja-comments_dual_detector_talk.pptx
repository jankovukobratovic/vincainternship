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0.xml" ContentType="application/vnd.ms-powerpoint.comments+xml"/>
  <Override PartName="/ppt/notesSlides/notesSlide2.xml" ContentType="application/vnd.openxmlformats-officedocument.presentationml.notesSlide+xml"/>
  <Override PartName="/ppt/comments/modernComment_101_0.xml" ContentType="application/vnd.ms-powerpoint.comments+xml"/>
  <Override PartName="/ppt/notesSlides/notesSlide3.xml" ContentType="application/vnd.openxmlformats-officedocument.presentationml.notesSlide+xml"/>
  <Override PartName="/ppt/comments/modernComment_102_0.xml" ContentType="application/vnd.ms-powerpoint.comments+xml"/>
  <Override PartName="/ppt/notesSlides/notesSlide4.xml" ContentType="application/vnd.openxmlformats-officedocument.presentationml.notesSlide+xml"/>
  <Override PartName="/ppt/comments/modernComment_103_0.xml" ContentType="application/vnd.ms-powerpoint.comments+xml"/>
  <Override PartName="/ppt/notesSlides/notesSlide5.xml" ContentType="application/vnd.openxmlformats-officedocument.presentationml.notesSlide+xml"/>
  <Override PartName="/ppt/comments/modernComment_104_0.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10A_0.xml" ContentType="application/vnd.ms-powerpoint.comments+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096E75E-CF22-2474-0360-2B41D83AB660}" name="Maja Gajic Kvascev" initials="MGK" userId="S::gajicm@etfbgacrs.onmicrosoft.com::99fdabcf-8d00-4fbb-b0c1-f6563aac46d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540"/>
    <p:restoredTop sz="94648"/>
  </p:normalViewPr>
  <p:slideViewPr>
    <p:cSldViewPr snapToGrid="0" snapToObjects="1">
      <p:cViewPr varScale="1">
        <p:scale>
          <a:sx n="91" d="100"/>
          <a:sy n="91" d="100"/>
        </p:scale>
        <p:origin x="1092"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omments/modernComment_10A_0.xml><?xml version="1.0" encoding="utf-8"?>
<p188:cmLst xmlns:a="http://schemas.openxmlformats.org/drawingml/2006/main" xmlns:r="http://schemas.openxmlformats.org/officeDocument/2006/relationships" xmlns:p188="http://schemas.microsoft.com/office/powerpoint/2018/8/main">
  <p188:cm id="{45AF0DE4-F57B-F740-A0C7-49A4115449AF}" authorId="{9096E75E-CF22-2474-0360-2B41D83AB660}" created="2026-08-19T18:24:08.351">
    <pc:sldMkLst xmlns:pc="http://schemas.microsoft.com/office/powerpoint/2013/main/command">
      <pc:docMk/>
      <pc:sldMk cId="0" sldId="266"/>
    </pc:sldMkLst>
    <p188:txBody>
      <a:bodyPr/>
      <a:lstStyle/>
      <a:p>
        <a:r>
          <a:rPr lang="en-RS"/>
          <a:t>Sta pokazuju slike desno, slike razlika?</a:t>
        </a:r>
      </a:p>
    </p188:txBody>
  </p188:cm>
</p188:cmLst>
</file>

<file path=ppt/comments/modernComment_100_0.xml><?xml version="1.0" encoding="utf-8"?>
<p188:cmLst xmlns:a="http://schemas.openxmlformats.org/drawingml/2006/main" xmlns:r="http://schemas.openxmlformats.org/officeDocument/2006/relationships" xmlns:p188="http://schemas.microsoft.com/office/powerpoint/2018/8/main">
  <p188:cm id="{EB994D2D-6FA8-BC4B-9919-3E6DF88F0A42}" authorId="{9096E75E-CF22-2474-0360-2B41D83AB660}" created="2026-08-19T18:06:34.395">
    <ac:deMkLst xmlns:ac="http://schemas.microsoft.com/office/drawing/2013/main/command">
      <pc:docMk xmlns:pc="http://schemas.microsoft.com/office/powerpoint/2013/main/command"/>
      <pc:sldMk xmlns:pc="http://schemas.microsoft.com/office/powerpoint/2013/main/command" cId="0" sldId="256"/>
      <ac:spMk id="3" creationId="{00000000-0000-0000-0000-000000000000}"/>
    </ac:deMkLst>
    <p188:txBody>
      <a:bodyPr/>
      <a:lstStyle/>
      <a:p>
        <a:r>
          <a:rPr lang="en-RS"/>
          <a:t>Nedostaju brojevi za afilijacije, i redosled bi trebalo da bude isti kao u book of abstracts</a:t>
        </a:r>
      </a:p>
    </p188:txBody>
  </p188:cm>
</p188:cmLst>
</file>

<file path=ppt/comments/modernComment_101_0.xml><?xml version="1.0" encoding="utf-8"?>
<p188:cmLst xmlns:a="http://schemas.openxmlformats.org/drawingml/2006/main" xmlns:r="http://schemas.openxmlformats.org/officeDocument/2006/relationships" xmlns:p188="http://schemas.microsoft.com/office/powerpoint/2018/8/main">
  <p188:cm id="{96945F85-9C23-0B46-A924-47476E26FABB}" authorId="{9096E75E-CF22-2474-0360-2B41D83AB660}" created="2026-08-19T18:07:46.935">
    <ac:txMkLst xmlns:ac="http://schemas.microsoft.com/office/drawing/2013/main/command">
      <pc:docMk xmlns:pc="http://schemas.microsoft.com/office/powerpoint/2013/main/command"/>
      <pc:sldMk xmlns:pc="http://schemas.microsoft.com/office/powerpoint/2013/main/command" cId="0" sldId="257"/>
      <ac:spMk id="3" creationId="{00000000-0000-0000-0000-000000000000}"/>
      <ac:txMk cp="116" len="4">
        <ac:context len="255" hash="200413585"/>
      </ac:txMk>
    </ac:txMkLst>
    <p188:pos x="3019697" y="868680"/>
    <p188:txBody>
      <a:bodyPr/>
      <a:lstStyle/>
      <a:p>
        <a:r>
          <a:rPr lang="en-RS"/>
          <a:t>Ne moraju nuzno da budu SDD, a mi ne znamo koji su u nasem setupu. Izbrisite ovo. Umesto toga mozete da napisete ...two detectors for caharacteristic X-rays</a:t>
        </a:r>
      </a:p>
    </p188:txBody>
  </p188:cm>
</p188:cmLst>
</file>

<file path=ppt/comments/modernComment_102_0.xml><?xml version="1.0" encoding="utf-8"?>
<p188:cmLst xmlns:a="http://schemas.openxmlformats.org/drawingml/2006/main" xmlns:r="http://schemas.openxmlformats.org/officeDocument/2006/relationships" xmlns:p188="http://schemas.microsoft.com/office/powerpoint/2018/8/main">
  <p188:cm id="{02E74A35-8067-5243-92E7-A654A4D4687B}" authorId="{9096E75E-CF22-2474-0360-2B41D83AB660}" created="2026-08-19T18:09:43.118">
    <ac:deMkLst xmlns:ac="http://schemas.microsoft.com/office/drawing/2013/main/command">
      <pc:docMk xmlns:pc="http://schemas.microsoft.com/office/powerpoint/2013/main/command"/>
      <pc:sldMk xmlns:pc="http://schemas.microsoft.com/office/powerpoint/2013/main/command" cId="0" sldId="258"/>
      <ac:spMk id="2" creationId="{00000000-0000-0000-0000-000000000000}"/>
    </ac:deMkLst>
    <p188:txBody>
      <a:bodyPr/>
      <a:lstStyle/>
      <a:p>
        <a:r>
          <a:rPr lang="en-RS"/>
          <a:t>scanning je recimo ono sto se radi</a:t>
        </a:r>
      </a:p>
    </p188:txBody>
  </p188:cm>
  <p188:cm id="{AD6EDDCA-B176-8A46-A541-7EFC9F52F094}" authorId="{9096E75E-CF22-2474-0360-2B41D83AB660}" created="2026-08-19T18:10:07.436">
    <ac:deMkLst xmlns:ac="http://schemas.microsoft.com/office/drawing/2013/main/command">
      <pc:docMk xmlns:pc="http://schemas.microsoft.com/office/powerpoint/2013/main/command"/>
      <pc:sldMk xmlns:pc="http://schemas.microsoft.com/office/powerpoint/2013/main/command" cId="0" sldId="258"/>
      <ac:spMk id="2" creationId="{00000000-0000-0000-0000-000000000000}"/>
    </ac:deMkLst>
    <p188:txBody>
      <a:bodyPr/>
      <a:lstStyle/>
      <a:p>
        <a:r>
          <a:rPr lang="en-RS"/>
          <a:t>I sa slike obrisite SDD</a:t>
        </a:r>
      </a:p>
    </p188:txBody>
  </p188:cm>
  <p188:cm id="{94AB5F4E-826B-1647-BF71-FA8D3E222AFC}" authorId="{9096E75E-CF22-2474-0360-2B41D83AB660}" created="2026-08-19T18:11:17.202">
    <ac:txMkLst xmlns:ac="http://schemas.microsoft.com/office/drawing/2013/main/command">
      <pc:docMk xmlns:pc="http://schemas.microsoft.com/office/powerpoint/2013/main/command"/>
      <pc:sldMk xmlns:pc="http://schemas.microsoft.com/office/powerpoint/2013/main/command" cId="0" sldId="258"/>
      <ac:spMk id="4" creationId="{00000000-0000-0000-0000-000000000000}"/>
      <ac:txMk cp="276" len="2">
        <ac:context len="405" hash="1001176499"/>
      </ac:txMk>
    </ac:txMkLst>
    <p188:pos x="3766457" y="2370909"/>
    <p188:txBody>
      <a:bodyPr/>
      <a:lstStyle/>
      <a:p>
        <a:r>
          <a:rPr lang="en-RS"/>
          <a:t>Da li je Be thickness?
Abosrber je air path?</a:t>
        </a:r>
      </a:p>
    </p188:txBody>
  </p188:cm>
</p188:cmLst>
</file>

<file path=ppt/comments/modernComment_103_0.xml><?xml version="1.0" encoding="utf-8"?>
<p188:cmLst xmlns:a="http://schemas.openxmlformats.org/drawingml/2006/main" xmlns:r="http://schemas.openxmlformats.org/officeDocument/2006/relationships" xmlns:p188="http://schemas.microsoft.com/office/powerpoint/2018/8/main">
  <p188:cm id="{4A3B6F27-6CFA-6F4C-905A-B7BDF14E81B3}" authorId="{9096E75E-CF22-2474-0360-2B41D83AB660}" created="2026-08-19T18:13:00.340">
    <pc:sldMkLst xmlns:pc="http://schemas.microsoft.com/office/powerpoint/2013/main/command">
      <pc:docMk/>
      <pc:sldMk cId="0" sldId="259"/>
    </pc:sldMkLst>
    <p188:txBody>
      <a:bodyPr/>
      <a:lstStyle/>
      <a:p>
        <a:r>
          <a:rPr lang="en-RS"/>
          <a:t>I ovde je SDD za brisanje</a:t>
        </a:r>
      </a:p>
    </p188:txBody>
  </p188:cm>
  <p188:cm id="{249C1E90-4DD2-584F-B367-72B808D07970}" authorId="{9096E75E-CF22-2474-0360-2B41D83AB660}" created="2026-08-19T18:15:08.380">
    <pc:sldMkLst xmlns:pc="http://schemas.microsoft.com/office/powerpoint/2013/main/command">
      <pc:docMk/>
      <pc:sldMk cId="0" sldId="259"/>
    </pc:sldMkLst>
    <p188:txBody>
      <a:bodyPr/>
      <a:lstStyle/>
      <a:p>
        <a:r>
          <a:rPr lang="en-RS"/>
          <a:t>Proverite sliku za Pb, da li je tekst iznad slike ok.Izbacite Zn mapu, osim ako ne zelite nesto posebno da pokazete.
Zasto nema Hg mape</a:t>
        </a:r>
      </a:p>
    </p188:txBody>
  </p188:cm>
</p188:cmLst>
</file>

<file path=ppt/comments/modernComment_104_0.xml><?xml version="1.0" encoding="utf-8"?>
<p188:cmLst xmlns:a="http://schemas.openxmlformats.org/drawingml/2006/main" xmlns:r="http://schemas.openxmlformats.org/officeDocument/2006/relationships" xmlns:p188="http://schemas.microsoft.com/office/powerpoint/2018/8/main">
  <p188:cm id="{A8D9503E-88A5-B141-91F0-DC13E1592067}" authorId="{9096E75E-CF22-2474-0360-2B41D83AB660}" created="2026-08-19T18:17:56.404">
    <pc:sldMkLst xmlns:pc="http://schemas.microsoft.com/office/powerpoint/2013/main/command">
      <pc:docMk/>
      <pc:sldMk cId="0" sldId="260"/>
    </pc:sldMkLst>
    <p188:txBody>
      <a:bodyPr/>
      <a:lstStyle/>
      <a:p>
        <a:r>
          <a:rPr lang="en-RS"/>
          <a:t>Moramo malo da prodiskutujemo linije olova...</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2868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0:00-0:15</a:t>
            </a:r>
          </a:p>
          <a:p>
            <a:r>
              <a:t>Good morning. I will show how a dual-detector MA-XRF scanner can be characterized - efficiencies, geometry, even the mounting angle - using nothing but routine scans of a painting.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0:15-1:15</a:t>
            </a:r>
          </a:p>
          <a:p>
            <a:r>
              <a:t>Set the scene: MA-XRF, two detectors, summing is standard practice. The premise of this work: the part everyone throws away carries quantitative information about the instrument itself. Everything that follows is extracted from that difference.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1:15-2:15</a:t>
            </a:r>
          </a:p>
          <a:p>
            <a:r>
              <a:t>The one-slide method. The tilt is the control knob: it moves only the geometry. Comparing tilted vs frontal ratios cleanly separates detector properties from acquisition geometry. Quote the abstract: no dedicated calibration measurements - no reference targets, no monochromatic sources.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2:15-3:00</a:t>
            </a:r>
          </a:p>
          <a:p>
            <a:r>
              <a:t>The test object is a canvas copy of the Creation of Adam - the element maps show the two hands. Three routine scans, nothing else. The two frontal scans give the repeatability floor; the tilted one is the geometry probe.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3:00-4:15</a:t>
            </a:r>
          </a:p>
          <a:p>
            <a:r>
              <a:t>Table 1 in one look. Two messages: the channels are far from interchangeable (6x at calcium), and tilting produces a highly significant, monotonically decaying energy pattern. Mention the crop test: restricting to the registered overlap removed a field-of-view artifact - that is why these are the trustworthy numbers. The four lead lines are the internal control - same pixels, same composition, only energy differs.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4:15-5:15</a:t>
            </a:r>
          </a:p>
          <a:p>
            <a:r>
              <a:t>The frontal curve is explained by detector properties alone. The surprise: the fitted low-energy absorber is the equivalent of a millimetre of beryllium - no window is that thick. It corresponds to 15-20 cm of air, so one detector must sit further away or behind a collimator. We learned that about the hardware without opening it. Manufacturer specs since received (X-123SDD family): nominal window 8-12.5 um Be and 500 um Si - the fitted reference matches the factory value; snout extenders up to 9 in exist, so a long-extender mounting of 19511 is the concrete candidate. Per-unit configuration still pending.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5:15-6:15</a:t>
            </a:r>
          </a:p>
          <a:p>
            <a:r>
              <a:t>The tilt-dependent part follows textbook fluorescence geometry. With a single tilt the individual take-off angles are not identifiable - what is, is how fast they move: about half a degree per degree of tilt. The grey band is a GP regression that knows no physics; the physical model stays inside it everywhere.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6:15-7:15</a:t>
            </a:r>
          </a:p>
          <a:p>
            <a:r>
              <a:t>The mounting angle was never recorded - and it turns out we never needed it. The tilt compresses the image vertically, and the scan step sizes cancel in the scale ratio, so the angle falls out of registration: about 8 degrees. Be upfront: a control pair with no tilt returns five degrees, so we quote it as an upper bound until the instrument builder confirms. The precision floor itself is a result: it is the positioning drift between two nominally identical sessions.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7:15-7:45</a:t>
            </a:r>
          </a:p>
          <a:p>
            <a:r>
              <a:t>Everything here reuses the earlier numbers. The flat-field is reproducible and is literally the scatter-artifact geometry - one acquisition story. The weighting null is itself a finding: the channels are Poisson-limited, no scalar reweighting can win. The learned fusion goes beyond scalars: two detectors are two noise realizations of the same spectrum - Noise2Noise, no clean targets - and it gains 17.7 percent on pixels it never trained on. We quote it only where the absolute level is preserved; Ca and Ti stay on the sum. If asked: validation MSE does not rank these models like map SNR does - MSE rewards shrinking to the mean; hence the contrast guard.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7:45-8:00</a:t>
            </a:r>
          </a:p>
          <a:p>
            <a:r>
              <a:t>One sentence to leave with: the signal everyone throws away is enough to characterize the instrument - including the angle nobody wrote down - and, once characterized, the two channels fuse into a better measurement than their sum. Thank you; happy to take questions.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not part of the 8:00. If asked how the fusion gain looks in practice: same signal structure, visibly calmer noise panels; Pb Ll 5.4 to 9.1, Fe 10.6 to 13.7 on pixels the network never trained on. Contrast guard cv = 0.91-0.99: not blurring.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not part of the 8:00. Use if the abstract-vs-talk difference on viewing angles comes up: the abstract promised per-detector angles; with one tilt only the response is identifiable, and the per-detector values need the nominal head geometry from the instrument builder. Status: the builder sent tube settings (40 kV, 50 uA), 2 cm working distance and a spec sheet - but for s/n 10791, not our units; per-detector mounting is still requested.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0.xm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01_0.xm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02_0.xml"/><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microsoft.com/office/2018/10/relationships/comments" Target="../comments/modernComment_103_0.xm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microsoft.com/office/2018/10/relationships/comments" Target="../comments/modernComment_104_0.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0A_0.xml"/><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1371600"/>
            <a:ext cx="10545775" cy="1554480"/>
          </a:xfrm>
          <a:prstGeom prst="rect">
            <a:avLst/>
          </a:prstGeom>
          <a:noFill/>
        </p:spPr>
        <p:txBody>
          <a:bodyPr wrap="square">
            <a:spAutoFit/>
          </a:bodyPr>
          <a:lstStyle/>
          <a:p>
            <a:pPr algn="ctr">
              <a:spcAft>
                <a:spcPts val="600"/>
              </a:spcAft>
            </a:pPr>
            <a:r>
              <a:rPr sz="3400" b="1" i="0">
                <a:solidFill>
                  <a:srgbClr val="1F3864"/>
                </a:solidFill>
                <a:latin typeface="Calibri"/>
              </a:rPr>
              <a:t>Geometry-resolved Characterization of a Dual-detector MA-XRF Scanner</a:t>
            </a:r>
          </a:p>
        </p:txBody>
      </p:sp>
      <p:sp>
        <p:nvSpPr>
          <p:cNvPr id="3" name="TextBox 2"/>
          <p:cNvSpPr txBox="1"/>
          <p:nvPr/>
        </p:nvSpPr>
        <p:spPr>
          <a:xfrm>
            <a:off x="822960" y="3200400"/>
            <a:ext cx="10545775" cy="1615827"/>
          </a:xfrm>
          <a:prstGeom prst="rect">
            <a:avLst/>
          </a:prstGeom>
          <a:noFill/>
        </p:spPr>
        <p:txBody>
          <a:bodyPr wrap="square">
            <a:spAutoFit/>
          </a:bodyPr>
          <a:lstStyle/>
          <a:p>
            <a:pPr algn="ctr">
              <a:spcAft>
                <a:spcPts val="600"/>
              </a:spcAft>
            </a:pPr>
            <a:r>
              <a:rPr lang="en-GB">
                <a:solidFill>
                  <a:srgbClr val="262626"/>
                </a:solidFill>
              </a:rPr>
              <a:t>Aleksandra Stojanović, </a:t>
            </a:r>
            <a:r>
              <a:rPr sz="1800" i="0">
                <a:solidFill>
                  <a:srgbClr val="262626"/>
                </a:solidFill>
                <a:latin typeface="Calibri"/>
              </a:rPr>
              <a:t>Dimitrije </a:t>
            </a:r>
            <a:r>
              <a:rPr lang="en-GB" sz="1800" i="0" dirty="0" err="1">
                <a:solidFill>
                  <a:srgbClr val="262626"/>
                </a:solidFill>
                <a:latin typeface="Calibri"/>
              </a:rPr>
              <a:t>Pešić</a:t>
            </a:r>
            <a:r>
              <a:rPr lang="en-GB" sz="1800" b="0" i="0" dirty="0">
                <a:solidFill>
                  <a:srgbClr val="262626"/>
                </a:solidFill>
                <a:latin typeface="Calibri"/>
              </a:rPr>
              <a:t>,  Janko </a:t>
            </a:r>
            <a:r>
              <a:rPr lang="en-GB" sz="1800" b="0" i="0" dirty="0" err="1">
                <a:solidFill>
                  <a:srgbClr val="262626"/>
                </a:solidFill>
                <a:latin typeface="Calibri"/>
              </a:rPr>
              <a:t>Vukobratović</a:t>
            </a:r>
            <a:r>
              <a:rPr lang="en-GB" sz="1800" b="0" i="0" dirty="0">
                <a:solidFill>
                  <a:srgbClr val="262626"/>
                </a:solidFill>
                <a:latin typeface="Calibri"/>
              </a:rPr>
              <a:t>, </a:t>
            </a:r>
            <a:r>
              <a:rPr sz="1800" b="0" i="0" dirty="0">
                <a:solidFill>
                  <a:srgbClr val="262626"/>
                </a:solidFill>
                <a:latin typeface="Calibri"/>
              </a:rPr>
              <a:t>Giulia </a:t>
            </a:r>
            <a:r>
              <a:rPr sz="1800" b="0" i="0" dirty="0" err="1">
                <a:solidFill>
                  <a:srgbClr val="262626"/>
                </a:solidFill>
                <a:latin typeface="Calibri"/>
              </a:rPr>
              <a:t>Ristori</a:t>
            </a:r>
            <a:r>
              <a:rPr sz="1800" b="0" i="0" dirty="0">
                <a:solidFill>
                  <a:srgbClr val="262626"/>
                </a:solidFill>
                <a:latin typeface="Calibri"/>
              </a:rPr>
              <a:t>,  Stefano Ridolfi,  Maja Gajić-</a:t>
            </a:r>
            <a:r>
              <a:rPr sz="1800" b="0" i="0" dirty="0" err="1">
                <a:solidFill>
                  <a:srgbClr val="262626"/>
                </a:solidFill>
                <a:latin typeface="Calibri"/>
              </a:rPr>
              <a:t>Kvaščev</a:t>
            </a:r>
            <a:r>
              <a:rPr sz="1800" b="0" i="0" dirty="0">
                <a:solidFill>
                  <a:srgbClr val="262626"/>
                </a:solidFill>
                <a:latin typeface="Calibri"/>
              </a:rPr>
              <a:t>,  Goran </a:t>
            </a:r>
            <a:r>
              <a:rPr sz="1800" b="0" i="0" dirty="0" err="1">
                <a:solidFill>
                  <a:srgbClr val="262626"/>
                </a:solidFill>
                <a:latin typeface="Calibri"/>
              </a:rPr>
              <a:t>Kvaščev</a:t>
            </a:r>
            <a:endParaRPr sz="1800" b="0" i="0" dirty="0">
              <a:solidFill>
                <a:srgbClr val="262626"/>
              </a:solidFill>
              <a:latin typeface="Calibri"/>
            </a:endParaRPr>
          </a:p>
          <a:p>
            <a:pPr algn="ctr">
              <a:spcAft>
                <a:spcPts val="600"/>
              </a:spcAft>
            </a:pPr>
            <a:r>
              <a:rPr sz="800" dirty="0"/>
              <a:t> </a:t>
            </a:r>
          </a:p>
          <a:p>
            <a:pPr algn="ctr">
              <a:spcAft>
                <a:spcPts val="600"/>
              </a:spcAft>
            </a:pPr>
            <a:r>
              <a:rPr sz="1300" b="0" i="0" dirty="0">
                <a:solidFill>
                  <a:srgbClr val="595959"/>
                </a:solidFill>
                <a:latin typeface="Calibri"/>
              </a:rPr>
              <a:t>University of Belgrade - School of Electrical Engineering   ·   Ars </a:t>
            </a:r>
            <a:r>
              <a:rPr sz="1300" b="0" i="0" dirty="0" err="1">
                <a:solidFill>
                  <a:srgbClr val="595959"/>
                </a:solidFill>
                <a:latin typeface="Calibri"/>
              </a:rPr>
              <a:t>Mensurae</a:t>
            </a:r>
            <a:r>
              <a:rPr sz="1300" b="0" i="0" dirty="0">
                <a:solidFill>
                  <a:srgbClr val="595959"/>
                </a:solidFill>
                <a:latin typeface="Calibri"/>
              </a:rPr>
              <a:t>, Rome   ·   </a:t>
            </a:r>
            <a:r>
              <a:rPr sz="1300" b="0" i="0" dirty="0" err="1">
                <a:solidFill>
                  <a:srgbClr val="595959"/>
                </a:solidFill>
                <a:latin typeface="Calibri"/>
              </a:rPr>
              <a:t>IDArtScience</a:t>
            </a:r>
            <a:r>
              <a:rPr sz="1300" b="0" i="0" dirty="0">
                <a:solidFill>
                  <a:srgbClr val="595959"/>
                </a:solidFill>
                <a:latin typeface="Calibri"/>
              </a:rPr>
              <a:t>, Rome   ·   </a:t>
            </a:r>
            <a:r>
              <a:rPr sz="1300" b="0" i="0" dirty="0" err="1">
                <a:solidFill>
                  <a:srgbClr val="595959"/>
                </a:solidFill>
                <a:latin typeface="Calibri"/>
              </a:rPr>
              <a:t>Vinča</a:t>
            </a:r>
            <a:r>
              <a:rPr sz="1300" b="0" i="0" dirty="0">
                <a:solidFill>
                  <a:srgbClr val="595959"/>
                </a:solidFill>
                <a:latin typeface="Calibri"/>
              </a:rPr>
              <a:t> Institute of Nuclear Sciences / VINARH</a:t>
            </a:r>
          </a:p>
          <a:p>
            <a:pPr algn="ctr">
              <a:spcAft>
                <a:spcPts val="600"/>
              </a:spcAft>
            </a:pPr>
            <a:r>
              <a:rPr sz="800" dirty="0"/>
              <a:t> </a:t>
            </a:r>
          </a:p>
          <a:p>
            <a:pPr algn="ctr">
              <a:spcAft>
                <a:spcPts val="600"/>
              </a:spcAft>
            </a:pPr>
            <a:r>
              <a:rPr sz="1400" b="0" i="1" dirty="0" err="1">
                <a:solidFill>
                  <a:srgbClr val="595959"/>
                </a:solidFill>
                <a:latin typeface="Calibri"/>
              </a:rPr>
              <a:t>EuCAIFCon</a:t>
            </a:r>
            <a:r>
              <a:rPr sz="1400" b="0" i="1" dirty="0">
                <a:solidFill>
                  <a:srgbClr val="595959"/>
                </a:solidFill>
                <a:latin typeface="Calibri"/>
              </a:rPr>
              <a:t> 2026 - Heidelberg</a:t>
            </a:r>
          </a:p>
        </p:txBody>
      </p:sp>
    </p:spTree>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85855" cy="914400"/>
          </a:xfrm>
          <a:prstGeom prst="rect">
            <a:avLst/>
          </a:prstGeom>
          <a:noFill/>
        </p:spPr>
        <p:txBody>
          <a:bodyPr wrap="square">
            <a:spAutoFit/>
          </a:bodyPr>
          <a:lstStyle/>
          <a:p>
            <a:pPr>
              <a:spcAft>
                <a:spcPts val="200"/>
              </a:spcAft>
            </a:pPr>
            <a:r>
              <a:rPr sz="3000" b="1" i="0">
                <a:solidFill>
                  <a:srgbClr val="1F3864"/>
                </a:solidFill>
                <a:latin typeface="Calibri"/>
              </a:rPr>
              <a:t>Two detectors, one discarded signal</a:t>
            </a:r>
          </a:p>
        </p:txBody>
      </p:sp>
      <p:sp>
        <p:nvSpPr>
          <p:cNvPr id="3" name="TextBox 2"/>
          <p:cNvSpPr txBox="1"/>
          <p:nvPr/>
        </p:nvSpPr>
        <p:spPr>
          <a:xfrm>
            <a:off x="822960" y="1417320"/>
            <a:ext cx="10545775" cy="2926080"/>
          </a:xfrm>
          <a:prstGeom prst="rect">
            <a:avLst/>
          </a:prstGeom>
          <a:noFill/>
        </p:spPr>
        <p:txBody>
          <a:bodyPr wrap="square">
            <a:spAutoFit/>
          </a:bodyPr>
          <a:lstStyle/>
          <a:p>
            <a:pPr>
              <a:spcAft>
                <a:spcPts val="1400"/>
              </a:spcAft>
            </a:pPr>
            <a:r>
              <a:rPr sz="1700" b="0" i="0" dirty="0">
                <a:solidFill>
                  <a:srgbClr val="595959"/>
                </a:solidFill>
                <a:latin typeface="Calibri"/>
              </a:rPr>
              <a:t>•  </a:t>
            </a:r>
            <a:r>
              <a:rPr sz="1700" b="0" i="0" dirty="0">
                <a:solidFill>
                  <a:srgbClr val="262626"/>
                </a:solidFill>
                <a:latin typeface="Calibri"/>
              </a:rPr>
              <a:t>MA-XRF scans a painting pixel by pixel; XRF lines give element maps (Ca, Fe, Pb, ...)</a:t>
            </a:r>
          </a:p>
          <a:p>
            <a:pPr>
              <a:spcAft>
                <a:spcPts val="1400"/>
              </a:spcAft>
            </a:pPr>
            <a:r>
              <a:rPr sz="1700" b="0" i="0" dirty="0">
                <a:solidFill>
                  <a:srgbClr val="595959"/>
                </a:solidFill>
                <a:latin typeface="Calibri"/>
              </a:rPr>
              <a:t>•  </a:t>
            </a:r>
            <a:r>
              <a:rPr sz="1700" b="0" i="0" dirty="0">
                <a:solidFill>
                  <a:srgbClr val="262626"/>
                </a:solidFill>
                <a:latin typeface="Calibri"/>
              </a:rPr>
              <a:t>Many scanners carry two SDD detectors; their signals are summed for signal-to-noise</a:t>
            </a:r>
          </a:p>
          <a:p>
            <a:pPr>
              <a:spcAft>
                <a:spcPts val="1400"/>
              </a:spcAft>
            </a:pPr>
            <a:r>
              <a:rPr sz="1700" b="0" i="0" dirty="0">
                <a:solidFill>
                  <a:srgbClr val="595959"/>
                </a:solidFill>
                <a:latin typeface="Calibri"/>
              </a:rPr>
              <a:t>•  </a:t>
            </a:r>
            <a:r>
              <a:rPr sz="1700" b="0" i="0" dirty="0">
                <a:solidFill>
                  <a:srgbClr val="262626"/>
                </a:solidFill>
                <a:latin typeface="Calibri"/>
              </a:rPr>
              <a:t>The difference between the two channels is treated as noise and thrown away</a:t>
            </a:r>
          </a:p>
        </p:txBody>
      </p:sp>
      <p:sp>
        <p:nvSpPr>
          <p:cNvPr id="4" name="TextBox 3"/>
          <p:cNvSpPr txBox="1"/>
          <p:nvPr/>
        </p:nvSpPr>
        <p:spPr>
          <a:xfrm>
            <a:off x="822960" y="4206240"/>
            <a:ext cx="10545775" cy="1097280"/>
          </a:xfrm>
          <a:prstGeom prst="rect">
            <a:avLst/>
          </a:prstGeom>
          <a:noFill/>
        </p:spPr>
        <p:txBody>
          <a:bodyPr wrap="square">
            <a:spAutoFit/>
          </a:bodyPr>
          <a:lstStyle/>
          <a:p>
            <a:pPr algn="ctr">
              <a:spcAft>
                <a:spcPts val="600"/>
              </a:spcAft>
            </a:pPr>
            <a:r>
              <a:rPr sz="2600" b="1" i="0">
                <a:solidFill>
                  <a:srgbClr val="D95F02"/>
                </a:solidFill>
                <a:latin typeface="Calibri"/>
              </a:rPr>
              <a:t>That discarded difference is a calibration signal.</a:t>
            </a:r>
          </a:p>
        </p:txBody>
      </p:sp>
    </p:spTree>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85855" cy="914400"/>
          </a:xfrm>
          <a:prstGeom prst="rect">
            <a:avLst/>
          </a:prstGeom>
          <a:noFill/>
        </p:spPr>
        <p:txBody>
          <a:bodyPr wrap="square">
            <a:spAutoFit/>
          </a:bodyPr>
          <a:lstStyle/>
          <a:p>
            <a:pPr>
              <a:spcAft>
                <a:spcPts val="200"/>
              </a:spcAft>
            </a:pPr>
            <a:r>
              <a:rPr sz="3000" b="1" i="0" dirty="0">
                <a:solidFill>
                  <a:srgbClr val="1F3864"/>
                </a:solidFill>
                <a:latin typeface="Calibri"/>
              </a:rPr>
              <a:t>One extra tilted scan splits the physics</a:t>
            </a:r>
          </a:p>
        </p:txBody>
      </p:sp>
      <p:pic>
        <p:nvPicPr>
          <p:cNvPr id="3" name="Picture 2" descr="geometry_schematic.png"/>
          <p:cNvPicPr>
            <a:picLocks noChangeAspect="1"/>
          </p:cNvPicPr>
          <p:nvPr/>
        </p:nvPicPr>
        <p:blipFill>
          <a:blip r:embed="rId4"/>
          <a:stretch>
            <a:fillRect/>
          </a:stretch>
        </p:blipFill>
        <p:spPr>
          <a:xfrm>
            <a:off x="502920" y="1554480"/>
            <a:ext cx="4530516" cy="4206240"/>
          </a:xfrm>
          <a:prstGeom prst="rect">
            <a:avLst/>
          </a:prstGeom>
        </p:spPr>
      </p:pic>
      <p:sp>
        <p:nvSpPr>
          <p:cNvPr id="4" name="TextBox 3"/>
          <p:cNvSpPr txBox="1"/>
          <p:nvPr/>
        </p:nvSpPr>
        <p:spPr>
          <a:xfrm>
            <a:off x="6400800" y="1645920"/>
            <a:ext cx="5212080" cy="4389120"/>
          </a:xfrm>
          <a:prstGeom prst="rect">
            <a:avLst/>
          </a:prstGeom>
          <a:noFill/>
        </p:spPr>
        <p:txBody>
          <a:bodyPr wrap="square">
            <a:spAutoFit/>
          </a:bodyPr>
          <a:lstStyle/>
          <a:p>
            <a:pPr>
              <a:spcAft>
                <a:spcPts val="1000"/>
              </a:spcAft>
            </a:pPr>
            <a:r>
              <a:rPr sz="1700" b="0" i="0" dirty="0">
                <a:solidFill>
                  <a:srgbClr val="595959"/>
                </a:solidFill>
                <a:latin typeface="Calibri"/>
              </a:rPr>
              <a:t>•  </a:t>
            </a:r>
            <a:r>
              <a:rPr sz="1700" b="0" i="0" dirty="0">
                <a:solidFill>
                  <a:srgbClr val="262626"/>
                </a:solidFill>
                <a:latin typeface="Calibri"/>
              </a:rPr>
              <a:t>Scan the same painting twice: frontal, and with the canvas tilted forward</a:t>
            </a:r>
          </a:p>
          <a:p>
            <a:pPr>
              <a:spcAft>
                <a:spcPts val="1000"/>
              </a:spcAft>
            </a:pPr>
            <a:r>
              <a:rPr sz="1700" b="0" i="0" dirty="0">
                <a:solidFill>
                  <a:srgbClr val="595959"/>
                </a:solidFill>
                <a:latin typeface="Calibri"/>
              </a:rPr>
              <a:t>•  </a:t>
            </a:r>
            <a:r>
              <a:rPr sz="1700" b="0" i="0" dirty="0">
                <a:solidFill>
                  <a:srgbClr val="262626"/>
                </a:solidFill>
                <a:latin typeface="Calibri"/>
              </a:rPr>
              <a:t>Tilting changes the photon paths to each detector - the detectors stay the same</a:t>
            </a:r>
          </a:p>
          <a:p>
            <a:pPr>
              <a:spcAft>
                <a:spcPts val="1000"/>
              </a:spcAft>
            </a:pPr>
            <a:r>
              <a:rPr sz="1700" b="0" i="0" dirty="0">
                <a:solidFill>
                  <a:srgbClr val="595959"/>
                </a:solidFill>
                <a:latin typeface="Calibri"/>
              </a:rPr>
              <a:t>•  </a:t>
            </a:r>
            <a:r>
              <a:rPr sz="1700" b="0" i="0" dirty="0">
                <a:solidFill>
                  <a:srgbClr val="262626"/>
                </a:solidFill>
                <a:latin typeface="Calibri"/>
              </a:rPr>
              <a:t>The per-element ratio R(E) = det1 / det2 then separates into:</a:t>
            </a:r>
          </a:p>
          <a:p>
            <a:pPr>
              <a:spcAft>
                <a:spcPts val="1000"/>
              </a:spcAft>
            </a:pPr>
            <a:r>
              <a:rPr sz="1500" b="0" i="0" dirty="0">
                <a:solidFill>
                  <a:srgbClr val="595959"/>
                </a:solidFill>
                <a:latin typeface="Calibri"/>
              </a:rPr>
              <a:t>     –  </a:t>
            </a:r>
            <a:r>
              <a:rPr sz="1500" b="1" i="0" dirty="0">
                <a:solidFill>
                  <a:srgbClr val="1F77B4"/>
                </a:solidFill>
                <a:latin typeface="Calibri"/>
              </a:rPr>
              <a:t>detector part</a:t>
            </a:r>
            <a:r>
              <a:rPr sz="1500" b="0" i="0" dirty="0">
                <a:solidFill>
                  <a:srgbClr val="262626"/>
                </a:solidFill>
                <a:latin typeface="Calibri"/>
              </a:rPr>
              <a:t> - tilt-invariant (absorbers, Si thickness, gain)</a:t>
            </a:r>
          </a:p>
          <a:p>
            <a:pPr>
              <a:spcAft>
                <a:spcPts val="1000"/>
              </a:spcAft>
            </a:pPr>
            <a:r>
              <a:rPr sz="1500" b="0" i="0" dirty="0">
                <a:solidFill>
                  <a:srgbClr val="595959"/>
                </a:solidFill>
                <a:latin typeface="Calibri"/>
              </a:rPr>
              <a:t>     –  </a:t>
            </a:r>
            <a:r>
              <a:rPr sz="1500" b="1" i="0" dirty="0">
                <a:solidFill>
                  <a:srgbClr val="D95F02"/>
                </a:solidFill>
                <a:latin typeface="Calibri"/>
              </a:rPr>
              <a:t>geometric part</a:t>
            </a:r>
            <a:r>
              <a:rPr sz="1500" b="0" i="0" dirty="0">
                <a:solidFill>
                  <a:srgbClr val="262626"/>
                </a:solidFill>
                <a:latin typeface="Calibri"/>
              </a:rPr>
              <a:t> - tilt-dependent, energy-structured</a:t>
            </a:r>
          </a:p>
          <a:p>
            <a:pPr>
              <a:spcAft>
                <a:spcPts val="1000"/>
              </a:spcAft>
            </a:pPr>
            <a:r>
              <a:rPr sz="800" dirty="0"/>
              <a:t> </a:t>
            </a:r>
          </a:p>
          <a:p>
            <a:pPr>
              <a:spcAft>
                <a:spcPts val="1000"/>
              </a:spcAft>
            </a:pPr>
            <a:r>
              <a:rPr sz="1700" b="0" i="0" dirty="0">
                <a:solidFill>
                  <a:srgbClr val="595959"/>
                </a:solidFill>
                <a:latin typeface="Calibri"/>
              </a:rPr>
              <a:t>•  </a:t>
            </a:r>
            <a:r>
              <a:rPr sz="1700" b="1" i="1" dirty="0">
                <a:solidFill>
                  <a:srgbClr val="D95F02"/>
                </a:solidFill>
                <a:latin typeface="Calibri"/>
              </a:rPr>
              <a:t>“with no dedicated calibration measurements”</a:t>
            </a:r>
          </a:p>
        </p:txBody>
      </p:sp>
    </p:spTree>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85855" cy="914400"/>
          </a:xfrm>
          <a:prstGeom prst="rect">
            <a:avLst/>
          </a:prstGeom>
          <a:noFill/>
        </p:spPr>
        <p:txBody>
          <a:bodyPr wrap="square">
            <a:spAutoFit/>
          </a:bodyPr>
          <a:lstStyle/>
          <a:p>
            <a:pPr>
              <a:spcAft>
                <a:spcPts val="200"/>
              </a:spcAft>
            </a:pPr>
            <a:r>
              <a:rPr sz="3000" b="1" i="0">
                <a:solidFill>
                  <a:srgbClr val="1F3864"/>
                </a:solidFill>
                <a:latin typeface="Calibri"/>
              </a:rPr>
              <a:t>Instrument and data</a:t>
            </a:r>
          </a:p>
        </p:txBody>
      </p:sp>
      <p:sp>
        <p:nvSpPr>
          <p:cNvPr id="3" name="TextBox 2"/>
          <p:cNvSpPr txBox="1"/>
          <p:nvPr/>
        </p:nvSpPr>
        <p:spPr>
          <a:xfrm>
            <a:off x="822960" y="1371600"/>
            <a:ext cx="10545775" cy="1828800"/>
          </a:xfrm>
          <a:prstGeom prst="rect">
            <a:avLst/>
          </a:prstGeom>
          <a:noFill/>
        </p:spPr>
        <p:txBody>
          <a:bodyPr wrap="square">
            <a:spAutoFit/>
          </a:bodyPr>
          <a:lstStyle/>
          <a:p>
            <a:pPr>
              <a:spcAft>
                <a:spcPts val="800"/>
              </a:spcAft>
            </a:pPr>
            <a:r>
              <a:rPr sz="1700" b="0" i="0">
                <a:solidFill>
                  <a:srgbClr val="595959"/>
                </a:solidFill>
                <a:latin typeface="Calibri"/>
              </a:rPr>
              <a:t>•  </a:t>
            </a:r>
            <a:r>
              <a:rPr sz="1700" b="0" i="0">
                <a:solidFill>
                  <a:srgbClr val="262626"/>
                </a:solidFill>
                <a:latin typeface="Calibri"/>
              </a:rPr>
              <a:t>Canvas copy of the Creation of Adam; Ars Mensurae MA-XRF scanner, two SDDs (s/n 10264, 19511)</a:t>
            </a:r>
          </a:p>
          <a:p>
            <a:pPr>
              <a:spcAft>
                <a:spcPts val="800"/>
              </a:spcAft>
            </a:pPr>
            <a:r>
              <a:rPr sz="1700" b="0" i="0">
                <a:solidFill>
                  <a:srgbClr val="595959"/>
                </a:solidFill>
                <a:latin typeface="Calibri"/>
              </a:rPr>
              <a:t>•  </a:t>
            </a:r>
            <a:r>
              <a:rPr sz="1700" b="0" i="0">
                <a:solidFill>
                  <a:srgbClr val="262626"/>
                </a:solidFill>
                <a:latin typeface="Calibri"/>
              </a:rPr>
              <a:t>Three scans: two frontal, 7 days apart (repeatability baseline), one tilted forward</a:t>
            </a:r>
          </a:p>
          <a:p>
            <a:pPr>
              <a:spcAft>
                <a:spcPts val="800"/>
              </a:spcAft>
            </a:pPr>
            <a:r>
              <a:rPr sz="1700" b="0" i="0">
                <a:solidFill>
                  <a:srgbClr val="595959"/>
                </a:solidFill>
                <a:latin typeface="Calibri"/>
              </a:rPr>
              <a:t>•  </a:t>
            </a:r>
            <a:r>
              <a:rPr sz="1700" b="0" i="0">
                <a:solidFill>
                  <a:srgbClr val="262626"/>
                </a:solidFill>
                <a:latin typeface="Calibri"/>
              </a:rPr>
              <a:t>8 usable lines from Ca Kα (3.7 keV) to Pb Lγ (14.8 keV); bootstrap uncertainties</a:t>
            </a:r>
          </a:p>
        </p:txBody>
      </p:sp>
      <p:pic>
        <p:nvPicPr>
          <p:cNvPr id="4" name="Picture 3" descr="element_maps.png"/>
          <p:cNvPicPr>
            <a:picLocks noChangeAspect="1"/>
          </p:cNvPicPr>
          <p:nvPr/>
        </p:nvPicPr>
        <p:blipFill>
          <a:blip r:embed="rId4"/>
          <a:stretch>
            <a:fillRect/>
          </a:stretch>
        </p:blipFill>
        <p:spPr>
          <a:xfrm>
            <a:off x="594360" y="3246120"/>
            <a:ext cx="10972800" cy="3439597"/>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85855" cy="914400"/>
          </a:xfrm>
          <a:prstGeom prst="rect">
            <a:avLst/>
          </a:prstGeom>
          <a:noFill/>
        </p:spPr>
        <p:txBody>
          <a:bodyPr wrap="square">
            <a:spAutoFit/>
          </a:bodyPr>
          <a:lstStyle/>
          <a:p>
            <a:pPr>
              <a:spcAft>
                <a:spcPts val="200"/>
              </a:spcAft>
            </a:pPr>
            <a:r>
              <a:rPr sz="3000" b="1" i="0">
                <a:solidFill>
                  <a:srgbClr val="1F3864"/>
                </a:solidFill>
                <a:latin typeface="Calibri"/>
              </a:rPr>
              <a:t>The two channels disagree - up to sixfold</a:t>
            </a:r>
          </a:p>
        </p:txBody>
      </p:sp>
      <p:graphicFrame>
        <p:nvGraphicFramePr>
          <p:cNvPr id="3" name="Table 2"/>
          <p:cNvGraphicFramePr>
            <a:graphicFrameLocks noGrp="1"/>
          </p:cNvGraphicFramePr>
          <p:nvPr/>
        </p:nvGraphicFramePr>
        <p:xfrm>
          <a:off x="640080" y="1463040"/>
          <a:ext cx="6035040" cy="4480560"/>
        </p:xfrm>
        <a:graphic>
          <a:graphicData uri="http://schemas.openxmlformats.org/drawingml/2006/table">
            <a:tbl>
              <a:tblPr firstRow="1" bandRow="1">
                <a:tableStyleId>{5C22544A-7EE6-4342-B048-85BDC9FD1C3A}</a:tableStyleId>
              </a:tblPr>
              <a:tblGrid>
                <a:gridCol w="1207008">
                  <a:extLst>
                    <a:ext uri="{9D8B030D-6E8A-4147-A177-3AD203B41FA5}">
                      <a16:colId xmlns:a16="http://schemas.microsoft.com/office/drawing/2014/main" val="20000"/>
                    </a:ext>
                  </a:extLst>
                </a:gridCol>
                <a:gridCol w="1207008">
                  <a:extLst>
                    <a:ext uri="{9D8B030D-6E8A-4147-A177-3AD203B41FA5}">
                      <a16:colId xmlns:a16="http://schemas.microsoft.com/office/drawing/2014/main" val="20001"/>
                    </a:ext>
                  </a:extLst>
                </a:gridCol>
                <a:gridCol w="1207008">
                  <a:extLst>
                    <a:ext uri="{9D8B030D-6E8A-4147-A177-3AD203B41FA5}">
                      <a16:colId xmlns:a16="http://schemas.microsoft.com/office/drawing/2014/main" val="20002"/>
                    </a:ext>
                  </a:extLst>
                </a:gridCol>
                <a:gridCol w="1207008">
                  <a:extLst>
                    <a:ext uri="{9D8B030D-6E8A-4147-A177-3AD203B41FA5}">
                      <a16:colId xmlns:a16="http://schemas.microsoft.com/office/drawing/2014/main" val="20003"/>
                    </a:ext>
                  </a:extLst>
                </a:gridCol>
                <a:gridCol w="1207008">
                  <a:extLst>
                    <a:ext uri="{9D8B030D-6E8A-4147-A177-3AD203B41FA5}">
                      <a16:colId xmlns:a16="http://schemas.microsoft.com/office/drawing/2014/main" val="20004"/>
                    </a:ext>
                  </a:extLst>
                </a:gridCol>
              </a:tblGrid>
              <a:tr h="497840">
                <a:tc>
                  <a:txBody>
                    <a:bodyPr/>
                    <a:lstStyle/>
                    <a:p>
                      <a:r>
                        <a:rPr sz="1400" b="1">
                          <a:solidFill>
                            <a:srgbClr val="FFFFFF"/>
                          </a:solidFill>
                          <a:latin typeface="Calibri"/>
                        </a:rPr>
                        <a:t>line</a:t>
                      </a:r>
                    </a:p>
                  </a:txBody>
                  <a:tcPr>
                    <a:solidFill>
                      <a:srgbClr val="1F3864"/>
                    </a:solidFill>
                  </a:tcPr>
                </a:tc>
                <a:tc>
                  <a:txBody>
                    <a:bodyPr/>
                    <a:lstStyle/>
                    <a:p>
                      <a:r>
                        <a:rPr sz="1400" b="1">
                          <a:solidFill>
                            <a:srgbClr val="FFFFFF"/>
                          </a:solidFill>
                          <a:latin typeface="Calibri"/>
                        </a:rPr>
                        <a:t>E (keV)</a:t>
                      </a:r>
                    </a:p>
                  </a:txBody>
                  <a:tcPr>
                    <a:solidFill>
                      <a:srgbClr val="1F3864"/>
                    </a:solidFill>
                  </a:tcPr>
                </a:tc>
                <a:tc>
                  <a:txBody>
                    <a:bodyPr/>
                    <a:lstStyle/>
                    <a:p>
                      <a:r>
                        <a:rPr sz="1400" b="1">
                          <a:solidFill>
                            <a:srgbClr val="FFFFFF"/>
                          </a:solidFill>
                          <a:latin typeface="Calibri"/>
                        </a:rPr>
                        <a:t>R frontal</a:t>
                      </a:r>
                    </a:p>
                  </a:txBody>
                  <a:tcPr>
                    <a:solidFill>
                      <a:srgbClr val="1F3864"/>
                    </a:solidFill>
                  </a:tcPr>
                </a:tc>
                <a:tc>
                  <a:txBody>
                    <a:bodyPr/>
                    <a:lstStyle/>
                    <a:p>
                      <a:r>
                        <a:rPr sz="1400" b="1">
                          <a:solidFill>
                            <a:srgbClr val="FFFFFF"/>
                          </a:solidFill>
                          <a:latin typeface="Calibri"/>
                        </a:rPr>
                        <a:t>tilt shift</a:t>
                      </a:r>
                    </a:p>
                  </a:txBody>
                  <a:tcPr>
                    <a:solidFill>
                      <a:srgbClr val="1F3864"/>
                    </a:solidFill>
                  </a:tcPr>
                </a:tc>
                <a:tc>
                  <a:txBody>
                    <a:bodyPr/>
                    <a:lstStyle/>
                    <a:p>
                      <a:r>
                        <a:rPr sz="1400" b="1">
                          <a:solidFill>
                            <a:srgbClr val="FFFFFF"/>
                          </a:solidFill>
                          <a:latin typeface="Calibri"/>
                        </a:rPr>
                        <a:t>signif.</a:t>
                      </a:r>
                    </a:p>
                  </a:txBody>
                  <a:tcPr>
                    <a:solidFill>
                      <a:srgbClr val="1F3864"/>
                    </a:solidFill>
                  </a:tcPr>
                </a:tc>
                <a:extLst>
                  <a:ext uri="{0D108BD9-81ED-4DB2-BD59-A6C34878D82A}">
                    <a16:rowId xmlns:a16="http://schemas.microsoft.com/office/drawing/2014/main" val="10000"/>
                  </a:ext>
                </a:extLst>
              </a:tr>
              <a:tr h="497840">
                <a:tc>
                  <a:txBody>
                    <a:bodyPr/>
                    <a:lstStyle/>
                    <a:p>
                      <a:r>
                        <a:rPr sz="1400">
                          <a:solidFill>
                            <a:srgbClr val="262626"/>
                          </a:solidFill>
                          <a:latin typeface="Calibri"/>
                        </a:rPr>
                        <a:t>Ca Kα</a:t>
                      </a:r>
                    </a:p>
                  </a:txBody>
                  <a:tcPr/>
                </a:tc>
                <a:tc>
                  <a:txBody>
                    <a:bodyPr/>
                    <a:lstStyle/>
                    <a:p>
                      <a:r>
                        <a:rPr sz="1400">
                          <a:solidFill>
                            <a:srgbClr val="262626"/>
                          </a:solidFill>
                          <a:latin typeface="Calibri"/>
                        </a:rPr>
                        <a:t>3.69</a:t>
                      </a:r>
                    </a:p>
                  </a:txBody>
                  <a:tcPr/>
                </a:tc>
                <a:tc>
                  <a:txBody>
                    <a:bodyPr/>
                    <a:lstStyle/>
                    <a:p>
                      <a:r>
                        <a:rPr sz="1400">
                          <a:solidFill>
                            <a:srgbClr val="262626"/>
                          </a:solidFill>
                          <a:latin typeface="Calibri"/>
                        </a:rPr>
                        <a:t>5.78</a:t>
                      </a:r>
                    </a:p>
                  </a:txBody>
                  <a:tcPr/>
                </a:tc>
                <a:tc>
                  <a:txBody>
                    <a:bodyPr/>
                    <a:lstStyle/>
                    <a:p>
                      <a:r>
                        <a:rPr sz="1400" b="1">
                          <a:solidFill>
                            <a:srgbClr val="D95F02"/>
                          </a:solidFill>
                          <a:latin typeface="Calibri"/>
                        </a:rPr>
                        <a:t>+9.5 %</a:t>
                      </a:r>
                    </a:p>
                  </a:txBody>
                  <a:tcPr/>
                </a:tc>
                <a:tc>
                  <a:txBody>
                    <a:bodyPr/>
                    <a:lstStyle/>
                    <a:p>
                      <a:r>
                        <a:rPr sz="1400" b="1">
                          <a:solidFill>
                            <a:srgbClr val="D95F02"/>
                          </a:solidFill>
                          <a:latin typeface="Calibri"/>
                        </a:rPr>
                        <a:t>24σ</a:t>
                      </a:r>
                    </a:p>
                  </a:txBody>
                  <a:tcPr/>
                </a:tc>
                <a:extLst>
                  <a:ext uri="{0D108BD9-81ED-4DB2-BD59-A6C34878D82A}">
                    <a16:rowId xmlns:a16="http://schemas.microsoft.com/office/drawing/2014/main" val="10001"/>
                  </a:ext>
                </a:extLst>
              </a:tr>
              <a:tr h="497840">
                <a:tc>
                  <a:txBody>
                    <a:bodyPr/>
                    <a:lstStyle/>
                    <a:p>
                      <a:r>
                        <a:rPr sz="1400">
                          <a:solidFill>
                            <a:srgbClr val="262626"/>
                          </a:solidFill>
                          <a:latin typeface="Calibri"/>
                        </a:rPr>
                        <a:t>Ti Kα</a:t>
                      </a:r>
                    </a:p>
                  </a:txBody>
                  <a:tcPr/>
                </a:tc>
                <a:tc>
                  <a:txBody>
                    <a:bodyPr/>
                    <a:lstStyle/>
                    <a:p>
                      <a:r>
                        <a:rPr sz="1400">
                          <a:solidFill>
                            <a:srgbClr val="262626"/>
                          </a:solidFill>
                          <a:latin typeface="Calibri"/>
                        </a:rPr>
                        <a:t>4.51</a:t>
                      </a:r>
                    </a:p>
                  </a:txBody>
                  <a:tcPr/>
                </a:tc>
                <a:tc>
                  <a:txBody>
                    <a:bodyPr/>
                    <a:lstStyle/>
                    <a:p>
                      <a:r>
                        <a:rPr sz="1400">
                          <a:solidFill>
                            <a:srgbClr val="262626"/>
                          </a:solidFill>
                          <a:latin typeface="Calibri"/>
                        </a:rPr>
                        <a:t>2.42</a:t>
                      </a:r>
                    </a:p>
                  </a:txBody>
                  <a:tcPr/>
                </a:tc>
                <a:tc>
                  <a:txBody>
                    <a:bodyPr/>
                    <a:lstStyle/>
                    <a:p>
                      <a:r>
                        <a:rPr sz="1400" b="1">
                          <a:solidFill>
                            <a:srgbClr val="D95F02"/>
                          </a:solidFill>
                          <a:latin typeface="Calibri"/>
                        </a:rPr>
                        <a:t>+7.9 %</a:t>
                      </a:r>
                    </a:p>
                  </a:txBody>
                  <a:tcPr/>
                </a:tc>
                <a:tc>
                  <a:txBody>
                    <a:bodyPr/>
                    <a:lstStyle/>
                    <a:p>
                      <a:r>
                        <a:rPr sz="1400" b="1">
                          <a:solidFill>
                            <a:srgbClr val="D95F02"/>
                          </a:solidFill>
                          <a:latin typeface="Calibri"/>
                        </a:rPr>
                        <a:t>13.5σ</a:t>
                      </a:r>
                    </a:p>
                  </a:txBody>
                  <a:tcPr/>
                </a:tc>
                <a:extLst>
                  <a:ext uri="{0D108BD9-81ED-4DB2-BD59-A6C34878D82A}">
                    <a16:rowId xmlns:a16="http://schemas.microsoft.com/office/drawing/2014/main" val="10002"/>
                  </a:ext>
                </a:extLst>
              </a:tr>
              <a:tr h="497840">
                <a:tc>
                  <a:txBody>
                    <a:bodyPr/>
                    <a:lstStyle/>
                    <a:p>
                      <a:r>
                        <a:rPr sz="1400">
                          <a:solidFill>
                            <a:srgbClr val="262626"/>
                          </a:solidFill>
                          <a:latin typeface="Calibri"/>
                        </a:rPr>
                        <a:t>Fe Kα</a:t>
                      </a:r>
                    </a:p>
                  </a:txBody>
                  <a:tcPr/>
                </a:tc>
                <a:tc>
                  <a:txBody>
                    <a:bodyPr/>
                    <a:lstStyle/>
                    <a:p>
                      <a:r>
                        <a:rPr sz="1400">
                          <a:solidFill>
                            <a:srgbClr val="262626"/>
                          </a:solidFill>
                          <a:latin typeface="Calibri"/>
                        </a:rPr>
                        <a:t>6.40</a:t>
                      </a:r>
                    </a:p>
                  </a:txBody>
                  <a:tcPr/>
                </a:tc>
                <a:tc>
                  <a:txBody>
                    <a:bodyPr/>
                    <a:lstStyle/>
                    <a:p>
                      <a:r>
                        <a:rPr sz="1400">
                          <a:solidFill>
                            <a:srgbClr val="262626"/>
                          </a:solidFill>
                          <a:latin typeface="Calibri"/>
                        </a:rPr>
                        <a:t>1.21</a:t>
                      </a:r>
                    </a:p>
                  </a:txBody>
                  <a:tcPr/>
                </a:tc>
                <a:tc>
                  <a:txBody>
                    <a:bodyPr/>
                    <a:lstStyle/>
                    <a:p>
                      <a:r>
                        <a:rPr sz="1400" b="1">
                          <a:solidFill>
                            <a:srgbClr val="D95F02"/>
                          </a:solidFill>
                          <a:latin typeface="Calibri"/>
                        </a:rPr>
                        <a:t>+3.5 %</a:t>
                      </a:r>
                    </a:p>
                  </a:txBody>
                  <a:tcPr/>
                </a:tc>
                <a:tc>
                  <a:txBody>
                    <a:bodyPr/>
                    <a:lstStyle/>
                    <a:p>
                      <a:r>
                        <a:rPr sz="1400" b="1">
                          <a:solidFill>
                            <a:srgbClr val="D95F02"/>
                          </a:solidFill>
                          <a:latin typeface="Calibri"/>
                        </a:rPr>
                        <a:t>9.2σ</a:t>
                      </a:r>
                    </a:p>
                  </a:txBody>
                  <a:tcPr/>
                </a:tc>
                <a:extLst>
                  <a:ext uri="{0D108BD9-81ED-4DB2-BD59-A6C34878D82A}">
                    <a16:rowId xmlns:a16="http://schemas.microsoft.com/office/drawing/2014/main" val="10003"/>
                  </a:ext>
                </a:extLst>
              </a:tr>
              <a:tr h="497840">
                <a:tc>
                  <a:txBody>
                    <a:bodyPr/>
                    <a:lstStyle/>
                    <a:p>
                      <a:r>
                        <a:rPr sz="1400">
                          <a:solidFill>
                            <a:srgbClr val="262626"/>
                          </a:solidFill>
                          <a:latin typeface="Calibri"/>
                        </a:rPr>
                        <a:t>Cu Kα</a:t>
                      </a:r>
                    </a:p>
                  </a:txBody>
                  <a:tcPr/>
                </a:tc>
                <a:tc>
                  <a:txBody>
                    <a:bodyPr/>
                    <a:lstStyle/>
                    <a:p>
                      <a:r>
                        <a:rPr sz="1400">
                          <a:solidFill>
                            <a:srgbClr val="262626"/>
                          </a:solidFill>
                          <a:latin typeface="Calibri"/>
                        </a:rPr>
                        <a:t>8.04</a:t>
                      </a:r>
                    </a:p>
                  </a:txBody>
                  <a:tcPr/>
                </a:tc>
                <a:tc>
                  <a:txBody>
                    <a:bodyPr/>
                    <a:lstStyle/>
                    <a:p>
                      <a:r>
                        <a:rPr sz="1400">
                          <a:solidFill>
                            <a:srgbClr val="262626"/>
                          </a:solidFill>
                          <a:latin typeface="Calibri"/>
                        </a:rPr>
                        <a:t>1.01</a:t>
                      </a:r>
                    </a:p>
                  </a:txBody>
                  <a:tcPr/>
                </a:tc>
                <a:tc>
                  <a:txBody>
                    <a:bodyPr/>
                    <a:lstStyle/>
                    <a:p>
                      <a:r>
                        <a:rPr sz="1400">
                          <a:solidFill>
                            <a:srgbClr val="262626"/>
                          </a:solidFill>
                          <a:latin typeface="Calibri"/>
                        </a:rPr>
                        <a:t>+2.5 %</a:t>
                      </a:r>
                    </a:p>
                  </a:txBody>
                  <a:tcPr/>
                </a:tc>
                <a:tc>
                  <a:txBody>
                    <a:bodyPr/>
                    <a:lstStyle/>
                    <a:p>
                      <a:r>
                        <a:rPr sz="1400">
                          <a:solidFill>
                            <a:srgbClr val="262626"/>
                          </a:solidFill>
                          <a:latin typeface="Calibri"/>
                        </a:rPr>
                        <a:t>4.6σ</a:t>
                      </a:r>
                    </a:p>
                  </a:txBody>
                  <a:tcPr/>
                </a:tc>
                <a:extLst>
                  <a:ext uri="{0D108BD9-81ED-4DB2-BD59-A6C34878D82A}">
                    <a16:rowId xmlns:a16="http://schemas.microsoft.com/office/drawing/2014/main" val="10004"/>
                  </a:ext>
                </a:extLst>
              </a:tr>
              <a:tr h="497840">
                <a:tc>
                  <a:txBody>
                    <a:bodyPr/>
                    <a:lstStyle/>
                    <a:p>
                      <a:r>
                        <a:rPr sz="1400">
                          <a:solidFill>
                            <a:srgbClr val="262626"/>
                          </a:solidFill>
                          <a:latin typeface="Calibri"/>
                        </a:rPr>
                        <a:t>Pb Ll</a:t>
                      </a:r>
                    </a:p>
                  </a:txBody>
                  <a:tcPr/>
                </a:tc>
                <a:tc>
                  <a:txBody>
                    <a:bodyPr/>
                    <a:lstStyle/>
                    <a:p>
                      <a:r>
                        <a:rPr sz="1400">
                          <a:solidFill>
                            <a:srgbClr val="262626"/>
                          </a:solidFill>
                          <a:latin typeface="Calibri"/>
                        </a:rPr>
                        <a:t>9.19</a:t>
                      </a:r>
                    </a:p>
                  </a:txBody>
                  <a:tcPr/>
                </a:tc>
                <a:tc>
                  <a:txBody>
                    <a:bodyPr/>
                    <a:lstStyle/>
                    <a:p>
                      <a:r>
                        <a:rPr sz="1400">
                          <a:solidFill>
                            <a:srgbClr val="262626"/>
                          </a:solidFill>
                          <a:latin typeface="Calibri"/>
                        </a:rPr>
                        <a:t>0.828</a:t>
                      </a:r>
                    </a:p>
                  </a:txBody>
                  <a:tcPr/>
                </a:tc>
                <a:tc>
                  <a:txBody>
                    <a:bodyPr/>
                    <a:lstStyle/>
                    <a:p>
                      <a:r>
                        <a:rPr sz="1400" b="1">
                          <a:solidFill>
                            <a:srgbClr val="D95F02"/>
                          </a:solidFill>
                          <a:latin typeface="Calibri"/>
                        </a:rPr>
                        <a:t>+4.1 %</a:t>
                      </a:r>
                    </a:p>
                  </a:txBody>
                  <a:tcPr/>
                </a:tc>
                <a:tc>
                  <a:txBody>
                    <a:bodyPr/>
                    <a:lstStyle/>
                    <a:p>
                      <a:r>
                        <a:rPr sz="1400" b="1">
                          <a:solidFill>
                            <a:srgbClr val="D95F02"/>
                          </a:solidFill>
                          <a:latin typeface="Calibri"/>
                        </a:rPr>
                        <a:t>5.6σ</a:t>
                      </a:r>
                    </a:p>
                  </a:txBody>
                  <a:tcPr/>
                </a:tc>
                <a:extLst>
                  <a:ext uri="{0D108BD9-81ED-4DB2-BD59-A6C34878D82A}">
                    <a16:rowId xmlns:a16="http://schemas.microsoft.com/office/drawing/2014/main" val="10005"/>
                  </a:ext>
                </a:extLst>
              </a:tr>
              <a:tr h="497840">
                <a:tc>
                  <a:txBody>
                    <a:bodyPr/>
                    <a:lstStyle/>
                    <a:p>
                      <a:r>
                        <a:rPr sz="1400">
                          <a:solidFill>
                            <a:srgbClr val="262626"/>
                          </a:solidFill>
                          <a:latin typeface="Calibri"/>
                        </a:rPr>
                        <a:t>Pb Lα</a:t>
                      </a:r>
                    </a:p>
                  </a:txBody>
                  <a:tcPr/>
                </a:tc>
                <a:tc>
                  <a:txBody>
                    <a:bodyPr/>
                    <a:lstStyle/>
                    <a:p>
                      <a:r>
                        <a:rPr sz="1400">
                          <a:solidFill>
                            <a:srgbClr val="262626"/>
                          </a:solidFill>
                          <a:latin typeface="Calibri"/>
                        </a:rPr>
                        <a:t>10.54</a:t>
                      </a:r>
                    </a:p>
                  </a:txBody>
                  <a:tcPr/>
                </a:tc>
                <a:tc>
                  <a:txBody>
                    <a:bodyPr/>
                    <a:lstStyle/>
                    <a:p>
                      <a:r>
                        <a:rPr sz="1400">
                          <a:solidFill>
                            <a:srgbClr val="262626"/>
                          </a:solidFill>
                          <a:latin typeface="Calibri"/>
                        </a:rPr>
                        <a:t>0.765</a:t>
                      </a:r>
                    </a:p>
                  </a:txBody>
                  <a:tcPr/>
                </a:tc>
                <a:tc>
                  <a:txBody>
                    <a:bodyPr/>
                    <a:lstStyle/>
                    <a:p>
                      <a:r>
                        <a:rPr sz="1400" b="1">
                          <a:solidFill>
                            <a:srgbClr val="D95F02"/>
                          </a:solidFill>
                          <a:latin typeface="Calibri"/>
                        </a:rPr>
                        <a:t>+2.2 %</a:t>
                      </a:r>
                    </a:p>
                  </a:txBody>
                  <a:tcPr/>
                </a:tc>
                <a:tc>
                  <a:txBody>
                    <a:bodyPr/>
                    <a:lstStyle/>
                    <a:p>
                      <a:r>
                        <a:rPr sz="1400" b="1">
                          <a:solidFill>
                            <a:srgbClr val="D95F02"/>
                          </a:solidFill>
                          <a:latin typeface="Calibri"/>
                        </a:rPr>
                        <a:t>11.5σ</a:t>
                      </a:r>
                    </a:p>
                  </a:txBody>
                  <a:tcPr/>
                </a:tc>
                <a:extLst>
                  <a:ext uri="{0D108BD9-81ED-4DB2-BD59-A6C34878D82A}">
                    <a16:rowId xmlns:a16="http://schemas.microsoft.com/office/drawing/2014/main" val="10006"/>
                  </a:ext>
                </a:extLst>
              </a:tr>
              <a:tr h="497840">
                <a:tc>
                  <a:txBody>
                    <a:bodyPr/>
                    <a:lstStyle/>
                    <a:p>
                      <a:r>
                        <a:rPr sz="1400">
                          <a:solidFill>
                            <a:srgbClr val="262626"/>
                          </a:solidFill>
                          <a:latin typeface="Calibri"/>
                        </a:rPr>
                        <a:t>Pb Lβ</a:t>
                      </a:r>
                    </a:p>
                  </a:txBody>
                  <a:tcPr/>
                </a:tc>
                <a:tc>
                  <a:txBody>
                    <a:bodyPr/>
                    <a:lstStyle/>
                    <a:p>
                      <a:r>
                        <a:rPr sz="1400">
                          <a:solidFill>
                            <a:srgbClr val="262626"/>
                          </a:solidFill>
                          <a:latin typeface="Calibri"/>
                        </a:rPr>
                        <a:t>12.61</a:t>
                      </a:r>
                    </a:p>
                  </a:txBody>
                  <a:tcPr/>
                </a:tc>
                <a:tc>
                  <a:txBody>
                    <a:bodyPr/>
                    <a:lstStyle/>
                    <a:p>
                      <a:r>
                        <a:rPr sz="1400">
                          <a:solidFill>
                            <a:srgbClr val="262626"/>
                          </a:solidFill>
                          <a:latin typeface="Calibri"/>
                        </a:rPr>
                        <a:t>0.699</a:t>
                      </a:r>
                    </a:p>
                  </a:txBody>
                  <a:tcPr/>
                </a:tc>
                <a:tc>
                  <a:txBody>
                    <a:bodyPr/>
                    <a:lstStyle/>
                    <a:p>
                      <a:r>
                        <a:rPr sz="1400" b="1">
                          <a:solidFill>
                            <a:srgbClr val="D95F02"/>
                          </a:solidFill>
                          <a:latin typeface="Calibri"/>
                        </a:rPr>
                        <a:t>+1.8 %</a:t>
                      </a:r>
                    </a:p>
                  </a:txBody>
                  <a:tcPr/>
                </a:tc>
                <a:tc>
                  <a:txBody>
                    <a:bodyPr/>
                    <a:lstStyle/>
                    <a:p>
                      <a:r>
                        <a:rPr sz="1400" b="1">
                          <a:solidFill>
                            <a:srgbClr val="D95F02"/>
                          </a:solidFill>
                          <a:latin typeface="Calibri"/>
                        </a:rPr>
                        <a:t>10.3σ</a:t>
                      </a:r>
                    </a:p>
                  </a:txBody>
                  <a:tcPr/>
                </a:tc>
                <a:extLst>
                  <a:ext uri="{0D108BD9-81ED-4DB2-BD59-A6C34878D82A}">
                    <a16:rowId xmlns:a16="http://schemas.microsoft.com/office/drawing/2014/main" val="10007"/>
                  </a:ext>
                </a:extLst>
              </a:tr>
              <a:tr h="497840">
                <a:tc>
                  <a:txBody>
                    <a:bodyPr/>
                    <a:lstStyle/>
                    <a:p>
                      <a:r>
                        <a:rPr sz="1400">
                          <a:solidFill>
                            <a:srgbClr val="262626"/>
                          </a:solidFill>
                          <a:latin typeface="Calibri"/>
                        </a:rPr>
                        <a:t>Pb Lγ</a:t>
                      </a:r>
                    </a:p>
                  </a:txBody>
                  <a:tcPr/>
                </a:tc>
                <a:tc>
                  <a:txBody>
                    <a:bodyPr/>
                    <a:lstStyle/>
                    <a:p>
                      <a:r>
                        <a:rPr sz="1400">
                          <a:solidFill>
                            <a:srgbClr val="262626"/>
                          </a:solidFill>
                          <a:latin typeface="Calibri"/>
                        </a:rPr>
                        <a:t>14.77</a:t>
                      </a:r>
                    </a:p>
                  </a:txBody>
                  <a:tcPr/>
                </a:tc>
                <a:tc>
                  <a:txBody>
                    <a:bodyPr/>
                    <a:lstStyle/>
                    <a:p>
                      <a:r>
                        <a:rPr sz="1400">
                          <a:solidFill>
                            <a:srgbClr val="262626"/>
                          </a:solidFill>
                          <a:latin typeface="Calibri"/>
                        </a:rPr>
                        <a:t>0.630</a:t>
                      </a:r>
                    </a:p>
                  </a:txBody>
                  <a:tcPr/>
                </a:tc>
                <a:tc>
                  <a:txBody>
                    <a:bodyPr/>
                    <a:lstStyle/>
                    <a:p>
                      <a:r>
                        <a:rPr sz="1400">
                          <a:solidFill>
                            <a:srgbClr val="262626"/>
                          </a:solidFill>
                          <a:latin typeface="Calibri"/>
                        </a:rPr>
                        <a:t>+0.6 %</a:t>
                      </a:r>
                    </a:p>
                  </a:txBody>
                  <a:tcPr/>
                </a:tc>
                <a:tc>
                  <a:txBody>
                    <a:bodyPr/>
                    <a:lstStyle/>
                    <a:p>
                      <a:r>
                        <a:rPr sz="1400">
                          <a:solidFill>
                            <a:srgbClr val="262626"/>
                          </a:solidFill>
                          <a:latin typeface="Calibri"/>
                        </a:rPr>
                        <a:t>1.8σ</a:t>
                      </a:r>
                    </a:p>
                  </a:txBody>
                  <a:tcPr/>
                </a:tc>
                <a:extLst>
                  <a:ext uri="{0D108BD9-81ED-4DB2-BD59-A6C34878D82A}">
                    <a16:rowId xmlns:a16="http://schemas.microsoft.com/office/drawing/2014/main" val="10008"/>
                  </a:ext>
                </a:extLst>
              </a:tr>
            </a:tbl>
          </a:graphicData>
        </a:graphic>
      </p:graphicFrame>
      <p:sp>
        <p:nvSpPr>
          <p:cNvPr id="4" name="TextBox 3"/>
          <p:cNvSpPr txBox="1"/>
          <p:nvPr/>
        </p:nvSpPr>
        <p:spPr>
          <a:xfrm>
            <a:off x="7040880" y="1645920"/>
            <a:ext cx="4663440" cy="4389120"/>
          </a:xfrm>
          <a:prstGeom prst="rect">
            <a:avLst/>
          </a:prstGeom>
          <a:noFill/>
        </p:spPr>
        <p:txBody>
          <a:bodyPr wrap="square">
            <a:spAutoFit/>
          </a:bodyPr>
          <a:lstStyle/>
          <a:p>
            <a:pPr>
              <a:spcAft>
                <a:spcPts val="1200"/>
              </a:spcAft>
            </a:pPr>
            <a:r>
              <a:rPr sz="1700" b="0" i="0">
                <a:solidFill>
                  <a:srgbClr val="595959"/>
                </a:solidFill>
                <a:latin typeface="Calibri"/>
              </a:rPr>
              <a:t>•  </a:t>
            </a:r>
            <a:r>
              <a:rPr sz="1700" b="0" i="0">
                <a:solidFill>
                  <a:srgbClr val="262626"/>
                </a:solidFill>
                <a:latin typeface="Calibri"/>
              </a:rPr>
              <a:t>Same pixels, same painting: the frontal ratio runs from 5.8 down to 0.63 across energy</a:t>
            </a:r>
          </a:p>
          <a:p>
            <a:pPr>
              <a:spcAft>
                <a:spcPts val="1200"/>
              </a:spcAft>
            </a:pPr>
            <a:r>
              <a:rPr sz="1700" b="0" i="0">
                <a:solidFill>
                  <a:srgbClr val="595959"/>
                </a:solidFill>
                <a:latin typeface="Calibri"/>
              </a:rPr>
              <a:t>•  </a:t>
            </a:r>
            <a:r>
              <a:rPr sz="1700" b="0" i="0">
                <a:solidFill>
                  <a:srgbClr val="262626"/>
                </a:solidFill>
                <a:latin typeface="Calibri"/>
              </a:rPr>
              <a:t>Frontal repeatability ≤ 1.4 % - the tilt moves the ratio up to 24σ above it</a:t>
            </a:r>
          </a:p>
          <a:p>
            <a:pPr>
              <a:spcAft>
                <a:spcPts val="1200"/>
              </a:spcAft>
            </a:pPr>
            <a:r>
              <a:rPr sz="1700" b="0" i="0">
                <a:solidFill>
                  <a:srgbClr val="595959"/>
                </a:solidFill>
                <a:latin typeface="Calibri"/>
              </a:rPr>
              <a:t>•  </a:t>
            </a:r>
            <a:r>
              <a:rPr sz="1700" b="0" i="0">
                <a:solidFill>
                  <a:srgbClr val="262626"/>
                </a:solidFill>
                <a:latin typeface="Calibri"/>
              </a:rPr>
              <a:t>The shift decays monotonically with energy, +9.5 % → +0.6 % - geometry, not drift</a:t>
            </a:r>
          </a:p>
          <a:p>
            <a:pPr>
              <a:spcAft>
                <a:spcPts val="1200"/>
              </a:spcAft>
            </a:pPr>
            <a:r>
              <a:rPr sz="1700" b="0" i="0">
                <a:solidFill>
                  <a:srgbClr val="595959"/>
                </a:solidFill>
                <a:latin typeface="Calibri"/>
              </a:rPr>
              <a:t>•  </a:t>
            </a:r>
            <a:r>
              <a:rPr sz="1700" b="0" i="0">
                <a:solidFill>
                  <a:srgbClr val="262626"/>
                </a:solidFill>
                <a:latin typeface="Calibri"/>
              </a:rPr>
              <a:t>Ratios from the registered overlap region only: a crop test showed full-frame ratios mix in a field-of-view artifact</a:t>
            </a:r>
          </a:p>
          <a:p>
            <a:pPr>
              <a:spcAft>
                <a:spcPts val="1200"/>
              </a:spcAft>
            </a:pPr>
            <a:r>
              <a:rPr sz="1700" b="0" i="0">
                <a:solidFill>
                  <a:srgbClr val="595959"/>
                </a:solidFill>
                <a:latin typeface="Calibri"/>
              </a:rPr>
              <a:t>•  </a:t>
            </a:r>
            <a:r>
              <a:rPr sz="1700" b="0" i="0">
                <a:solidFill>
                  <a:srgbClr val="262626"/>
                </a:solidFill>
                <a:latin typeface="Calibri"/>
              </a:rPr>
              <a:t>Four Pb lines share pixels and composition: a pure energy dependence</a:t>
            </a:r>
          </a:p>
        </p:txBody>
      </p:sp>
    </p:spTree>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85855" cy="914400"/>
          </a:xfrm>
          <a:prstGeom prst="rect">
            <a:avLst/>
          </a:prstGeom>
          <a:noFill/>
        </p:spPr>
        <p:txBody>
          <a:bodyPr wrap="square">
            <a:spAutoFit/>
          </a:bodyPr>
          <a:lstStyle/>
          <a:p>
            <a:pPr>
              <a:spcAft>
                <a:spcPts val="200"/>
              </a:spcAft>
            </a:pPr>
            <a:r>
              <a:rPr sz="3000" b="1" i="0">
                <a:solidFill>
                  <a:srgbClr val="1F3864"/>
                </a:solidFill>
                <a:latin typeface="Calibri"/>
              </a:rPr>
              <a:t>Stage 1 - what separates the detectors</a:t>
            </a:r>
          </a:p>
        </p:txBody>
      </p:sp>
      <p:pic>
        <p:nvPicPr>
          <p:cNvPr id="3" name="Picture 2" descr="geometry_fit.png"/>
          <p:cNvPicPr>
            <a:picLocks noChangeAspect="1"/>
          </p:cNvPicPr>
          <p:nvPr/>
        </p:nvPicPr>
        <p:blipFill>
          <a:blip r:embed="rId3"/>
          <a:srcRect r="50000"/>
          <a:stretch>
            <a:fillRect/>
          </a:stretch>
        </p:blipFill>
        <p:spPr>
          <a:xfrm>
            <a:off x="502920" y="1600200"/>
            <a:ext cx="5852160" cy="4681728"/>
          </a:xfrm>
          <a:prstGeom prst="rect">
            <a:avLst/>
          </a:prstGeom>
        </p:spPr>
      </p:pic>
      <p:sp>
        <p:nvSpPr>
          <p:cNvPr id="4" name="TextBox 3"/>
          <p:cNvSpPr txBox="1"/>
          <p:nvPr/>
        </p:nvSpPr>
        <p:spPr>
          <a:xfrm>
            <a:off x="6720840" y="1737360"/>
            <a:ext cx="4937760" cy="4389120"/>
          </a:xfrm>
          <a:prstGeom prst="rect">
            <a:avLst/>
          </a:prstGeom>
          <a:noFill/>
        </p:spPr>
        <p:txBody>
          <a:bodyPr wrap="square">
            <a:spAutoFit/>
          </a:bodyPr>
          <a:lstStyle/>
          <a:p>
            <a:pPr>
              <a:spcAft>
                <a:spcPts val="1200"/>
              </a:spcAft>
            </a:pPr>
            <a:r>
              <a:rPr sz="1700" b="0" i="0">
                <a:solidFill>
                  <a:srgbClr val="595959"/>
                </a:solidFill>
                <a:latin typeface="Calibri"/>
              </a:rPr>
              <a:t>•  </a:t>
            </a:r>
            <a:r>
              <a:rPr sz="1700" b="0" i="0">
                <a:solidFill>
                  <a:srgbClr val="262626"/>
                </a:solidFill>
                <a:latin typeface="Calibri"/>
              </a:rPr>
              <a:t>Three-parameter model: gain × differential absorber × Si-thickness ratio</a:t>
            </a:r>
          </a:p>
          <a:p>
            <a:pPr>
              <a:spcAft>
                <a:spcPts val="1200"/>
              </a:spcAft>
            </a:pPr>
            <a:r>
              <a:rPr sz="1700" b="0" i="0">
                <a:solidFill>
                  <a:srgbClr val="595959"/>
                </a:solidFill>
                <a:latin typeface="Calibri"/>
              </a:rPr>
              <a:t>•  </a:t>
            </a:r>
            <a:r>
              <a:rPr sz="1700" b="0" i="0">
                <a:solidFill>
                  <a:srgbClr val="262626"/>
                </a:solidFill>
                <a:latin typeface="Calibri"/>
              </a:rPr>
              <a:t>Reproduces R(E) over two orders of magnitude</a:t>
            </a:r>
          </a:p>
          <a:p>
            <a:pPr>
              <a:spcAft>
                <a:spcPts val="1200"/>
              </a:spcAft>
            </a:pPr>
            <a:r>
              <a:rPr sz="1700" b="0" i="0">
                <a:solidFill>
                  <a:srgbClr val="595959"/>
                </a:solidFill>
                <a:latin typeface="Calibri"/>
              </a:rPr>
              <a:t>•  </a:t>
            </a:r>
            <a:r>
              <a:rPr sz="1700" b="1" i="0">
                <a:solidFill>
                  <a:srgbClr val="262626"/>
                </a:solidFill>
                <a:latin typeface="Calibri"/>
              </a:rPr>
              <a:t>Fitted absorber: 973 ± 2 µm Be-equivalent</a:t>
            </a:r>
            <a:r>
              <a:rPr sz="1700" b="0" i="0">
                <a:solidFill>
                  <a:srgbClr val="262626"/>
                </a:solidFill>
                <a:latin typeface="Calibri"/>
              </a:rPr>
              <a:t> - 40-100× a real SDD window</a:t>
            </a:r>
          </a:p>
          <a:p>
            <a:pPr>
              <a:spcAft>
                <a:spcPts val="1200"/>
              </a:spcAft>
            </a:pPr>
            <a:r>
              <a:rPr sz="1700" b="0" i="0">
                <a:solidFill>
                  <a:srgbClr val="595959"/>
                </a:solidFill>
                <a:latin typeface="Calibri"/>
              </a:rPr>
              <a:t>•  </a:t>
            </a:r>
            <a:r>
              <a:rPr sz="1700" b="1" i="0">
                <a:solidFill>
                  <a:srgbClr val="D95F02"/>
                </a:solidFill>
                <a:latin typeface="Calibri"/>
              </a:rPr>
              <a:t>⇒ ≈15-20 cm extra air path / collimation in front of detector 19511</a:t>
            </a:r>
          </a:p>
          <a:p>
            <a:pPr>
              <a:spcAft>
                <a:spcPts val="1200"/>
              </a:spcAft>
            </a:pPr>
            <a:r>
              <a:rPr sz="800"/>
              <a:t> </a:t>
            </a:r>
          </a:p>
          <a:p>
            <a:pPr>
              <a:spcAft>
                <a:spcPts val="1200"/>
              </a:spcAft>
            </a:pPr>
            <a:r>
              <a:rPr sz="1700" b="0" i="0">
                <a:solidFill>
                  <a:srgbClr val="595959"/>
                </a:solidFill>
                <a:latin typeface="Calibri"/>
              </a:rPr>
              <a:t>•  </a:t>
            </a:r>
            <a:r>
              <a:rPr sz="1600" b="0" i="1">
                <a:solidFill>
                  <a:srgbClr val="595959"/>
                </a:solidFill>
                <a:latin typeface="Calibri"/>
              </a:rPr>
              <a:t>An instrument diagnosis obtained from painting scans alone.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85855" cy="914400"/>
          </a:xfrm>
          <a:prstGeom prst="rect">
            <a:avLst/>
          </a:prstGeom>
          <a:noFill/>
        </p:spPr>
        <p:txBody>
          <a:bodyPr wrap="square">
            <a:spAutoFit/>
          </a:bodyPr>
          <a:lstStyle/>
          <a:p>
            <a:pPr>
              <a:spcAft>
                <a:spcPts val="200"/>
              </a:spcAft>
            </a:pPr>
            <a:r>
              <a:rPr sz="3000" b="1" i="0">
                <a:solidFill>
                  <a:srgbClr val="1F3864"/>
                </a:solidFill>
                <a:latin typeface="Calibri"/>
              </a:rPr>
              <a:t>Stage 2 - what the tilt reveals</a:t>
            </a:r>
          </a:p>
        </p:txBody>
      </p:sp>
      <p:pic>
        <p:nvPicPr>
          <p:cNvPr id="3" name="Picture 2" descr="geometry_fit.png"/>
          <p:cNvPicPr>
            <a:picLocks noChangeAspect="1"/>
          </p:cNvPicPr>
          <p:nvPr/>
        </p:nvPicPr>
        <p:blipFill>
          <a:blip r:embed="rId3"/>
          <a:srcRect l="50000"/>
          <a:stretch>
            <a:fillRect/>
          </a:stretch>
        </p:blipFill>
        <p:spPr>
          <a:xfrm>
            <a:off x="502920" y="1600200"/>
            <a:ext cx="5852160" cy="4681728"/>
          </a:xfrm>
          <a:prstGeom prst="rect">
            <a:avLst/>
          </a:prstGeom>
        </p:spPr>
      </p:pic>
      <p:sp>
        <p:nvSpPr>
          <p:cNvPr id="4" name="TextBox 3"/>
          <p:cNvSpPr txBox="1"/>
          <p:nvPr/>
        </p:nvSpPr>
        <p:spPr>
          <a:xfrm>
            <a:off x="6720840" y="1737360"/>
            <a:ext cx="4937760" cy="4389120"/>
          </a:xfrm>
          <a:prstGeom prst="rect">
            <a:avLst/>
          </a:prstGeom>
          <a:noFill/>
        </p:spPr>
        <p:txBody>
          <a:bodyPr wrap="square">
            <a:spAutoFit/>
          </a:bodyPr>
          <a:lstStyle/>
          <a:p>
            <a:pPr>
              <a:spcAft>
                <a:spcPts val="1200"/>
              </a:spcAft>
            </a:pPr>
            <a:r>
              <a:rPr sz="1700" b="0" i="0">
                <a:solidFill>
                  <a:srgbClr val="595959"/>
                </a:solidFill>
                <a:latin typeface="Calibri"/>
              </a:rPr>
              <a:t>•  </a:t>
            </a:r>
            <a:r>
              <a:rPr sz="1700" b="0" i="0">
                <a:solidFill>
                  <a:srgbClr val="262626"/>
                </a:solidFill>
                <a:latin typeface="Calibri"/>
              </a:rPr>
              <a:t>Tilt shift of R: monotonic positive decay, +9.5 % at 3.7 keV → +0.6 % at 14.8 keV</a:t>
            </a:r>
          </a:p>
          <a:p>
            <a:pPr>
              <a:spcAft>
                <a:spcPts val="1200"/>
              </a:spcAft>
            </a:pPr>
            <a:r>
              <a:rPr sz="1700" b="0" i="0">
                <a:solidFill>
                  <a:srgbClr val="595959"/>
                </a:solidFill>
                <a:latin typeface="Calibri"/>
              </a:rPr>
              <a:t>•  </a:t>
            </a:r>
            <a:r>
              <a:rPr sz="1700" b="0" i="0">
                <a:solidFill>
                  <a:srgbClr val="262626"/>
                </a:solidFill>
                <a:latin typeface="Calibri"/>
              </a:rPr>
              <a:t>Thick-sample fluorescence model; the tilt moves the effective take-off angles</a:t>
            </a:r>
          </a:p>
          <a:p>
            <a:pPr>
              <a:spcAft>
                <a:spcPts val="1200"/>
              </a:spcAft>
            </a:pPr>
            <a:r>
              <a:rPr sz="1700" b="0" i="0">
                <a:solidFill>
                  <a:srgbClr val="595959"/>
                </a:solidFill>
                <a:latin typeface="Calibri"/>
              </a:rPr>
              <a:t>•  </a:t>
            </a:r>
            <a:r>
              <a:rPr sz="1700" b="1" i="0">
                <a:solidFill>
                  <a:srgbClr val="262626"/>
                </a:solidFill>
                <a:latin typeface="Calibri"/>
              </a:rPr>
              <a:t>Lever arm s = 0.53 ± 0.10 ⇒ take-off shift 4.1° ± 0.8° at this tilt</a:t>
            </a:r>
          </a:p>
          <a:p>
            <a:pPr>
              <a:spcAft>
                <a:spcPts val="1200"/>
              </a:spcAft>
            </a:pPr>
            <a:r>
              <a:rPr sz="1700" b="0" i="0">
                <a:solidFill>
                  <a:srgbClr val="595959"/>
                </a:solidFill>
                <a:latin typeface="Calibri"/>
              </a:rPr>
              <a:t>•  </a:t>
            </a:r>
            <a:r>
              <a:rPr sz="1700" b="0" i="0">
                <a:solidFill>
                  <a:srgbClr val="262626"/>
                </a:solidFill>
                <a:latin typeface="Calibri"/>
              </a:rPr>
              <a:t>Gaussian-process check (no physics inside): same shape, model within 1.1σ</a:t>
            </a:r>
          </a:p>
          <a:p>
            <a:pPr>
              <a:spcAft>
                <a:spcPts val="1200"/>
              </a:spcAft>
            </a:pPr>
            <a:r>
              <a:rPr sz="1700" b="0" i="0">
                <a:solidFill>
                  <a:srgbClr val="595959"/>
                </a:solidFill>
                <a:latin typeface="Calibri"/>
              </a:rPr>
              <a:t>•  </a:t>
            </a:r>
            <a:r>
              <a:rPr sz="1700" b="1" i="0">
                <a:solidFill>
                  <a:srgbClr val="D95F02"/>
                </a:solidFill>
                <a:latin typeface="Calibri"/>
              </a:rPr>
              <a:t>⇒ the shape lives in the data, not in the model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85855" cy="914400"/>
          </a:xfrm>
          <a:prstGeom prst="rect">
            <a:avLst/>
          </a:prstGeom>
          <a:noFill/>
        </p:spPr>
        <p:txBody>
          <a:bodyPr wrap="square">
            <a:spAutoFit/>
          </a:bodyPr>
          <a:lstStyle/>
          <a:p>
            <a:pPr>
              <a:spcAft>
                <a:spcPts val="200"/>
              </a:spcAft>
            </a:pPr>
            <a:r>
              <a:rPr sz="3000" b="1" i="0">
                <a:solidFill>
                  <a:srgbClr val="1F3864"/>
                </a:solidFill>
                <a:latin typeface="Calibri"/>
              </a:rPr>
              <a:t>The scan measures its own geometry</a:t>
            </a:r>
          </a:p>
        </p:txBody>
      </p:sp>
      <p:pic>
        <p:nvPicPr>
          <p:cNvPr id="3" name="Picture 2" descr="tilt_angle.png"/>
          <p:cNvPicPr>
            <a:picLocks noChangeAspect="1"/>
          </p:cNvPicPr>
          <p:nvPr/>
        </p:nvPicPr>
        <p:blipFill>
          <a:blip r:embed="rId3"/>
          <a:stretch>
            <a:fillRect/>
          </a:stretch>
        </p:blipFill>
        <p:spPr>
          <a:xfrm>
            <a:off x="6812280" y="1417320"/>
            <a:ext cx="5074920" cy="5074920"/>
          </a:xfrm>
          <a:prstGeom prst="rect">
            <a:avLst/>
          </a:prstGeom>
        </p:spPr>
      </p:pic>
      <p:sp>
        <p:nvSpPr>
          <p:cNvPr id="4" name="TextBox 3"/>
          <p:cNvSpPr txBox="1"/>
          <p:nvPr/>
        </p:nvSpPr>
        <p:spPr>
          <a:xfrm>
            <a:off x="640080" y="1737360"/>
            <a:ext cx="5852160" cy="4389120"/>
          </a:xfrm>
          <a:prstGeom prst="rect">
            <a:avLst/>
          </a:prstGeom>
          <a:noFill/>
        </p:spPr>
        <p:txBody>
          <a:bodyPr wrap="square">
            <a:spAutoFit/>
          </a:bodyPr>
          <a:lstStyle/>
          <a:p>
            <a:pPr>
              <a:spcAft>
                <a:spcPts val="1200"/>
              </a:spcAft>
            </a:pPr>
            <a:r>
              <a:rPr sz="1700" b="0" i="0">
                <a:solidFill>
                  <a:srgbClr val="595959"/>
                </a:solidFill>
                <a:latin typeface="Calibri"/>
              </a:rPr>
              <a:t>•  </a:t>
            </a:r>
            <a:r>
              <a:rPr sz="1700" b="0" i="0">
                <a:solidFill>
                  <a:srgbClr val="262626"/>
                </a:solidFill>
                <a:latin typeface="Calibri"/>
              </a:rPr>
              <a:t>A forward tilt compresses the image vertically by cos θ</a:t>
            </a:r>
          </a:p>
          <a:p>
            <a:pPr>
              <a:spcAft>
                <a:spcPts val="1200"/>
              </a:spcAft>
            </a:pPr>
            <a:r>
              <a:rPr sz="1700" b="0" i="0">
                <a:solidFill>
                  <a:srgbClr val="595959"/>
                </a:solidFill>
                <a:latin typeface="Calibri"/>
              </a:rPr>
              <a:t>•  </a:t>
            </a:r>
            <a:r>
              <a:rPr sz="1700" b="0" i="0">
                <a:solidFill>
                  <a:srgbClr val="262626"/>
                </a:solidFill>
                <a:latin typeface="Calibri"/>
              </a:rPr>
              <a:t>Register tilted ↔ frontal with independent x/y scales: sy/sx = 1/cos θ - the unknown step sizes cancel</a:t>
            </a:r>
          </a:p>
          <a:p>
            <a:pPr>
              <a:spcAft>
                <a:spcPts val="1200"/>
              </a:spcAft>
            </a:pPr>
            <a:r>
              <a:rPr sz="1700" b="0" i="0">
                <a:solidFill>
                  <a:srgbClr val="595959"/>
                </a:solidFill>
                <a:latin typeface="Calibri"/>
              </a:rPr>
              <a:t>•  </a:t>
            </a:r>
            <a:r>
              <a:rPr sz="1800" b="1" i="0">
                <a:solidFill>
                  <a:srgbClr val="262626"/>
                </a:solidFill>
                <a:latin typeface="Calibri"/>
              </a:rPr>
              <a:t>θ = 7.7° ± 1.0° ± 1.8° - an upper bound (θ ≲ 8°)</a:t>
            </a:r>
          </a:p>
          <a:p>
            <a:pPr>
              <a:spcAft>
                <a:spcPts val="1200"/>
              </a:spcAft>
            </a:pPr>
            <a:r>
              <a:rPr sz="1700" b="0" i="0">
                <a:solidFill>
                  <a:srgbClr val="595959"/>
                </a:solidFill>
                <a:latin typeface="Calibri"/>
              </a:rPr>
              <a:t>•  </a:t>
            </a:r>
            <a:r>
              <a:rPr sz="1700" b="0" i="0">
                <a:solidFill>
                  <a:srgbClr val="262626"/>
                </a:solidFill>
                <a:latin typeface="Calibri"/>
              </a:rPr>
              <a:t>A no-tilt control pair returns “5.3°”: foreshortening at this angle sits near the resolution floor</a:t>
            </a:r>
          </a:p>
          <a:p>
            <a:pPr>
              <a:spcAft>
                <a:spcPts val="1200"/>
              </a:spcAft>
            </a:pPr>
            <a:r>
              <a:rPr sz="800"/>
              <a:t> </a:t>
            </a:r>
          </a:p>
          <a:p>
            <a:pPr>
              <a:spcAft>
                <a:spcPts val="1200"/>
              </a:spcAft>
            </a:pPr>
            <a:r>
              <a:rPr sz="1700" b="0" i="0">
                <a:solidFill>
                  <a:srgbClr val="595959"/>
                </a:solidFill>
                <a:latin typeface="Calibri"/>
              </a:rPr>
              <a:t>•  </a:t>
            </a:r>
            <a:r>
              <a:rPr sz="1700" b="1" i="0">
                <a:solidFill>
                  <a:srgbClr val="D95F02"/>
                </a:solidFill>
                <a:latin typeface="Calibri"/>
              </a:rPr>
              <a:t>Bonus: two “identical” frontal sessions differ by 0.43 % in scale - a measured positioning drift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85855" cy="914400"/>
          </a:xfrm>
          <a:prstGeom prst="rect">
            <a:avLst/>
          </a:prstGeom>
          <a:noFill/>
        </p:spPr>
        <p:txBody>
          <a:bodyPr wrap="square">
            <a:spAutoFit/>
          </a:bodyPr>
          <a:lstStyle/>
          <a:p>
            <a:pPr>
              <a:spcAft>
                <a:spcPts val="200"/>
              </a:spcAft>
            </a:pPr>
            <a:r>
              <a:rPr sz="3000" b="1" i="0">
                <a:solidFill>
                  <a:srgbClr val="1F3864"/>
                </a:solidFill>
                <a:latin typeface="Calibri"/>
              </a:rPr>
              <a:t>What the characterization buys</a:t>
            </a:r>
          </a:p>
          <a:p>
            <a:pPr>
              <a:spcAft>
                <a:spcPts val="200"/>
              </a:spcAft>
            </a:pPr>
            <a:r>
              <a:rPr sz="1600" b="0" i="1">
                <a:solidFill>
                  <a:srgbClr val="595959"/>
                </a:solidFill>
                <a:latin typeface="Calibri"/>
              </a:rPr>
              <a:t>fusion benchmark: cross-scan SNR on held-out pixels</a:t>
            </a:r>
          </a:p>
        </p:txBody>
      </p:sp>
      <p:sp>
        <p:nvSpPr>
          <p:cNvPr id="3" name="TextBox 2"/>
          <p:cNvSpPr txBox="1"/>
          <p:nvPr/>
        </p:nvSpPr>
        <p:spPr>
          <a:xfrm>
            <a:off x="640080" y="1325880"/>
            <a:ext cx="10911535" cy="1920240"/>
          </a:xfrm>
          <a:prstGeom prst="rect">
            <a:avLst/>
          </a:prstGeom>
          <a:noFill/>
        </p:spPr>
        <p:txBody>
          <a:bodyPr wrap="square">
            <a:spAutoFit/>
          </a:bodyPr>
          <a:lstStyle/>
          <a:p>
            <a:pPr>
              <a:spcAft>
                <a:spcPts val="800"/>
              </a:spcAft>
            </a:pPr>
            <a:r>
              <a:rPr sz="1700" b="0" i="0">
                <a:solidFill>
                  <a:srgbClr val="595959"/>
                </a:solidFill>
                <a:latin typeface="Calibri"/>
              </a:rPr>
              <a:t>•  </a:t>
            </a:r>
            <a:r>
              <a:rPr sz="1500" b="1" i="0">
                <a:solidFill>
                  <a:srgbClr val="262626"/>
                </a:solidFill>
                <a:latin typeface="Calibri"/>
              </a:rPr>
              <a:t>Flat-field map</a:t>
            </a:r>
            <a:r>
              <a:rPr sz="1500" b="0" i="0">
                <a:solidFill>
                  <a:srgbClr val="262626"/>
                </a:solidFill>
                <a:latin typeface="Calibri"/>
              </a:rPr>
              <a:t>: RMS ≈ 9 %, reproduced across scans (r = 0.70) - and it is the scatter-artifact geometry (r = 0.86)</a:t>
            </a:r>
          </a:p>
          <a:p>
            <a:pPr>
              <a:spcAft>
                <a:spcPts val="800"/>
              </a:spcAft>
            </a:pPr>
            <a:r>
              <a:rPr sz="1700" b="0" i="0">
                <a:solidFill>
                  <a:srgbClr val="595959"/>
                </a:solidFill>
                <a:latin typeface="Calibri"/>
              </a:rPr>
              <a:t>•  </a:t>
            </a:r>
            <a:r>
              <a:rPr sz="1500" b="1" i="0">
                <a:solidFill>
                  <a:srgbClr val="262626"/>
                </a:solidFill>
                <a:latin typeface="Calibri"/>
              </a:rPr>
              <a:t>Mounting-error price list</a:t>
            </a:r>
            <a:r>
              <a:rPr sz="1500" b="0" i="0">
                <a:solidFill>
                  <a:srgbClr val="262626"/>
                </a:solidFill>
                <a:latin typeface="Calibri"/>
              </a:rPr>
              <a:t>: 0.50 %/° (Ca), 0.45 %/° (Ti), ≤ 0.13 %/° (Pb) - lower bounds</a:t>
            </a:r>
          </a:p>
          <a:p>
            <a:pPr>
              <a:spcAft>
                <a:spcPts val="800"/>
              </a:spcAft>
            </a:pPr>
            <a:r>
              <a:rPr sz="1700" b="0" i="0">
                <a:solidFill>
                  <a:srgbClr val="595959"/>
                </a:solidFill>
                <a:latin typeface="Calibri"/>
              </a:rPr>
              <a:t>•  </a:t>
            </a:r>
            <a:r>
              <a:rPr sz="1500" b="1" i="0">
                <a:solidFill>
                  <a:srgbClr val="262626"/>
                </a:solidFill>
                <a:latin typeface="Calibri"/>
              </a:rPr>
              <a:t>Fusion</a:t>
            </a:r>
            <a:r>
              <a:rPr sz="1500" b="0" i="0">
                <a:solidFill>
                  <a:srgbClr val="262626"/>
                </a:solidFill>
                <a:latin typeface="Calibri"/>
              </a:rPr>
              <a:t>: inverse-variance +0.9 % - the null is a finding (Poisson-limited channels); </a:t>
            </a:r>
            <a:r>
              <a:rPr sz="1500" b="1" i="0">
                <a:solidFill>
                  <a:srgbClr val="D95F02"/>
                </a:solidFill>
                <a:latin typeface="Calibri"/>
              </a:rPr>
              <a:t>learned N2N +17.7 % mean SNR</a:t>
            </a:r>
            <a:r>
              <a:rPr sz="1500" b="0" i="0">
                <a:solidFill>
                  <a:srgbClr val="262626"/>
                </a:solidFill>
                <a:latin typeface="Calibri"/>
              </a:rPr>
              <a:t> (six lines from Fe up, Pb Ll +69 %; Ca/Ti kept on the sum)</a:t>
            </a:r>
          </a:p>
          <a:p>
            <a:pPr>
              <a:spcAft>
                <a:spcPts val="800"/>
              </a:spcAft>
            </a:pPr>
            <a:r>
              <a:rPr sz="1700" b="0" i="0">
                <a:solidFill>
                  <a:srgbClr val="595959"/>
                </a:solidFill>
                <a:latin typeface="Calibri"/>
              </a:rPr>
              <a:t>•  </a:t>
            </a:r>
            <a:r>
              <a:rPr sz="1500" b="1" i="0">
                <a:solidFill>
                  <a:srgbClr val="262626"/>
                </a:solidFill>
                <a:latin typeface="Calibri"/>
              </a:rPr>
              <a:t>Canvas relief from one scan</a:t>
            </a:r>
            <a:r>
              <a:rPr sz="1500" b="0" i="0">
                <a:solidFill>
                  <a:srgbClr val="262626"/>
                </a:solidFill>
                <a:latin typeface="Calibri"/>
              </a:rPr>
              <a:t>: local-slope map from the per-pixel ratio residuals, reproducible at r = 0.73 and tilt-law consistent (chi2/dof 0.85)</a:t>
            </a:r>
          </a:p>
        </p:txBody>
      </p:sp>
      <p:pic>
        <p:nvPicPr>
          <p:cNvPr id="4" name="Picture 3" descr="fusion_benchmark.png"/>
          <p:cNvPicPr>
            <a:picLocks noChangeAspect="1"/>
          </p:cNvPicPr>
          <p:nvPr/>
        </p:nvPicPr>
        <p:blipFill>
          <a:blip r:embed="rId3"/>
          <a:stretch>
            <a:fillRect/>
          </a:stretch>
        </p:blipFill>
        <p:spPr>
          <a:xfrm>
            <a:off x="1069848" y="3154680"/>
            <a:ext cx="10058400" cy="36576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85855" cy="914400"/>
          </a:xfrm>
          <a:prstGeom prst="rect">
            <a:avLst/>
          </a:prstGeom>
          <a:noFill/>
        </p:spPr>
        <p:txBody>
          <a:bodyPr wrap="square">
            <a:spAutoFit/>
          </a:bodyPr>
          <a:lstStyle/>
          <a:p>
            <a:pPr>
              <a:spcAft>
                <a:spcPts val="200"/>
              </a:spcAft>
            </a:pPr>
            <a:r>
              <a:rPr sz="3000" b="1" i="0">
                <a:solidFill>
                  <a:srgbClr val="1F3864"/>
                </a:solidFill>
                <a:latin typeface="Calibri"/>
              </a:rPr>
              <a:t>Conclusions</a:t>
            </a:r>
          </a:p>
        </p:txBody>
      </p:sp>
      <p:sp>
        <p:nvSpPr>
          <p:cNvPr id="3" name="TextBox 2"/>
          <p:cNvSpPr txBox="1"/>
          <p:nvPr/>
        </p:nvSpPr>
        <p:spPr>
          <a:xfrm>
            <a:off x="822960" y="1554480"/>
            <a:ext cx="10545775" cy="3840480"/>
          </a:xfrm>
          <a:prstGeom prst="rect">
            <a:avLst/>
          </a:prstGeom>
          <a:noFill/>
        </p:spPr>
        <p:txBody>
          <a:bodyPr wrap="square">
            <a:spAutoFit/>
          </a:bodyPr>
          <a:lstStyle/>
          <a:p>
            <a:pPr>
              <a:spcAft>
                <a:spcPts val="1400"/>
              </a:spcAft>
            </a:pPr>
            <a:r>
              <a:rPr sz="1700" b="0" i="0">
                <a:solidFill>
                  <a:srgbClr val="595959"/>
                </a:solidFill>
                <a:latin typeface="Calibri"/>
              </a:rPr>
              <a:t>•  </a:t>
            </a:r>
            <a:r>
              <a:rPr sz="1700" b="0" i="0">
                <a:solidFill>
                  <a:srgbClr val="262626"/>
                </a:solidFill>
                <a:latin typeface="Calibri"/>
              </a:rPr>
              <a:t>Detector difference + one tilted scan = geometry-resolved characterization, with no dedicated calibration measurements</a:t>
            </a:r>
          </a:p>
          <a:p>
            <a:pPr>
              <a:spcAft>
                <a:spcPts val="1400"/>
              </a:spcAft>
            </a:pPr>
            <a:r>
              <a:rPr sz="1700" b="0" i="0">
                <a:solidFill>
                  <a:srgbClr val="595959"/>
                </a:solidFill>
                <a:latin typeface="Calibri"/>
              </a:rPr>
              <a:t>•  </a:t>
            </a:r>
            <a:r>
              <a:rPr sz="1700" b="0" i="0">
                <a:solidFill>
                  <a:srgbClr val="262626"/>
                </a:solidFill>
                <a:latin typeface="Calibri"/>
              </a:rPr>
              <a:t>Per-element efficiency ratios (5.8 → 0.63); detector vs geometry separated: take-off response 0.5°/°, matrix scale Ec ≈ 3.6 keV</a:t>
            </a:r>
          </a:p>
          <a:p>
            <a:pPr>
              <a:spcAft>
                <a:spcPts val="1400"/>
              </a:spcAft>
            </a:pPr>
            <a:r>
              <a:rPr sz="1700" b="0" i="0">
                <a:solidFill>
                  <a:srgbClr val="595959"/>
                </a:solidFill>
                <a:latin typeface="Calibri"/>
              </a:rPr>
              <a:t>•  </a:t>
            </a:r>
            <a:r>
              <a:rPr sz="1700" b="1" i="0">
                <a:solidFill>
                  <a:srgbClr val="262626"/>
                </a:solidFill>
                <a:latin typeface="Calibri"/>
              </a:rPr>
              <a:t>Self-supervised fusion of the two channels: +17.7 % SNR over summing on held-out pixels</a:t>
            </a:r>
          </a:p>
          <a:p>
            <a:pPr>
              <a:spcAft>
                <a:spcPts val="1400"/>
              </a:spcAft>
            </a:pPr>
            <a:r>
              <a:rPr sz="1700" b="0" i="0">
                <a:solidFill>
                  <a:srgbClr val="595959"/>
                </a:solidFill>
                <a:latin typeface="Calibri"/>
              </a:rPr>
              <a:t>•  </a:t>
            </a:r>
            <a:r>
              <a:rPr sz="1700" b="1" i="0">
                <a:solidFill>
                  <a:srgbClr val="D95F02"/>
                </a:solidFill>
                <a:latin typeface="Calibri"/>
              </a:rPr>
              <a:t>The data self-report their geometry: tilt ≲ 8°, session drift 0.43 %, flat-field = the artifact geometry</a:t>
            </a:r>
          </a:p>
          <a:p>
            <a:pPr>
              <a:spcAft>
                <a:spcPts val="1400"/>
              </a:spcAft>
            </a:pPr>
            <a:r>
              <a:rPr sz="800"/>
              <a:t> </a:t>
            </a:r>
          </a:p>
          <a:p>
            <a:pPr>
              <a:spcAft>
                <a:spcPts val="1400"/>
              </a:spcAft>
            </a:pPr>
            <a:r>
              <a:rPr sz="1700" b="0" i="0">
                <a:solidFill>
                  <a:srgbClr val="595959"/>
                </a:solidFill>
                <a:latin typeface="Calibri"/>
              </a:rPr>
              <a:t>•  </a:t>
            </a:r>
            <a:r>
              <a:rPr sz="1500" b="0" i="0">
                <a:solidFill>
                  <a:srgbClr val="595959"/>
                </a:solidFill>
                <a:latin typeface="Calibri"/>
              </a:rPr>
              <a:t>Data and code: github.com/JankoVukobratovic/VincaInternship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85855" cy="914400"/>
          </a:xfrm>
          <a:prstGeom prst="rect">
            <a:avLst/>
          </a:prstGeom>
          <a:noFill/>
        </p:spPr>
        <p:txBody>
          <a:bodyPr wrap="square">
            <a:spAutoFit/>
          </a:bodyPr>
          <a:lstStyle/>
          <a:p>
            <a:pPr>
              <a:spcAft>
                <a:spcPts val="200"/>
              </a:spcAft>
            </a:pPr>
            <a:r>
              <a:rPr sz="3000" b="1" i="0">
                <a:solidFill>
                  <a:srgbClr val="1F3864"/>
                </a:solidFill>
                <a:latin typeface="Calibri"/>
              </a:rPr>
              <a:t>Backup - fusion seen on the maps</a:t>
            </a:r>
          </a:p>
          <a:p>
            <a:pPr>
              <a:spcAft>
                <a:spcPts val="200"/>
              </a:spcAft>
            </a:pPr>
            <a:r>
              <a:rPr sz="1600" b="0" i="1">
                <a:solidFill>
                  <a:srgbClr val="595959"/>
                </a:solidFill>
                <a:latin typeface="Calibri"/>
              </a:rPr>
              <a:t>cross-scan noise panels: summed vs learned, held-out SNR annotated</a:t>
            </a:r>
          </a:p>
        </p:txBody>
      </p:sp>
      <p:pic>
        <p:nvPicPr>
          <p:cNvPr id="3" name="Picture 2" descr="fusion_showcase.png"/>
          <p:cNvPicPr>
            <a:picLocks noChangeAspect="1"/>
          </p:cNvPicPr>
          <p:nvPr/>
        </p:nvPicPr>
        <p:blipFill>
          <a:blip r:embed="rId4"/>
          <a:stretch>
            <a:fillRect/>
          </a:stretch>
        </p:blipFill>
        <p:spPr>
          <a:xfrm>
            <a:off x="1892807" y="1325880"/>
            <a:ext cx="8301278" cy="5349240"/>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85855" cy="914400"/>
          </a:xfrm>
          <a:prstGeom prst="rect">
            <a:avLst/>
          </a:prstGeom>
          <a:noFill/>
        </p:spPr>
        <p:txBody>
          <a:bodyPr wrap="square">
            <a:spAutoFit/>
          </a:bodyPr>
          <a:lstStyle/>
          <a:p>
            <a:pPr>
              <a:spcAft>
                <a:spcPts val="200"/>
              </a:spcAft>
            </a:pPr>
            <a:r>
              <a:rPr sz="3000" b="1" i="0">
                <a:solidFill>
                  <a:srgbClr val="1F3864"/>
                </a:solidFill>
                <a:latin typeface="Calibri"/>
              </a:rPr>
              <a:t>Backup - why not the individual take-off angles?</a:t>
            </a:r>
          </a:p>
        </p:txBody>
      </p:sp>
      <p:sp>
        <p:nvSpPr>
          <p:cNvPr id="3" name="TextBox 2"/>
          <p:cNvSpPr txBox="1"/>
          <p:nvPr/>
        </p:nvSpPr>
        <p:spPr>
          <a:xfrm>
            <a:off x="822960" y="1645920"/>
            <a:ext cx="10545775" cy="4023360"/>
          </a:xfrm>
          <a:prstGeom prst="rect">
            <a:avLst/>
          </a:prstGeom>
          <a:noFill/>
        </p:spPr>
        <p:txBody>
          <a:bodyPr wrap="square">
            <a:spAutoFit/>
          </a:bodyPr>
          <a:lstStyle/>
          <a:p>
            <a:pPr>
              <a:spcAft>
                <a:spcPts val="1400"/>
              </a:spcAft>
            </a:pPr>
            <a:r>
              <a:rPr sz="1700" b="0" i="0">
                <a:solidFill>
                  <a:srgbClr val="595959"/>
                </a:solidFill>
                <a:latin typeface="Calibri"/>
              </a:rPr>
              <a:t>•  </a:t>
            </a:r>
            <a:r>
              <a:rPr sz="1700" b="0" i="0">
                <a:solidFill>
                  <a:srgbClr val="262626"/>
                </a:solidFill>
                <a:latin typeface="Calibri"/>
              </a:rPr>
              <a:t>Fitting both take-off angles directly returns ~1e5-degree uncertainties: with a single tilt the shift is first-order in the RESPONSE, second-order in the asymmetry</a:t>
            </a:r>
          </a:p>
          <a:p>
            <a:pPr>
              <a:spcAft>
                <a:spcPts val="1400"/>
              </a:spcAft>
            </a:pPr>
            <a:r>
              <a:rPr sz="1700" b="0" i="0">
                <a:solidFill>
                  <a:srgbClr val="595959"/>
                </a:solidFill>
                <a:latin typeface="Calibri"/>
              </a:rPr>
              <a:t>•  </a:t>
            </a:r>
            <a:r>
              <a:rPr sz="1700" b="1" i="0">
                <a:solidFill>
                  <a:srgbClr val="262626"/>
                </a:solidFill>
                <a:latin typeface="Calibri"/>
              </a:rPr>
              <a:t>Identifiable: the lever arm s = 0.53 ± 0.10 deg/deg - how fast the effective angles move per degree of tilt</a:t>
            </a:r>
          </a:p>
          <a:p>
            <a:pPr>
              <a:spcAft>
                <a:spcPts val="1400"/>
              </a:spcAft>
            </a:pPr>
            <a:r>
              <a:rPr sz="1700" b="0" i="0">
                <a:solidFill>
                  <a:srgbClr val="595959"/>
                </a:solidFill>
                <a:latin typeface="Calibri"/>
              </a:rPr>
              <a:t>•  </a:t>
            </a:r>
            <a:r>
              <a:rPr sz="1700" b="0" i="0">
                <a:solidFill>
                  <a:srgbClr val="262626"/>
                </a:solidFill>
                <a:latin typeface="Calibri"/>
              </a:rPr>
              <a:t>With the builder-confirmed mean take-off angle psi, the per-detector effective angles follow as psi ± s·theta (pending confirmation)</a:t>
            </a:r>
          </a:p>
          <a:p>
            <a:pPr>
              <a:spcAft>
                <a:spcPts val="1400"/>
              </a:spcAft>
            </a:pPr>
            <a:r>
              <a:rPr sz="1700" b="0" i="0">
                <a:solidFill>
                  <a:srgbClr val="595959"/>
                </a:solidFill>
                <a:latin typeface="Calibri"/>
              </a:rPr>
              <a:t>•  </a:t>
            </a:r>
            <a:r>
              <a:rPr sz="1700" b="0" i="0">
                <a:solidFill>
                  <a:srgbClr val="262626"/>
                </a:solidFill>
                <a:latin typeface="Calibri"/>
              </a:rPr>
              <a:t>Same story for the tilt angle itself: foreshortening at 7.7 deg sits near the registration floor (a no-tilt control pair returns “5.3 deg”) - hence the upper bound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182</TotalTime>
  <Words>1895</Words>
  <Application>Microsoft Office PowerPoint</Application>
  <PresentationFormat>Widescreen</PresentationFormat>
  <Paragraphs>136</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Dimitrije Pesic</cp:lastModifiedBy>
  <cp:revision>8</cp:revision>
  <dcterms:created xsi:type="dcterms:W3CDTF">2013-01-27T09:14:16Z</dcterms:created>
  <dcterms:modified xsi:type="dcterms:W3CDTF">2026-08-22T21:40:56Z</dcterms:modified>
  <cp:category/>
</cp:coreProperties>
</file>