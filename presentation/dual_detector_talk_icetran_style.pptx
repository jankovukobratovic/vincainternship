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65" r:id="rId2"/>
    <p:sldId id="266" r:id="rId3"/>
    <p:sldId id="267" r:id="rId4"/>
    <p:sldId id="268" r:id="rId5"/>
    <p:sldId id="269" r:id="rId6"/>
    <p:sldId id="270" r:id="rId7"/>
    <p:sldId id="271" r:id="rId8"/>
    <p:sldId id="272" r:id="rId9"/>
    <p:sldId id="273" r:id="rId10"/>
    <p:sldId id="274" r:id="rId11"/>
  </p:sldIdLst>
  <p:sldSz cx="18288000" cy="10287000"/>
  <p:notesSz cx="6858000" cy="9144000"/>
  <p:embeddedFontLst>
    <p:embeddedFont>
      <p:font typeface="Gothic A1" panose="020B0604020202020204" charset="-127"/>
      <p:regular r:id="rId13"/>
    </p:embeddedFont>
    <p:embeddedFont>
      <p:font typeface="Gothic A1 Bold" panose="020B0604020202020204" charset="-127"/>
      <p:regular r:id="rId14"/>
    </p:embeddedFont>
    <p:embeddedFont>
      <p:font typeface="Gothic A1 Medium" panose="020B0604020202020204" charset="-127"/>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6" d="100"/>
          <a:sy n="66" d="100"/>
        </p:scale>
        <p:origin x="29" y="-39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10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[0:00-0:30]  Good afternoon. Macro-XRF scanners that map paintings often carry two detectors. Standard practice is to sum their signals for better statistics — and throw the difference away. In the next eight minutes I will show you that this discarded difference, plus one extra scan with the canvas tilted, characterizes the entire instrument: detector response, acquisition geometry, even the shape of the canvas — with no calibration standards and no extra hardware.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[0:30-1:30]  Here is the idea. Our scanner has two detector heads, above and below the beam, so they see the same spot from opposite take-off angles. The ratio of their counts as a function of energy mixes two things we cannot separate from a single scan: the detectors' own response, and the geometry of the measurement. The trick is one extra scan with the canvas tilted forward by a few degrees. Tilting changes the paths the fluorescence photons travel through the paint to each detector — but the detectors themselves are untouched. So whatever changes between the two scans is geometry; whatever stays fixed is detector. Two routine scans of the same painting, and the ratio splits cleanly into a detector part and a geometric part.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[1:30-2:00]  The data: an Ars Mensurae scanner with two Amptek silicon-drift heads, scanning a mock-up canvas — the Creation of Adam hands — 60 by 120 pixels at three seconds per pixel, 7,200 spectra per scan. Three scans in total: two frontal scans a week apart, which give us the repeatability floor, and one tilted forward by up to eight degrees. Everything I show you is computed on the registered overlap of the scans, because full-frame ratios carry a field-of-view artifact.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[2:00-3:30]  Here is the central result, in two stages. Stage one, the frontal scan: the measured ratio between the heads falls from 5.8 at calcium down to 0.63 at the lead L-gamma line. The same pigment, the same spot, gives the two detectors signals that differ by a factor of six — these channels are nowhere near interchangeable. A three-parameter detector model, the orange curve, reproduces this over two orders of magnitude. The fitted absorber is 973 microns beryllium-equivalent, plus or minus two. That is eighty to a hundred and twenty times thicker than any entrance window — so it is not a window; it is extra air path and collimation in front of the lower head. Stage two, the tilted scan: the tilt shifts the ratio by 9.5 percent at calcium — a twenty-four sigma effect — and the shift decays monotonically to half a percent at lead L-gamma. A thick-sample fluorescence model with antisymmetric take-off angles reproduces exactly this shape, and a model-free Gaussian-process fit agrees within one sigma. Detector and geometry, cleanly separated.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[3:30-5:00]  Now — what is this separation good for? First: better fusion. The two channels are conditionally independent Poisson realizations of the same spot, which is precisely the setting for Noise2Noise training: each channel is the other's training target, no clean data needed. We train a small one-dimensional U-Net whose loss weights are prescribed by the measured ratio curve you just saw. The result: 17.7 percent mean SNR improvement over simple summing, on pixels the network never saw. For comparison, classical inverse-variance weighting gives less than one percent. On the right you see lead L-l maps: same signal, visibly calmer noise — plus 69 percent on that line. Six of eight lines gain. And here is the sentence I want you to remember: the identical network trained with an unweighted loss gains nothing — minus 0.1 percent. The gain is not the deep learning; it is the measured variance structure we feed it. In acquisition time this is worth 39 percent longer dwell — for free, from data you already have.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[5:00-6:15]  Second use — and this is my favourite slide. Once the detector part and the tilt response are measured, the per-pixel residuals of the ratio are no longer noise. Each of the eight emission lines becomes an independent measurement of the local surface slope at that pixel. Inverting them gives this: a relief map of the canvas, from a single scan — you can see the weave, the stretcher bar, the deformation of the fabric. It reproduces across scans with a correlation of 0.73, the fit quality is chi-squared per degree of freedom 0.85, and 88 percent of pixels are consistent with pure geometry. The difference everyone throws away is literally a picture of the canvas surface.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[6:15-6:45]  There is also a warning in this data. One degree of error in how the canvas is mounted moves the element maps by up to 0.63 percentage points — calcium and titanium the most, lead barely at all — exactly the energy ordering the model predicts. The grey band is our repeatability floor, and these numbers are lower bounds. So mounting geometry belongs in the error budget of any quantitative MA-XRF campaign.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[6:45-7:45]  To sum up in one sentence: the difference between a scanner's two detectors — normally summed away — plus one tilted scan characterizes the instrument for free: detector response, acquisition geometry, canvas topography, and a learned fusion that beats summing by ten to eighteen percent in SNR. No standards, no extra hardware, no beam time lost — field scanners can characterize themselves from their own routine scans. Everything — the code, the data, and the full analysis — is at our poster, and we would love to talk. Thank you.  [Aim to finish at 7:30-7:45.]</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for: 'Could the sixfold ratio or the tilt shift be an artifact?' Registered overlap, NCC 0.965; full-frame ratios can flip the sign; repeatability baseline from two frontal scans a week apart.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for: 'Why do only six of eight lines gain?' Ca and Ti have a low-energy level bias, so they stay on the plain sum; the fallback guarantees the fusion never does worse than summing.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AF995C79-9FAC-B8D5-1221-116832EE5ABF}"/>
              </a:ext>
            </a:extLst>
          </p:cNvPr>
          <p:cNvGrpSpPr/>
          <p:nvPr/>
        </p:nvGrpSpPr>
        <p:grpSpPr>
          <a:xfrm>
            <a:off x="1030841" y="6737832"/>
            <a:ext cx="15997235" cy="1910868"/>
            <a:chOff x="1030842" y="6737832"/>
            <a:chExt cx="14030946" cy="1675995"/>
          </a:xfrm>
        </p:grpSpPr>
        <p:sp>
          <p:nvSpPr>
            <p:cNvPr id="2" name="Freeform 2"/>
            <p:cNvSpPr/>
            <p:nvPr/>
          </p:nvSpPr>
          <p:spPr>
            <a:xfrm>
              <a:off x="1030842" y="6737832"/>
              <a:ext cx="4454471" cy="1675995"/>
            </a:xfrm>
            <a:custGeom>
              <a:avLst/>
              <a:gdLst/>
              <a:ahLst/>
              <a:cxnLst/>
              <a:rect l="l" t="t" r="r" b="b"/>
              <a:pathLst>
                <a:path w="4454471" h="1675995">
                  <a:moveTo>
                    <a:pt x="0" y="0"/>
                  </a:moveTo>
                  <a:lnTo>
                    <a:pt x="4454472" y="0"/>
                  </a:lnTo>
                  <a:lnTo>
                    <a:pt x="4454472" y="1675995"/>
                  </a:lnTo>
                  <a:lnTo>
                    <a:pt x="0" y="1675995"/>
                  </a:lnTo>
                  <a:lnTo>
                    <a:pt x="0" y="0"/>
                  </a:lnTo>
                  <a:close/>
                </a:path>
              </a:pathLst>
            </a:custGeom>
            <a:blipFill>
              <a:blip r:embed="rId3"/>
              <a:stretch>
                <a:fillRect/>
              </a:stretch>
            </a:blipFill>
          </p:spPr>
          <p:txBody>
            <a:bodyPr/>
            <a:lstStyle/>
            <a:p>
              <a:endParaRPr lang="en-GB"/>
            </a:p>
          </p:txBody>
        </p:sp>
        <p:sp>
          <p:nvSpPr>
            <p:cNvPr id="3" name="Freeform 3"/>
            <p:cNvSpPr/>
            <p:nvPr/>
          </p:nvSpPr>
          <p:spPr>
            <a:xfrm>
              <a:off x="10233727" y="6883242"/>
              <a:ext cx="4828061" cy="735875"/>
            </a:xfrm>
            <a:custGeom>
              <a:avLst/>
              <a:gdLst/>
              <a:ahLst/>
              <a:cxnLst/>
              <a:rect l="l" t="t" r="r" b="b"/>
              <a:pathLst>
                <a:path w="4828061" h="735875">
                  <a:moveTo>
                    <a:pt x="0" y="0"/>
                  </a:moveTo>
                  <a:lnTo>
                    <a:pt x="4828061" y="0"/>
                  </a:lnTo>
                  <a:lnTo>
                    <a:pt x="4828061" y="735875"/>
                  </a:lnTo>
                  <a:lnTo>
                    <a:pt x="0" y="735875"/>
                  </a:lnTo>
                  <a:lnTo>
                    <a:pt x="0" y="0"/>
                  </a:lnTo>
                  <a:close/>
                </a:path>
              </a:pathLst>
            </a:custGeom>
            <a:blipFill>
              <a:blip r:embed="rId4"/>
              <a:stretch>
                <a:fillRect/>
              </a:stretch>
            </a:blipFill>
          </p:spPr>
          <p:txBody>
            <a:bodyPr/>
            <a:lstStyle/>
            <a:p>
              <a:endParaRPr lang="en-GB"/>
            </a:p>
          </p:txBody>
        </p:sp>
        <p:sp>
          <p:nvSpPr>
            <p:cNvPr id="4" name="Freeform 4"/>
            <p:cNvSpPr/>
            <p:nvPr/>
          </p:nvSpPr>
          <p:spPr>
            <a:xfrm>
              <a:off x="5758925" y="6883242"/>
              <a:ext cx="4198577" cy="1530585"/>
            </a:xfrm>
            <a:custGeom>
              <a:avLst/>
              <a:gdLst/>
              <a:ahLst/>
              <a:cxnLst/>
              <a:rect l="l" t="t" r="r" b="b"/>
              <a:pathLst>
                <a:path w="4198577" h="1530585">
                  <a:moveTo>
                    <a:pt x="0" y="0"/>
                  </a:moveTo>
                  <a:lnTo>
                    <a:pt x="4198577" y="0"/>
                  </a:lnTo>
                  <a:lnTo>
                    <a:pt x="4198577" y="1530585"/>
                  </a:lnTo>
                  <a:lnTo>
                    <a:pt x="0" y="1530585"/>
                  </a:lnTo>
                  <a:lnTo>
                    <a:pt x="0" y="0"/>
                  </a:lnTo>
                  <a:close/>
                </a:path>
              </a:pathLst>
            </a:custGeom>
            <a:blipFill>
              <a:blip r:embed="rId5"/>
              <a:stretch>
                <a:fillRect l="-17500" t="-75657" r="-16496" b="-69235"/>
              </a:stretch>
            </a:blipFill>
          </p:spPr>
          <p:txBody>
            <a:bodyPr/>
            <a:lstStyle/>
            <a:p>
              <a:endParaRPr lang="en-GB"/>
            </a:p>
          </p:txBody>
        </p:sp>
      </p:grpSp>
      <p:sp>
        <p:nvSpPr>
          <p:cNvPr id="5" name="Freeform 5"/>
          <p:cNvSpPr/>
          <p:nvPr/>
        </p:nvSpPr>
        <p:spPr>
          <a:xfrm>
            <a:off x="15849600" y="732633"/>
            <a:ext cx="1702212" cy="1312917"/>
          </a:xfrm>
          <a:custGeom>
            <a:avLst/>
            <a:gdLst/>
            <a:ahLst/>
            <a:cxnLst/>
            <a:rect l="l" t="t" r="r" b="b"/>
            <a:pathLst>
              <a:path w="2448180" h="1888283">
                <a:moveTo>
                  <a:pt x="0" y="0"/>
                </a:moveTo>
                <a:lnTo>
                  <a:pt x="2448181" y="0"/>
                </a:lnTo>
                <a:lnTo>
                  <a:pt x="2448181" y="1888282"/>
                </a:lnTo>
                <a:lnTo>
                  <a:pt x="0" y="1888282"/>
                </a:lnTo>
                <a:lnTo>
                  <a:pt x="0" y="0"/>
                </a:lnTo>
                <a:close/>
              </a:path>
            </a:pathLst>
          </a:custGeom>
          <a:blipFill>
            <a:blip r:embed="rId6"/>
            <a:stretch>
              <a:fillRect/>
            </a:stretch>
          </a:blipFill>
        </p:spPr>
        <p:txBody>
          <a:bodyPr/>
          <a:lstStyle/>
          <a:p>
            <a:endParaRPr lang="en-GB"/>
          </a:p>
        </p:txBody>
      </p:sp>
      <p:sp>
        <p:nvSpPr>
          <p:cNvPr id="6" name="TextBox 6"/>
          <p:cNvSpPr txBox="1"/>
          <p:nvPr/>
        </p:nvSpPr>
        <p:spPr>
          <a:xfrm>
            <a:off x="1030842" y="1980000"/>
            <a:ext cx="16933260" cy="2520000"/>
          </a:xfrm>
          <a:prstGeom prst="rect">
            <a:avLst/>
          </a:prstGeom>
        </p:spPr>
        <p:txBody>
          <a:bodyPr lIns="0" tIns="0" rIns="0" bIns="0" rtlCol="0" anchor="t">
            <a:spAutoFit/>
          </a:bodyPr>
          <a:lstStyle/>
          <a:p>
            <a:pPr marL="0" indent="0" algn="ctr">
              <a:lnSpc>
                <a:spcPts val="6843"/>
              </a:lnSpc>
              <a:buNone/>
            </a:pPr>
            <a:r>
              <a:rPr lang="en-US" sz="5000" b="1" dirty="0">
                <a:solidFill>
                  <a:srgbClr val="9BBB9C"/>
                </a:solidFill>
                <a:latin typeface="Gothic A1 Medium"/>
                <a:ea typeface="Gothic A1 Medium"/>
                <a:cs typeface="Gothic A1 Medium"/>
                <a:sym typeface="Gothic A1 Medium"/>
              </a:rPr>
              <a:t>Geometry-resolved characterization</a:t>
            </a:r>
          </a:p>
          <a:p>
            <a:pPr marL="0" indent="0" algn="ctr">
              <a:lnSpc>
                <a:spcPts val="6843"/>
              </a:lnSpc>
              <a:buNone/>
            </a:pPr>
            <a:r>
              <a:rPr lang="en-US" sz="5000" b="1" dirty="0">
                <a:solidFill>
                  <a:srgbClr val="9BBB9C"/>
                </a:solidFill>
                <a:latin typeface="Gothic A1 Medium"/>
                <a:ea typeface="Gothic A1 Medium"/>
                <a:cs typeface="Gothic A1 Medium"/>
                <a:sym typeface="Gothic A1 Medium"/>
              </a:rPr>
              <a:t>of a dual-detector MA-XRF scanner</a:t>
            </a:r>
          </a:p>
        </p:txBody>
      </p:sp>
      <p:sp>
        <p:nvSpPr>
          <p:cNvPr id="7" name="TextBox 7"/>
          <p:cNvSpPr txBox="1"/>
          <p:nvPr/>
        </p:nvSpPr>
        <p:spPr>
          <a:xfrm>
            <a:off x="1030842" y="4572000"/>
            <a:ext cx="15585797" cy="936000"/>
          </a:xfrm>
          <a:prstGeom prst="rect">
            <a:avLst/>
          </a:prstGeom>
        </p:spPr>
        <p:txBody>
          <a:bodyPr lIns="0" tIns="0" rIns="0" bIns="0" rtlCol="0" anchor="t">
            <a:spAutoFit/>
          </a:bodyPr>
          <a:lstStyle/>
          <a:p>
            <a:pPr marL="0" indent="0" algn="ctr">
              <a:lnSpc>
                <a:spcPct val="105000"/>
              </a:lnSpc>
              <a:buNone/>
            </a:pPr>
            <a:r>
              <a:rPr lang="en-US" sz="1900" b="0" dirty="0">
                <a:solidFill>
                  <a:srgbClr val="456446"/>
                </a:solidFill>
                <a:latin typeface="Gothic A1"/>
                <a:ea typeface="Gothic A1"/>
                <a:cs typeface="Gothic A1"/>
                <a:sym typeface="Gothic A1"/>
              </a:rPr>
              <a:t>Dimitrije </a:t>
            </a:r>
            <a:r>
              <a:rPr lang="en-US" sz="1900" b="0" dirty="0" err="1">
                <a:solidFill>
                  <a:srgbClr val="456446"/>
                </a:solidFill>
                <a:latin typeface="Gothic A1"/>
                <a:ea typeface="Gothic A1"/>
                <a:cs typeface="Gothic A1"/>
                <a:sym typeface="Gothic A1"/>
              </a:rPr>
              <a:t>Pešić</a:t>
            </a:r>
            <a:r>
              <a:rPr lang="en-US" sz="1900" b="0" dirty="0">
                <a:solidFill>
                  <a:srgbClr val="456446"/>
                </a:solidFill>
                <a:latin typeface="Gothic A1"/>
                <a:ea typeface="Gothic A1"/>
                <a:cs typeface="Gothic A1"/>
                <a:sym typeface="Gothic A1"/>
              </a:rPr>
              <a:t>  ·  Janko </a:t>
            </a:r>
            <a:r>
              <a:rPr lang="en-US" sz="1900" b="0" dirty="0" err="1">
                <a:solidFill>
                  <a:srgbClr val="456446"/>
                </a:solidFill>
                <a:latin typeface="Gothic A1"/>
                <a:ea typeface="Gothic A1"/>
                <a:cs typeface="Gothic A1"/>
                <a:sym typeface="Gothic A1"/>
              </a:rPr>
              <a:t>Vukobratović</a:t>
            </a:r>
            <a:r>
              <a:rPr lang="en-US" sz="1900" b="0" dirty="0">
                <a:solidFill>
                  <a:srgbClr val="456446"/>
                </a:solidFill>
                <a:latin typeface="Gothic A1"/>
                <a:ea typeface="Gothic A1"/>
                <a:cs typeface="Gothic A1"/>
                <a:sym typeface="Gothic A1"/>
              </a:rPr>
              <a:t>  ·  Aleksandra Stojanović  ·  Giulia </a:t>
            </a:r>
            <a:r>
              <a:rPr lang="en-US" sz="1900" b="0" dirty="0" err="1">
                <a:solidFill>
                  <a:srgbClr val="456446"/>
                </a:solidFill>
                <a:latin typeface="Gothic A1"/>
                <a:ea typeface="Gothic A1"/>
                <a:cs typeface="Gothic A1"/>
                <a:sym typeface="Gothic A1"/>
              </a:rPr>
              <a:t>Ristori</a:t>
            </a:r>
            <a:endParaRPr lang="en-US" sz="1900" b="0" dirty="0">
              <a:solidFill>
                <a:srgbClr val="456446"/>
              </a:solidFill>
              <a:latin typeface="Gothic A1"/>
              <a:ea typeface="Gothic A1"/>
              <a:cs typeface="Gothic A1"/>
              <a:sym typeface="Gothic A1"/>
            </a:endParaRPr>
          </a:p>
          <a:p>
            <a:pPr marL="0" indent="0" algn="ctr">
              <a:lnSpc>
                <a:spcPct val="105000"/>
              </a:lnSpc>
              <a:buNone/>
            </a:pPr>
            <a:r>
              <a:rPr lang="en-US" sz="1900" b="0" dirty="0">
                <a:solidFill>
                  <a:srgbClr val="456446"/>
                </a:solidFill>
                <a:latin typeface="Gothic A1"/>
                <a:ea typeface="Gothic A1"/>
                <a:cs typeface="Gothic A1"/>
                <a:sym typeface="Gothic A1"/>
              </a:rPr>
              <a:t>Stefano Ridolfi  ·  Maja Gajić-</a:t>
            </a:r>
            <a:r>
              <a:rPr lang="en-US" sz="1900" b="0" dirty="0" err="1">
                <a:solidFill>
                  <a:srgbClr val="456446"/>
                </a:solidFill>
                <a:latin typeface="Gothic A1"/>
                <a:ea typeface="Gothic A1"/>
                <a:cs typeface="Gothic A1"/>
                <a:sym typeface="Gothic A1"/>
              </a:rPr>
              <a:t>Kvaščev</a:t>
            </a:r>
            <a:r>
              <a:rPr lang="en-US" sz="1900" b="0" dirty="0">
                <a:solidFill>
                  <a:srgbClr val="456446"/>
                </a:solidFill>
                <a:latin typeface="Gothic A1"/>
                <a:ea typeface="Gothic A1"/>
                <a:cs typeface="Gothic A1"/>
                <a:sym typeface="Gothic A1"/>
              </a:rPr>
              <a:t>  ·  Goran </a:t>
            </a:r>
            <a:r>
              <a:rPr lang="en-US" sz="1900" b="0" dirty="0" err="1">
                <a:solidFill>
                  <a:srgbClr val="456446"/>
                </a:solidFill>
                <a:latin typeface="Gothic A1"/>
                <a:ea typeface="Gothic A1"/>
                <a:cs typeface="Gothic A1"/>
                <a:sym typeface="Gothic A1"/>
              </a:rPr>
              <a:t>Kvaščev</a:t>
            </a:r>
            <a:endParaRPr lang="en-US" sz="1900" b="0" dirty="0">
              <a:solidFill>
                <a:srgbClr val="456446"/>
              </a:solidFill>
              <a:latin typeface="Gothic A1"/>
              <a:ea typeface="Gothic A1"/>
              <a:cs typeface="Gothic A1"/>
              <a:sym typeface="Gothic A1"/>
            </a:endParaRPr>
          </a:p>
        </p:txBody>
      </p:sp>
      <p:sp>
        <p:nvSpPr>
          <p:cNvPr id="9" name="TextBox 8"/>
          <p:cNvSpPr txBox="1"/>
          <p:nvPr/>
        </p:nvSpPr>
        <p:spPr>
          <a:xfrm>
            <a:off x="1044000" y="5544000"/>
            <a:ext cx="16200000" cy="720000"/>
          </a:xfrm>
          <a:prstGeom prst="rect">
            <a:avLst/>
          </a:prstGeom>
          <a:noFill/>
        </p:spPr>
        <p:txBody>
          <a:bodyPr wrap="square" lIns="0" tIns="0" rIns="0" bIns="0">
            <a:spAutoFit/>
          </a:bodyPr>
          <a:lstStyle/>
          <a:p>
            <a:pPr marL="0" lvl="1" indent="0" algn="ctr">
              <a:lnSpc>
                <a:spcPct val="105000"/>
              </a:lnSpc>
              <a:buNone/>
            </a:pPr>
            <a:r>
              <a:rPr lang="en-US" sz="1400" b="0" dirty="0">
                <a:solidFill>
                  <a:srgbClr val="456446"/>
                </a:solidFill>
                <a:latin typeface="Gothic A1"/>
                <a:ea typeface="Gothic A1"/>
                <a:cs typeface="Gothic A1"/>
                <a:sym typeface="Gothic A1"/>
              </a:rPr>
              <a:t>School of Electrical Engineering, University of Belgrade  ·  Ars </a:t>
            </a:r>
            <a:r>
              <a:rPr lang="en-US" sz="1400" b="0" dirty="0" err="1">
                <a:solidFill>
                  <a:srgbClr val="456446"/>
                </a:solidFill>
                <a:latin typeface="Gothic A1"/>
                <a:ea typeface="Gothic A1"/>
                <a:cs typeface="Gothic A1"/>
                <a:sym typeface="Gothic A1"/>
              </a:rPr>
              <a:t>Mensurae</a:t>
            </a:r>
            <a:r>
              <a:rPr lang="en-US" sz="1400" b="0" dirty="0">
                <a:solidFill>
                  <a:srgbClr val="456446"/>
                </a:solidFill>
                <a:latin typeface="Gothic A1"/>
                <a:ea typeface="Gothic A1"/>
                <a:cs typeface="Gothic A1"/>
                <a:sym typeface="Gothic A1"/>
              </a:rPr>
              <a:t>, Rome</a:t>
            </a:r>
          </a:p>
          <a:p>
            <a:pPr marL="0" lvl="1" indent="0" algn="ctr">
              <a:lnSpc>
                <a:spcPct val="105000"/>
              </a:lnSpc>
              <a:buNone/>
            </a:pPr>
            <a:r>
              <a:rPr lang="en-US" sz="1400" b="0" dirty="0" err="1">
                <a:solidFill>
                  <a:srgbClr val="456446"/>
                </a:solidFill>
                <a:latin typeface="Gothic A1"/>
                <a:ea typeface="Gothic A1"/>
                <a:cs typeface="Gothic A1"/>
                <a:sym typeface="Gothic A1"/>
              </a:rPr>
              <a:t>IDArtScience</a:t>
            </a:r>
            <a:r>
              <a:rPr lang="en-US" sz="1400" b="0" dirty="0">
                <a:solidFill>
                  <a:srgbClr val="456446"/>
                </a:solidFill>
                <a:latin typeface="Gothic A1"/>
                <a:ea typeface="Gothic A1"/>
                <a:cs typeface="Gothic A1"/>
                <a:sym typeface="Gothic A1"/>
              </a:rPr>
              <a:t> </a:t>
            </a:r>
            <a:r>
              <a:rPr lang="en-US" sz="1400" b="0" dirty="0" err="1">
                <a:solidFill>
                  <a:srgbClr val="456446"/>
                </a:solidFill>
                <a:latin typeface="Gothic A1"/>
                <a:ea typeface="Gothic A1"/>
                <a:cs typeface="Gothic A1"/>
                <a:sym typeface="Gothic A1"/>
              </a:rPr>
              <a:t>Srl</a:t>
            </a:r>
            <a:r>
              <a:rPr lang="en-US" sz="1400" b="0" dirty="0">
                <a:solidFill>
                  <a:srgbClr val="456446"/>
                </a:solidFill>
                <a:latin typeface="Gothic A1"/>
                <a:ea typeface="Gothic A1"/>
                <a:cs typeface="Gothic A1"/>
                <a:sym typeface="Gothic A1"/>
              </a:rPr>
              <a:t>, Rome  ·  </a:t>
            </a:r>
            <a:r>
              <a:rPr lang="en-US" sz="1400" b="0" dirty="0" err="1">
                <a:solidFill>
                  <a:srgbClr val="456446"/>
                </a:solidFill>
                <a:latin typeface="Gothic A1"/>
                <a:ea typeface="Gothic A1"/>
                <a:cs typeface="Gothic A1"/>
                <a:sym typeface="Gothic A1"/>
              </a:rPr>
              <a:t>VINARH</a:t>
            </a:r>
            <a:r>
              <a:rPr lang="en-US" sz="1400" b="0" dirty="0">
                <a:solidFill>
                  <a:srgbClr val="456446"/>
                </a:solidFill>
                <a:latin typeface="Gothic A1"/>
                <a:ea typeface="Gothic A1"/>
                <a:cs typeface="Gothic A1"/>
                <a:sym typeface="Gothic A1"/>
              </a:rPr>
              <a:t> Center, </a:t>
            </a:r>
            <a:r>
              <a:rPr lang="en-US" sz="1400" b="0" dirty="0" err="1">
                <a:solidFill>
                  <a:srgbClr val="456446"/>
                </a:solidFill>
                <a:latin typeface="Gothic A1"/>
                <a:ea typeface="Gothic A1"/>
                <a:cs typeface="Gothic A1"/>
                <a:sym typeface="Gothic A1"/>
              </a:rPr>
              <a:t>Vinča</a:t>
            </a:r>
            <a:r>
              <a:rPr lang="en-US" sz="1400" b="0" dirty="0">
                <a:solidFill>
                  <a:srgbClr val="456446"/>
                </a:solidFill>
                <a:latin typeface="Gothic A1"/>
                <a:ea typeface="Gothic A1"/>
                <a:cs typeface="Gothic A1"/>
                <a:sym typeface="Gothic A1"/>
              </a:rPr>
              <a:t> Institute of Nuclear Sciences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7082" y="2844000"/>
            <a:ext cx="6746917" cy="6263999"/>
          </a:xfrm>
          <a:custGeom>
            <a:avLst/>
            <a:gdLst/>
            <a:ahLst/>
            <a:cxnLst/>
            <a:rect l="l" t="t" r="r" b="b"/>
            <a:pathLst>
              <a:path w="7643480" h="6667551">
                <a:moveTo>
                  <a:pt x="0" y="0"/>
                </a:moveTo>
                <a:lnTo>
                  <a:pt x="7643480" y="0"/>
                </a:lnTo>
                <a:lnTo>
                  <a:pt x="7643480" y="6667551"/>
                </a:lnTo>
                <a:lnTo>
                  <a:pt x="0" y="6667551"/>
                </a:lnTo>
                <a:lnTo>
                  <a:pt x="0" y="0"/>
                </a:lnTo>
                <a:close/>
              </a:path>
            </a:pathLst>
          </a:custGeom>
          <a:blipFill>
            <a:blip r:embed="rId3"/>
            <a:stretch>
              <a:fillRect/>
            </a:stretch>
          </a:blipFill>
        </p:spPr>
        <p:txBody>
          <a:bodyPr/>
          <a:lstStyle/>
          <a:p>
            <a:endParaRPr lang="en-GB"/>
          </a:p>
        </p:txBody>
      </p:sp>
      <p:sp>
        <p:nvSpPr>
          <p:cNvPr id="3" name="AutoShape 3"/>
          <p:cNvSpPr/>
          <p:nvPr/>
        </p:nvSpPr>
        <p:spPr>
          <a:xfrm>
            <a:off x="1028700" y="986507"/>
            <a:ext cx="7066497" cy="0"/>
          </a:xfrm>
          <a:prstGeom prst="line">
            <a:avLst/>
          </a:prstGeom>
          <a:ln w="38100" cap="flat">
            <a:solidFill>
              <a:srgbClr val="456446"/>
            </a:solidFill>
            <a:prstDash val="solid"/>
            <a:headEnd type="none" w="sm" len="sm"/>
            <a:tailEnd type="none" w="sm" len="sm"/>
          </a:ln>
        </p:spPr>
        <p:txBody>
          <a:bodyPr/>
          <a:lstStyle/>
          <a:p>
            <a:endParaRPr lang="en-GB"/>
          </a:p>
        </p:txBody>
      </p:sp>
      <p:sp>
        <p:nvSpPr>
          <p:cNvPr id="6" name="TextBox 6"/>
          <p:cNvSpPr txBox="1"/>
          <p:nvPr/>
        </p:nvSpPr>
        <p:spPr>
          <a:xfrm>
            <a:off x="1028700" y="1034955"/>
            <a:ext cx="16200000" cy="2362200"/>
          </a:xfrm>
          <a:prstGeom prst="rect">
            <a:avLst/>
          </a:prstGeom>
        </p:spPr>
        <p:txBody>
          <a:bodyPr lIns="0" tIns="0" rIns="0" bIns="0" rtlCol="0" anchor="t">
            <a:spAutoFit/>
          </a:bodyPr>
          <a:lstStyle/>
          <a:p>
            <a:pPr marL="0" lvl="0" indent="0" algn="l">
              <a:lnSpc>
                <a:spcPts val="8640"/>
              </a:lnSpc>
              <a:spcBef>
                <a:spcPct val="0"/>
              </a:spcBef>
            </a:pPr>
            <a:r>
              <a:rPr lang="en-US" sz="4800">
                <a:solidFill>
                  <a:srgbClr val="456446"/>
                </a:solidFill>
                <a:latin typeface="Gothic A1"/>
                <a:ea typeface="Gothic A1"/>
                <a:cs typeface="Gothic A1"/>
                <a:sym typeface="Gothic A1"/>
              </a:rPr>
              <a:t>One tilted scan separates detector from geometry</a:t>
            </a:r>
          </a:p>
        </p:txBody>
      </p:sp>
      <p:sp>
        <p:nvSpPr>
          <p:cNvPr id="8" name="TextBox 7"/>
          <p:cNvSpPr txBox="1"/>
          <p:nvPr/>
        </p:nvSpPr>
        <p:spPr>
          <a:xfrm>
            <a:off x="1044000" y="2951999"/>
            <a:ext cx="8856000" cy="6480000"/>
          </a:xfrm>
          <a:prstGeom prst="rect">
            <a:avLst/>
          </a:prstGeom>
          <a:noFill/>
        </p:spPr>
        <p:txBody>
          <a:bodyPr wrap="square" lIns="0" tIns="0" rIns="0" bIns="0">
            <a:spAutoFit/>
          </a:bodyPr>
          <a:lstStyle/>
          <a:p>
            <a:pPr marL="0" lvl="1" indent="0" algn="l">
              <a:lnSpc>
                <a:spcPct val="105000"/>
              </a:lnSpc>
              <a:buNone/>
            </a:pPr>
            <a:r>
              <a:rPr lang="en-US" sz="2400" b="0" dirty="0">
                <a:solidFill>
                  <a:srgbClr val="456446"/>
                </a:solidFill>
                <a:latin typeface="Gothic A1"/>
                <a:ea typeface="Gothic A1"/>
                <a:cs typeface="Gothic A1"/>
                <a:sym typeface="Gothic A1"/>
              </a:rPr>
              <a:t>Two </a:t>
            </a:r>
            <a:r>
              <a:rPr lang="en-US" sz="2400" b="0" dirty="0" err="1">
                <a:solidFill>
                  <a:srgbClr val="456446"/>
                </a:solidFill>
                <a:latin typeface="Gothic A1"/>
                <a:ea typeface="Gothic A1"/>
                <a:cs typeface="Gothic A1"/>
                <a:sym typeface="Gothic A1"/>
              </a:rPr>
              <a:t>SDD</a:t>
            </a:r>
            <a:r>
              <a:rPr lang="en-US" sz="2400" b="0" dirty="0">
                <a:solidFill>
                  <a:srgbClr val="456446"/>
                </a:solidFill>
                <a:latin typeface="Gothic A1"/>
                <a:ea typeface="Gothic A1"/>
                <a:cs typeface="Gothic A1"/>
                <a:sym typeface="Gothic A1"/>
              </a:rPr>
              <a:t> heads see the same spot from opposite take-off angles - their count ratio R(E) mixes a detector term with a geometric term.</a:t>
            </a:r>
          </a:p>
          <a:p>
            <a:pPr marL="0" lvl="1" indent="0" algn="l">
              <a:lnSpc>
                <a:spcPct val="105000"/>
              </a:lnSpc>
              <a:buNone/>
            </a:pPr>
            <a:r>
              <a:rPr lang="en-US" sz="2400" b="0" dirty="0">
                <a:solidFill>
                  <a:srgbClr val="456446"/>
                </a:solidFill>
                <a:latin typeface="Gothic A1"/>
                <a:ea typeface="Gothic A1"/>
                <a:cs typeface="Gothic A1"/>
                <a:sym typeface="Gothic A1"/>
              </a:rPr>
              <a:t>Tilting the canvas moves only the geometric term: the photon exit paths through the paint change, the detectors do not.</a:t>
            </a:r>
          </a:p>
          <a:p>
            <a:pPr marL="0" lvl="1" indent="0" algn="l">
              <a:lnSpc>
                <a:spcPct val="105000"/>
              </a:lnSpc>
              <a:buNone/>
            </a:pPr>
            <a:r>
              <a:rPr lang="en-US" sz="2400" b="0" dirty="0">
                <a:solidFill>
                  <a:srgbClr val="456446"/>
                </a:solidFill>
                <a:latin typeface="Gothic A1"/>
                <a:ea typeface="Gothic A1"/>
                <a:cs typeface="Gothic A1"/>
                <a:sym typeface="Gothic A1"/>
              </a:rPr>
              <a:t>A second, tilted scan therefore splits R(E): the detector part is tilt-invariant, the geometry part is tilt-dependent and energy-structured.</a:t>
            </a:r>
          </a:p>
          <a:p>
            <a:pPr marL="0" lvl="1" indent="0" algn="l">
              <a:lnSpc>
                <a:spcPct val="105000"/>
              </a:lnSpc>
              <a:buNone/>
            </a:pPr>
            <a:r>
              <a:rPr lang="en-US" sz="2400" b="0" dirty="0">
                <a:solidFill>
                  <a:srgbClr val="456446"/>
                </a:solidFill>
                <a:latin typeface="Gothic A1"/>
                <a:ea typeface="Gothic A1"/>
                <a:cs typeface="Gothic A1"/>
                <a:sym typeface="Gothic A1"/>
              </a:rPr>
              <a:t>No calibration standards, no extra hardware - two routine scans of one painting.</a:t>
            </a:r>
          </a:p>
        </p:txBody>
      </p:sp>
      <p:sp>
        <p:nvSpPr>
          <p:cNvPr id="9" name="TextBox 8"/>
          <p:cNvSpPr txBox="1"/>
          <p:nvPr/>
        </p:nvSpPr>
        <p:spPr>
          <a:xfrm>
            <a:off x="10440000" y="9216000"/>
            <a:ext cx="6803999" cy="503999"/>
          </a:xfrm>
          <a:prstGeom prst="rect">
            <a:avLst/>
          </a:prstGeom>
          <a:noFill/>
        </p:spPr>
        <p:txBody>
          <a:bodyPr wrap="square" lIns="0" tIns="0" rIns="0" bIns="0">
            <a:spAutoFit/>
          </a:bodyPr>
          <a:lstStyle/>
          <a:p>
            <a:pPr marL="0" lvl="1" indent="0" algn="ctr">
              <a:lnSpc>
                <a:spcPct val="105000"/>
              </a:lnSpc>
              <a:buNone/>
            </a:pPr>
            <a:r>
              <a:rPr lang="en-US" sz="1500" b="0">
                <a:solidFill>
                  <a:srgbClr val="456446"/>
                </a:solidFill>
                <a:latin typeface="Gothic A1"/>
                <a:ea typeface="Gothic A1"/>
                <a:cs typeface="Gothic A1"/>
                <a:sym typeface="Gothic A1"/>
              </a:rPr>
              <a:t>Tilting moves the geometric term only.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4000" y="2844000"/>
            <a:ext cx="9180000" cy="4973014"/>
          </a:xfrm>
          <a:custGeom>
            <a:avLst/>
            <a:gdLst/>
            <a:ahLst/>
            <a:cxnLst/>
            <a:rect l="l" t="t" r="r" b="b"/>
            <a:pathLst>
              <a:path w="7643480" h="6667551">
                <a:moveTo>
                  <a:pt x="0" y="0"/>
                </a:moveTo>
                <a:lnTo>
                  <a:pt x="7643480" y="0"/>
                </a:lnTo>
                <a:lnTo>
                  <a:pt x="7643480" y="6667551"/>
                </a:lnTo>
                <a:lnTo>
                  <a:pt x="0" y="6667551"/>
                </a:lnTo>
                <a:lnTo>
                  <a:pt x="0" y="0"/>
                </a:lnTo>
                <a:close/>
              </a:path>
            </a:pathLst>
          </a:custGeom>
          <a:blipFill>
            <a:blip r:embed="rId3"/>
            <a:stretch>
              <a:fillRect/>
            </a:stretch>
          </a:blipFill>
        </p:spPr>
        <p:txBody>
          <a:bodyPr/>
          <a:lstStyle/>
          <a:p>
            <a:endParaRPr lang="en-GB"/>
          </a:p>
        </p:txBody>
      </p:sp>
      <p:sp>
        <p:nvSpPr>
          <p:cNvPr id="3" name="AutoShape 3"/>
          <p:cNvSpPr/>
          <p:nvPr/>
        </p:nvSpPr>
        <p:spPr>
          <a:xfrm>
            <a:off x="1028700" y="986507"/>
            <a:ext cx="7066497" cy="0"/>
          </a:xfrm>
          <a:prstGeom prst="line">
            <a:avLst/>
          </a:prstGeom>
          <a:ln w="38100" cap="flat">
            <a:solidFill>
              <a:srgbClr val="456446"/>
            </a:solidFill>
            <a:prstDash val="solid"/>
            <a:headEnd type="none" w="sm" len="sm"/>
            <a:tailEnd type="none" w="sm" len="sm"/>
          </a:ln>
        </p:spPr>
        <p:txBody>
          <a:bodyPr/>
          <a:lstStyle/>
          <a:p>
            <a:endParaRPr lang="en-GB"/>
          </a:p>
        </p:txBody>
      </p:sp>
      <p:sp>
        <p:nvSpPr>
          <p:cNvPr id="6" name="TextBox 6"/>
          <p:cNvSpPr txBox="1"/>
          <p:nvPr/>
        </p:nvSpPr>
        <p:spPr>
          <a:xfrm>
            <a:off x="1028700" y="1034955"/>
            <a:ext cx="16200000" cy="2362200"/>
          </a:xfrm>
          <a:prstGeom prst="rect">
            <a:avLst/>
          </a:prstGeom>
        </p:spPr>
        <p:txBody>
          <a:bodyPr lIns="0" tIns="0" rIns="0" bIns="0" rtlCol="0" anchor="t">
            <a:spAutoFit/>
          </a:bodyPr>
          <a:lstStyle/>
          <a:p>
            <a:pPr marL="0" lvl="0" indent="0" algn="l">
              <a:lnSpc>
                <a:spcPts val="8640"/>
              </a:lnSpc>
              <a:spcBef>
                <a:spcPct val="0"/>
              </a:spcBef>
            </a:pPr>
            <a:r>
              <a:rPr lang="en-US" sz="4800">
                <a:solidFill>
                  <a:srgbClr val="456446"/>
                </a:solidFill>
                <a:latin typeface="Gothic A1"/>
                <a:ea typeface="Gothic A1"/>
                <a:cs typeface="Gothic A1"/>
                <a:sym typeface="Gothic A1"/>
              </a:rPr>
              <a:t>Two detectors, three scans, 7 200 pixels</a:t>
            </a:r>
          </a:p>
        </p:txBody>
      </p:sp>
      <p:sp>
        <p:nvSpPr>
          <p:cNvPr id="8" name="TextBox 7"/>
          <p:cNvSpPr txBox="1"/>
          <p:nvPr/>
        </p:nvSpPr>
        <p:spPr>
          <a:xfrm>
            <a:off x="1044000" y="7920000"/>
            <a:ext cx="9180000" cy="503999"/>
          </a:xfrm>
          <a:prstGeom prst="rect">
            <a:avLst/>
          </a:prstGeom>
          <a:noFill/>
        </p:spPr>
        <p:txBody>
          <a:bodyPr wrap="square" lIns="0" tIns="0" rIns="0" bIns="0">
            <a:spAutoFit/>
          </a:bodyPr>
          <a:lstStyle/>
          <a:p>
            <a:pPr marL="0" lvl="1" indent="0" algn="ctr">
              <a:lnSpc>
                <a:spcPct val="105000"/>
              </a:lnSpc>
              <a:buNone/>
            </a:pPr>
            <a:r>
              <a:rPr lang="en-US" sz="1500" b="0">
                <a:solidFill>
                  <a:srgbClr val="456446"/>
                </a:solidFill>
                <a:latin typeface="Gothic A1"/>
                <a:ea typeface="Gothic A1"/>
                <a:cs typeface="Gothic A1"/>
                <a:sym typeface="Gothic A1"/>
              </a:rPr>
              <a:t>Mock-up canvas, Ars Mensurae MA-XRF scanner (40 kV / 50 µA).</a:t>
            </a:r>
          </a:p>
        </p:txBody>
      </p:sp>
      <p:sp>
        <p:nvSpPr>
          <p:cNvPr id="9" name="TextBox 8"/>
          <p:cNvSpPr txBox="1"/>
          <p:nvPr/>
        </p:nvSpPr>
        <p:spPr>
          <a:xfrm>
            <a:off x="10980000" y="2844000"/>
            <a:ext cx="6263999" cy="1800000"/>
          </a:xfrm>
          <a:prstGeom prst="rect">
            <a:avLst/>
          </a:prstGeom>
          <a:noFill/>
        </p:spPr>
        <p:txBody>
          <a:bodyPr wrap="square" lIns="0" tIns="0" rIns="0" bIns="0">
            <a:spAutoFit/>
          </a:bodyPr>
          <a:lstStyle/>
          <a:p>
            <a:pPr marL="0" lvl="1" indent="0" algn="l">
              <a:lnSpc>
                <a:spcPct val="105000"/>
              </a:lnSpc>
              <a:buNone/>
            </a:pPr>
            <a:r>
              <a:rPr lang="en-US" sz="2800" b="1">
                <a:solidFill>
                  <a:srgbClr val="456446"/>
                </a:solidFill>
                <a:latin typeface="Gothic A1"/>
                <a:ea typeface="Gothic A1"/>
                <a:cs typeface="Gothic A1"/>
                <a:sym typeface="Gothic A1"/>
              </a:rPr>
              <a:t>2 detectors</a:t>
            </a:r>
          </a:p>
          <a:p>
            <a:pPr marL="0" lvl="1" indent="0" algn="l">
              <a:lnSpc>
                <a:spcPct val="105000"/>
              </a:lnSpc>
              <a:buNone/>
            </a:pPr>
            <a:r>
              <a:rPr lang="en-US" sz="1600" b="0">
                <a:solidFill>
                  <a:srgbClr val="456446"/>
                </a:solidFill>
                <a:latin typeface="Gothic A1"/>
                <a:ea typeface="Gothic A1"/>
                <a:cs typeface="Gothic A1"/>
                <a:sym typeface="Gothic A1"/>
              </a:rPr>
              <a:t>Amptek X-123SDD heads - one above and one below the beam</a:t>
            </a:r>
          </a:p>
        </p:txBody>
      </p:sp>
      <p:sp>
        <p:nvSpPr>
          <p:cNvPr id="10" name="TextBox 9"/>
          <p:cNvSpPr txBox="1"/>
          <p:nvPr/>
        </p:nvSpPr>
        <p:spPr>
          <a:xfrm>
            <a:off x="10980000" y="4644000"/>
            <a:ext cx="6263999" cy="1800000"/>
          </a:xfrm>
          <a:prstGeom prst="rect">
            <a:avLst/>
          </a:prstGeom>
          <a:noFill/>
        </p:spPr>
        <p:txBody>
          <a:bodyPr wrap="square" lIns="0" tIns="0" rIns="0" bIns="0">
            <a:spAutoFit/>
          </a:bodyPr>
          <a:lstStyle/>
          <a:p>
            <a:pPr marL="0" lvl="1" indent="0" algn="l">
              <a:lnSpc>
                <a:spcPct val="105000"/>
              </a:lnSpc>
              <a:buNone/>
            </a:pPr>
            <a:r>
              <a:rPr lang="en-US" sz="2800" b="1">
                <a:solidFill>
                  <a:srgbClr val="456446"/>
                </a:solidFill>
                <a:latin typeface="Gothic A1"/>
                <a:ea typeface="Gothic A1"/>
                <a:cs typeface="Gothic A1"/>
                <a:sym typeface="Gothic A1"/>
              </a:rPr>
              <a:t>3 scans</a:t>
            </a:r>
          </a:p>
          <a:p>
            <a:pPr marL="0" lvl="1" indent="0" algn="l">
              <a:lnSpc>
                <a:spcPct val="105000"/>
              </a:lnSpc>
              <a:buNone/>
            </a:pPr>
            <a:r>
              <a:rPr lang="en-US" sz="1600" b="0">
                <a:solidFill>
                  <a:srgbClr val="456446"/>
                </a:solidFill>
                <a:latin typeface="Gothic A1"/>
                <a:ea typeface="Gothic A1"/>
                <a:cs typeface="Gothic A1"/>
                <a:sym typeface="Gothic A1"/>
              </a:rPr>
              <a:t>two frontal scans a week apart (repeatability) + one tilted scan (≤ 8°)</a:t>
            </a:r>
          </a:p>
        </p:txBody>
      </p:sp>
      <p:sp>
        <p:nvSpPr>
          <p:cNvPr id="11" name="TextBox 10"/>
          <p:cNvSpPr txBox="1"/>
          <p:nvPr/>
        </p:nvSpPr>
        <p:spPr>
          <a:xfrm>
            <a:off x="10980000" y="6443999"/>
            <a:ext cx="6263999" cy="1800000"/>
          </a:xfrm>
          <a:prstGeom prst="rect">
            <a:avLst/>
          </a:prstGeom>
          <a:noFill/>
        </p:spPr>
        <p:txBody>
          <a:bodyPr wrap="square" lIns="0" tIns="0" rIns="0" bIns="0">
            <a:spAutoFit/>
          </a:bodyPr>
          <a:lstStyle/>
          <a:p>
            <a:pPr marL="0" lvl="1" indent="0" algn="l">
              <a:lnSpc>
                <a:spcPct val="105000"/>
              </a:lnSpc>
              <a:buNone/>
            </a:pPr>
            <a:r>
              <a:rPr lang="en-US" sz="2800" b="1">
                <a:solidFill>
                  <a:srgbClr val="456446"/>
                </a:solidFill>
                <a:latin typeface="Gothic A1"/>
                <a:ea typeface="Gothic A1"/>
                <a:cs typeface="Gothic A1"/>
                <a:sym typeface="Gothic A1"/>
              </a:rPr>
              <a:t>7 200 pixels</a:t>
            </a:r>
          </a:p>
          <a:p>
            <a:pPr marL="0" lvl="1" indent="0" algn="l">
              <a:lnSpc>
                <a:spcPct val="105000"/>
              </a:lnSpc>
              <a:buNone/>
            </a:pPr>
            <a:r>
              <a:rPr lang="en-US" sz="1600" b="0">
                <a:solidFill>
                  <a:srgbClr val="456446"/>
                </a:solidFill>
                <a:latin typeface="Gothic A1"/>
                <a:ea typeface="Gothic A1"/>
                <a:cs typeface="Gothic A1"/>
                <a:sym typeface="Gothic A1"/>
              </a:rPr>
              <a:t>60 × 120 grid, 3.0 s dwell - 7 200 spectra per scan, per head</a:t>
            </a:r>
          </a:p>
        </p:txBody>
      </p:sp>
      <p:sp>
        <p:nvSpPr>
          <p:cNvPr id="12" name="TextBox 11"/>
          <p:cNvSpPr txBox="1"/>
          <p:nvPr/>
        </p:nvSpPr>
        <p:spPr>
          <a:xfrm>
            <a:off x="1044000" y="8640000"/>
            <a:ext cx="16200000" cy="1224000"/>
          </a:xfrm>
          <a:prstGeom prst="rect">
            <a:avLst/>
          </a:prstGeom>
          <a:noFill/>
        </p:spPr>
        <p:txBody>
          <a:bodyPr wrap="square" lIns="0" tIns="0" rIns="0" bIns="0">
            <a:spAutoFit/>
          </a:bodyPr>
          <a:lstStyle/>
          <a:p>
            <a:pPr marL="0" lvl="1" indent="0" algn="l">
              <a:lnSpc>
                <a:spcPts val="4200"/>
              </a:lnSpc>
              <a:buNone/>
            </a:pPr>
            <a:r>
              <a:rPr lang="en-US" sz="1700" b="0">
                <a:solidFill>
                  <a:srgbClr val="456446"/>
                </a:solidFill>
                <a:latin typeface="Gothic A1"/>
                <a:ea typeface="Gothic A1"/>
                <a:cs typeface="Gothic A1"/>
                <a:sym typeface="Gothic A1"/>
              </a:rPr>
              <a:t>All ratios are computed on the registered overlap of the scans (affine, NCC 0.965) - full-frame ratios carry a field-of-view artifact that can flip the tilt shift's sign.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64000" y="2700000"/>
            <a:ext cx="12960000" cy="5184000"/>
          </a:xfrm>
          <a:custGeom>
            <a:avLst/>
            <a:gdLst/>
            <a:ahLst/>
            <a:cxnLst/>
            <a:rect l="l" t="t" r="r" b="b"/>
            <a:pathLst>
              <a:path w="7643480" h="6667551">
                <a:moveTo>
                  <a:pt x="0" y="0"/>
                </a:moveTo>
                <a:lnTo>
                  <a:pt x="7643480" y="0"/>
                </a:lnTo>
                <a:lnTo>
                  <a:pt x="7643480" y="6667551"/>
                </a:lnTo>
                <a:lnTo>
                  <a:pt x="0" y="6667551"/>
                </a:lnTo>
                <a:lnTo>
                  <a:pt x="0" y="0"/>
                </a:lnTo>
                <a:close/>
              </a:path>
            </a:pathLst>
          </a:custGeom>
          <a:blipFill>
            <a:blip r:embed="rId3"/>
            <a:stretch>
              <a:fillRect/>
            </a:stretch>
          </a:blipFill>
        </p:spPr>
        <p:txBody>
          <a:bodyPr/>
          <a:lstStyle/>
          <a:p>
            <a:endParaRPr lang="en-GB"/>
          </a:p>
        </p:txBody>
      </p:sp>
      <p:sp>
        <p:nvSpPr>
          <p:cNvPr id="3" name="AutoShape 3"/>
          <p:cNvSpPr/>
          <p:nvPr/>
        </p:nvSpPr>
        <p:spPr>
          <a:xfrm>
            <a:off x="1028700" y="986507"/>
            <a:ext cx="7066497" cy="0"/>
          </a:xfrm>
          <a:prstGeom prst="line">
            <a:avLst/>
          </a:prstGeom>
          <a:ln w="38100" cap="flat">
            <a:solidFill>
              <a:srgbClr val="456446"/>
            </a:solidFill>
            <a:prstDash val="solid"/>
            <a:headEnd type="none" w="sm" len="sm"/>
            <a:tailEnd type="none" w="sm" len="sm"/>
          </a:ln>
        </p:spPr>
        <p:txBody>
          <a:bodyPr/>
          <a:lstStyle/>
          <a:p>
            <a:endParaRPr lang="en-GB"/>
          </a:p>
        </p:txBody>
      </p:sp>
      <p:sp>
        <p:nvSpPr>
          <p:cNvPr id="6" name="TextBox 6"/>
          <p:cNvSpPr txBox="1"/>
          <p:nvPr/>
        </p:nvSpPr>
        <p:spPr>
          <a:xfrm>
            <a:off x="1028700" y="1034955"/>
            <a:ext cx="16200000" cy="2362200"/>
          </a:xfrm>
          <a:prstGeom prst="rect">
            <a:avLst/>
          </a:prstGeom>
        </p:spPr>
        <p:txBody>
          <a:bodyPr lIns="0" tIns="0" rIns="0" bIns="0" rtlCol="0" anchor="t">
            <a:spAutoFit/>
          </a:bodyPr>
          <a:lstStyle/>
          <a:p>
            <a:pPr marL="0" lvl="0" indent="0" algn="l">
              <a:lnSpc>
                <a:spcPts val="8640"/>
              </a:lnSpc>
              <a:spcBef>
                <a:spcPct val="0"/>
              </a:spcBef>
            </a:pPr>
            <a:r>
              <a:rPr lang="en-US" sz="4400">
                <a:solidFill>
                  <a:srgbClr val="456446"/>
                </a:solidFill>
                <a:latin typeface="Gothic A1"/>
                <a:ea typeface="Gothic A1"/>
                <a:cs typeface="Gothic A1"/>
                <a:sym typeface="Gothic A1"/>
              </a:rPr>
              <a:t>The two heads differ sixfold - and a physical model explains it</a:t>
            </a:r>
          </a:p>
        </p:txBody>
      </p:sp>
      <p:sp>
        <p:nvSpPr>
          <p:cNvPr id="8" name="TextBox 7"/>
          <p:cNvSpPr txBox="1"/>
          <p:nvPr/>
        </p:nvSpPr>
        <p:spPr>
          <a:xfrm>
            <a:off x="1044000" y="7920000"/>
            <a:ext cx="16200000" cy="503999"/>
          </a:xfrm>
          <a:prstGeom prst="rect">
            <a:avLst/>
          </a:prstGeom>
          <a:noFill/>
        </p:spPr>
        <p:txBody>
          <a:bodyPr wrap="square" lIns="0" tIns="0" rIns="0" bIns="0">
            <a:spAutoFit/>
          </a:bodyPr>
          <a:lstStyle/>
          <a:p>
            <a:pPr marL="0" lvl="1" indent="0" algn="ctr">
              <a:lnSpc>
                <a:spcPct val="105000"/>
              </a:lnSpc>
              <a:buNone/>
            </a:pPr>
            <a:r>
              <a:rPr lang="en-US" sz="1500" b="0">
                <a:solidFill>
                  <a:srgbClr val="456446"/>
                </a:solidFill>
                <a:latin typeface="Gothic A1"/>
                <a:ea typeface="Gothic A1"/>
                <a:cs typeface="Gothic A1"/>
                <a:sym typeface="Gothic A1"/>
              </a:rPr>
              <a:t>Points: measured on the registered overlap.  Line: the physical model of each stage.  Band: model-free GP fit, 2σ.</a:t>
            </a:r>
          </a:p>
        </p:txBody>
      </p:sp>
      <p:sp>
        <p:nvSpPr>
          <p:cNvPr id="9" name="TextBox 8"/>
          <p:cNvSpPr txBox="1"/>
          <p:nvPr/>
        </p:nvSpPr>
        <p:spPr>
          <a:xfrm>
            <a:off x="1044000" y="8532000"/>
            <a:ext cx="5220000" cy="1800000"/>
          </a:xfrm>
          <a:prstGeom prst="rect">
            <a:avLst/>
          </a:prstGeom>
          <a:noFill/>
        </p:spPr>
        <p:txBody>
          <a:bodyPr wrap="square" lIns="0" tIns="0" rIns="0" bIns="0">
            <a:spAutoFit/>
          </a:bodyPr>
          <a:lstStyle/>
          <a:p>
            <a:pPr marL="0" lvl="1" indent="0" algn="l">
              <a:lnSpc>
                <a:spcPct val="105000"/>
              </a:lnSpc>
              <a:buNone/>
            </a:pPr>
            <a:r>
              <a:rPr lang="en-US" sz="2800" b="1">
                <a:solidFill>
                  <a:srgbClr val="456446"/>
                </a:solidFill>
                <a:latin typeface="Gothic A1"/>
                <a:ea typeface="Gothic A1"/>
                <a:cs typeface="Gothic A1"/>
                <a:sym typeface="Gothic A1"/>
              </a:rPr>
              <a:t>5.8 → 0.63</a:t>
            </a:r>
          </a:p>
          <a:p>
            <a:pPr marL="0" lvl="1" indent="0" algn="l">
              <a:lnSpc>
                <a:spcPct val="105000"/>
              </a:lnSpc>
              <a:buNone/>
            </a:pPr>
            <a:r>
              <a:rPr lang="en-US" sz="1600" b="0">
                <a:solidFill>
                  <a:srgbClr val="456446"/>
                </a:solidFill>
                <a:latin typeface="Gothic A1"/>
                <a:ea typeface="Gothic A1"/>
                <a:cs typeface="Gothic A1"/>
                <a:sym typeface="Gothic A1"/>
              </a:rPr>
              <a:t>R from Ca Kα to Pb Lγ - a sixfold different signal from the same pigment</a:t>
            </a:r>
          </a:p>
        </p:txBody>
      </p:sp>
      <p:sp>
        <p:nvSpPr>
          <p:cNvPr id="10" name="TextBox 9"/>
          <p:cNvSpPr txBox="1"/>
          <p:nvPr/>
        </p:nvSpPr>
        <p:spPr>
          <a:xfrm>
            <a:off x="6552000" y="8532000"/>
            <a:ext cx="5220000" cy="1800000"/>
          </a:xfrm>
          <a:prstGeom prst="rect">
            <a:avLst/>
          </a:prstGeom>
          <a:noFill/>
        </p:spPr>
        <p:txBody>
          <a:bodyPr wrap="square" lIns="0" tIns="0" rIns="0" bIns="0">
            <a:spAutoFit/>
          </a:bodyPr>
          <a:lstStyle/>
          <a:p>
            <a:pPr marL="0" lvl="1" indent="0" algn="l">
              <a:lnSpc>
                <a:spcPct val="105000"/>
              </a:lnSpc>
              <a:buNone/>
            </a:pPr>
            <a:r>
              <a:rPr lang="en-US" sz="2800" b="1">
                <a:solidFill>
                  <a:srgbClr val="456446"/>
                </a:solidFill>
                <a:latin typeface="Gothic A1"/>
                <a:ea typeface="Gothic A1"/>
                <a:cs typeface="Gothic A1"/>
                <a:sym typeface="Gothic A1"/>
              </a:rPr>
              <a:t>973 ± 2 µm</a:t>
            </a:r>
          </a:p>
          <a:p>
            <a:pPr marL="0" lvl="1" indent="0" algn="l">
              <a:lnSpc>
                <a:spcPct val="105000"/>
              </a:lnSpc>
              <a:buNone/>
            </a:pPr>
            <a:r>
              <a:rPr lang="en-US" sz="1600" b="0">
                <a:solidFill>
                  <a:srgbClr val="456446"/>
                </a:solidFill>
                <a:latin typeface="Gothic A1"/>
                <a:ea typeface="Gothic A1"/>
                <a:cs typeface="Gothic A1"/>
                <a:sym typeface="Gothic A1"/>
              </a:rPr>
              <a:t>Be-equivalent absorber: 80–120× any entrance window - extra air path, not a window</a:t>
            </a:r>
          </a:p>
        </p:txBody>
      </p:sp>
      <p:sp>
        <p:nvSpPr>
          <p:cNvPr id="11" name="TextBox 10"/>
          <p:cNvSpPr txBox="1"/>
          <p:nvPr/>
        </p:nvSpPr>
        <p:spPr>
          <a:xfrm>
            <a:off x="12060000" y="8532000"/>
            <a:ext cx="5220000" cy="1800000"/>
          </a:xfrm>
          <a:prstGeom prst="rect">
            <a:avLst/>
          </a:prstGeom>
          <a:noFill/>
        </p:spPr>
        <p:txBody>
          <a:bodyPr wrap="square" lIns="0" tIns="0" rIns="0" bIns="0">
            <a:spAutoFit/>
          </a:bodyPr>
          <a:lstStyle/>
          <a:p>
            <a:pPr marL="0" lvl="1" indent="0" algn="l">
              <a:lnSpc>
                <a:spcPct val="105000"/>
              </a:lnSpc>
              <a:buNone/>
            </a:pPr>
            <a:r>
              <a:rPr lang="en-US" sz="2800" b="1">
                <a:solidFill>
                  <a:srgbClr val="456446"/>
                </a:solidFill>
                <a:latin typeface="Gothic A1"/>
                <a:ea typeface="Gothic A1"/>
                <a:cs typeface="Gothic A1"/>
                <a:sym typeface="Gothic A1"/>
              </a:rPr>
              <a:t>+9.5 % → +0.6 %</a:t>
            </a:r>
          </a:p>
          <a:p>
            <a:pPr marL="0" lvl="1" indent="0" algn="l">
              <a:lnSpc>
                <a:spcPct val="105000"/>
              </a:lnSpc>
              <a:buNone/>
            </a:pPr>
            <a:r>
              <a:rPr lang="en-US" sz="1600" b="0">
                <a:solidFill>
                  <a:srgbClr val="456446"/>
                </a:solidFill>
                <a:latin typeface="Gothic A1"/>
                <a:ea typeface="Gothic A1"/>
                <a:cs typeface="Gothic A1"/>
                <a:sym typeface="Gothic A1"/>
              </a:rPr>
              <a:t>tilt shift, Ca → Pb Lγ (24σ at Ca), monotonic - lever arm s = 0.53 ± 0.10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80000" y="2844000"/>
            <a:ext cx="8063999" cy="5196341"/>
          </a:xfrm>
          <a:custGeom>
            <a:avLst/>
            <a:gdLst/>
            <a:ahLst/>
            <a:cxnLst/>
            <a:rect l="l" t="t" r="r" b="b"/>
            <a:pathLst>
              <a:path w="7643480" h="6667551">
                <a:moveTo>
                  <a:pt x="0" y="0"/>
                </a:moveTo>
                <a:lnTo>
                  <a:pt x="7643480" y="0"/>
                </a:lnTo>
                <a:lnTo>
                  <a:pt x="7643480" y="6667551"/>
                </a:lnTo>
                <a:lnTo>
                  <a:pt x="0" y="6667551"/>
                </a:lnTo>
                <a:lnTo>
                  <a:pt x="0" y="0"/>
                </a:lnTo>
                <a:close/>
              </a:path>
            </a:pathLst>
          </a:custGeom>
          <a:blipFill>
            <a:blip r:embed="rId3"/>
            <a:stretch>
              <a:fillRect/>
            </a:stretch>
          </a:blipFill>
        </p:spPr>
        <p:txBody>
          <a:bodyPr/>
          <a:lstStyle/>
          <a:p>
            <a:endParaRPr lang="en-GB"/>
          </a:p>
        </p:txBody>
      </p:sp>
      <p:sp>
        <p:nvSpPr>
          <p:cNvPr id="3" name="AutoShape 3"/>
          <p:cNvSpPr/>
          <p:nvPr/>
        </p:nvSpPr>
        <p:spPr>
          <a:xfrm>
            <a:off x="1028700" y="986507"/>
            <a:ext cx="7066497" cy="0"/>
          </a:xfrm>
          <a:prstGeom prst="line">
            <a:avLst/>
          </a:prstGeom>
          <a:ln w="38100" cap="flat">
            <a:solidFill>
              <a:srgbClr val="456446"/>
            </a:solidFill>
            <a:prstDash val="solid"/>
            <a:headEnd type="none" w="sm" len="sm"/>
            <a:tailEnd type="none" w="sm" len="sm"/>
          </a:ln>
        </p:spPr>
        <p:txBody>
          <a:bodyPr/>
          <a:lstStyle/>
          <a:p>
            <a:endParaRPr lang="en-GB"/>
          </a:p>
        </p:txBody>
      </p:sp>
      <p:sp>
        <p:nvSpPr>
          <p:cNvPr id="6" name="TextBox 6"/>
          <p:cNvSpPr txBox="1"/>
          <p:nvPr/>
        </p:nvSpPr>
        <p:spPr>
          <a:xfrm>
            <a:off x="1028700" y="1034955"/>
            <a:ext cx="16200000" cy="2362200"/>
          </a:xfrm>
          <a:prstGeom prst="rect">
            <a:avLst/>
          </a:prstGeom>
        </p:spPr>
        <p:txBody>
          <a:bodyPr lIns="0" tIns="0" rIns="0" bIns="0" rtlCol="0" anchor="t">
            <a:spAutoFit/>
          </a:bodyPr>
          <a:lstStyle/>
          <a:p>
            <a:pPr marL="0" lvl="0" indent="0" algn="l">
              <a:lnSpc>
                <a:spcPts val="8640"/>
              </a:lnSpc>
              <a:spcBef>
                <a:spcPct val="0"/>
              </a:spcBef>
            </a:pPr>
            <a:r>
              <a:rPr lang="en-US" sz="4800">
                <a:solidFill>
                  <a:srgbClr val="456446"/>
                </a:solidFill>
                <a:latin typeface="Gothic A1"/>
                <a:ea typeface="Gothic A1"/>
                <a:cs typeface="Gothic A1"/>
                <a:sym typeface="Gothic A1"/>
              </a:rPr>
              <a:t>Learned fusion beats summing by 10–18 % SNR</a:t>
            </a:r>
          </a:p>
        </p:txBody>
      </p:sp>
      <p:sp>
        <p:nvSpPr>
          <p:cNvPr id="8" name="TextBox 7"/>
          <p:cNvSpPr txBox="1"/>
          <p:nvPr/>
        </p:nvSpPr>
        <p:spPr>
          <a:xfrm>
            <a:off x="1044000" y="2880000"/>
            <a:ext cx="7776000" cy="5616000"/>
          </a:xfrm>
          <a:prstGeom prst="rect">
            <a:avLst/>
          </a:prstGeom>
          <a:noFill/>
        </p:spPr>
        <p:txBody>
          <a:bodyPr wrap="square" lIns="0" tIns="0" rIns="0" bIns="0">
            <a:spAutoFit/>
          </a:bodyPr>
          <a:lstStyle/>
          <a:p>
            <a:pPr marL="0" lvl="1" indent="0" algn="l">
              <a:lnSpc>
                <a:spcPct val="105000"/>
              </a:lnSpc>
              <a:buNone/>
            </a:pPr>
            <a:r>
              <a:rPr lang="en-US" sz="2000" b="0">
                <a:solidFill>
                  <a:srgbClr val="456446"/>
                </a:solidFill>
                <a:latin typeface="Gothic A1"/>
                <a:ea typeface="Gothic A1"/>
                <a:cs typeface="Gothic A1"/>
                <a:sym typeface="Gothic A1"/>
              </a:rPr>
              <a:t>The two channels are conditionally independent Poisson views of the same spot - Noise2Noise training needs no clean target.</a:t>
            </a:r>
          </a:p>
          <a:p>
            <a:pPr marL="0" lvl="1" indent="0" algn="l">
              <a:lnSpc>
                <a:spcPct val="105000"/>
              </a:lnSpc>
              <a:buNone/>
            </a:pPr>
            <a:r>
              <a:rPr lang="en-US" sz="2000" b="0">
                <a:solidFill>
                  <a:srgbClr val="456446"/>
                </a:solidFill>
                <a:latin typeface="Gothic A1"/>
                <a:ea typeface="Gothic A1"/>
                <a:cs typeface="Gothic A1"/>
                <a:sym typeface="Gothic A1"/>
              </a:rPr>
              <a:t>1D U-Net with loss weights prescribed by the measured R(E): +17.7 % mean SNR on held-out pixels. Classical inverse-variance weighting: +0.9 %.</a:t>
            </a:r>
          </a:p>
          <a:p>
            <a:pPr marL="0" lvl="1" indent="0" algn="l">
              <a:lnSpc>
                <a:spcPct val="105000"/>
              </a:lnSpc>
              <a:buNone/>
            </a:pPr>
            <a:r>
              <a:rPr lang="en-US" sz="2000" b="0">
                <a:solidFill>
                  <a:srgbClr val="456446"/>
                </a:solidFill>
                <a:latin typeface="Gothic A1"/>
                <a:ea typeface="Gothic A1"/>
                <a:cs typeface="Gothic A1"/>
                <a:sym typeface="Gothic A1"/>
              </a:rPr>
              <a:t>Six of eight lines gain: Pb Lℓ +69 %, Pb Lγ +33 %, Fe +28 %, Cu +17 %.</a:t>
            </a:r>
          </a:p>
          <a:p>
            <a:pPr marL="0" lvl="1" indent="0" algn="l">
              <a:lnSpc>
                <a:spcPct val="105000"/>
              </a:lnSpc>
              <a:buNone/>
            </a:pPr>
            <a:r>
              <a:rPr lang="en-US" sz="2000" b="0">
                <a:solidFill>
                  <a:srgbClr val="456446"/>
                </a:solidFill>
                <a:latin typeface="Gothic A1"/>
                <a:ea typeface="Gothic A1"/>
                <a:cs typeface="Gothic A1"/>
                <a:sym typeface="Gothic A1"/>
              </a:rPr>
              <a:t>Ablation - the same network with an unweighted loss: −0.1 %. The gain is the measured variance structure, not the architecture.</a:t>
            </a:r>
          </a:p>
        </p:txBody>
      </p:sp>
      <p:sp>
        <p:nvSpPr>
          <p:cNvPr id="9" name="TextBox 8"/>
          <p:cNvSpPr txBox="1"/>
          <p:nvPr/>
        </p:nvSpPr>
        <p:spPr>
          <a:xfrm>
            <a:off x="1044000" y="8712000"/>
            <a:ext cx="7776000" cy="936000"/>
          </a:xfrm>
          <a:prstGeom prst="rect">
            <a:avLst/>
          </a:prstGeom>
          <a:noFill/>
        </p:spPr>
        <p:txBody>
          <a:bodyPr wrap="square" lIns="0" tIns="0" rIns="0" bIns="0">
            <a:spAutoFit/>
          </a:bodyPr>
          <a:lstStyle/>
          <a:p>
            <a:pPr marL="0" lvl="0" indent="0" algn="l">
              <a:lnSpc>
                <a:spcPts val="4015"/>
              </a:lnSpc>
              <a:spcBef>
                <a:spcPct val="0"/>
              </a:spcBef>
              <a:buNone/>
            </a:pPr>
            <a:r>
              <a:rPr lang="en-US" sz="2200" b="1">
                <a:solidFill>
                  <a:srgbClr val="FFA51F"/>
                </a:solidFill>
                <a:latin typeface="Gothic A1 Bold"/>
                <a:ea typeface="Gothic A1 Bold"/>
                <a:cs typeface="Gothic A1 Bold"/>
                <a:sym typeface="Gothic A1 Bold"/>
              </a:rPr>
              <a:t>Worth 39 % longer dwell time - for free.</a:t>
            </a:r>
          </a:p>
        </p:txBody>
      </p:sp>
      <p:sp>
        <p:nvSpPr>
          <p:cNvPr id="10" name="TextBox 9"/>
          <p:cNvSpPr txBox="1"/>
          <p:nvPr/>
        </p:nvSpPr>
        <p:spPr>
          <a:xfrm>
            <a:off x="9180000" y="8136000"/>
            <a:ext cx="8063999" cy="864000"/>
          </a:xfrm>
          <a:prstGeom prst="rect">
            <a:avLst/>
          </a:prstGeom>
          <a:noFill/>
        </p:spPr>
        <p:txBody>
          <a:bodyPr wrap="square" lIns="0" tIns="0" rIns="0" bIns="0">
            <a:spAutoFit/>
          </a:bodyPr>
          <a:lstStyle/>
          <a:p>
            <a:pPr marL="0" lvl="1" indent="0" algn="ctr">
              <a:lnSpc>
                <a:spcPct val="105000"/>
              </a:lnSpc>
              <a:buNone/>
            </a:pPr>
            <a:r>
              <a:rPr lang="en-US" sz="1400" b="0">
                <a:solidFill>
                  <a:srgbClr val="456446"/>
                </a:solidFill>
                <a:latin typeface="Gothic A1"/>
                <a:ea typeface="Gothic A1"/>
                <a:cs typeface="Gothic A1"/>
                <a:sym typeface="Gothic A1"/>
              </a:rPr>
              <a:t>Pb Lℓ and Fe Kα on pixels the network never saw: same signal, calmer noise. Right: the cross-scan difference.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4000" y="3851999"/>
            <a:ext cx="16200000" cy="3671999"/>
          </a:xfrm>
          <a:custGeom>
            <a:avLst/>
            <a:gdLst/>
            <a:ahLst/>
            <a:cxnLst/>
            <a:rect l="l" t="t" r="r" b="b"/>
            <a:pathLst>
              <a:path w="7643480" h="6667551">
                <a:moveTo>
                  <a:pt x="0" y="0"/>
                </a:moveTo>
                <a:lnTo>
                  <a:pt x="7643480" y="0"/>
                </a:lnTo>
                <a:lnTo>
                  <a:pt x="7643480" y="6667551"/>
                </a:lnTo>
                <a:lnTo>
                  <a:pt x="0" y="6667551"/>
                </a:lnTo>
                <a:lnTo>
                  <a:pt x="0" y="0"/>
                </a:lnTo>
                <a:close/>
              </a:path>
            </a:pathLst>
          </a:custGeom>
          <a:blipFill>
            <a:blip r:embed="rId3"/>
            <a:stretch>
              <a:fillRect/>
            </a:stretch>
          </a:blipFill>
        </p:spPr>
        <p:txBody>
          <a:bodyPr/>
          <a:lstStyle/>
          <a:p>
            <a:endParaRPr lang="en-GB"/>
          </a:p>
        </p:txBody>
      </p:sp>
      <p:sp>
        <p:nvSpPr>
          <p:cNvPr id="3" name="AutoShape 3"/>
          <p:cNvSpPr/>
          <p:nvPr/>
        </p:nvSpPr>
        <p:spPr>
          <a:xfrm>
            <a:off x="1028700" y="986507"/>
            <a:ext cx="7066497" cy="0"/>
          </a:xfrm>
          <a:prstGeom prst="line">
            <a:avLst/>
          </a:prstGeom>
          <a:ln w="38100" cap="flat">
            <a:solidFill>
              <a:srgbClr val="456446"/>
            </a:solidFill>
            <a:prstDash val="solid"/>
            <a:headEnd type="none" w="sm" len="sm"/>
            <a:tailEnd type="none" w="sm" len="sm"/>
          </a:ln>
        </p:spPr>
        <p:txBody>
          <a:bodyPr/>
          <a:lstStyle/>
          <a:p>
            <a:endParaRPr lang="en-GB"/>
          </a:p>
        </p:txBody>
      </p:sp>
      <p:sp>
        <p:nvSpPr>
          <p:cNvPr id="6" name="TextBox 6"/>
          <p:cNvSpPr txBox="1"/>
          <p:nvPr/>
        </p:nvSpPr>
        <p:spPr>
          <a:xfrm>
            <a:off x="1028700" y="1034955"/>
            <a:ext cx="16200000" cy="2362200"/>
          </a:xfrm>
          <a:prstGeom prst="rect">
            <a:avLst/>
          </a:prstGeom>
        </p:spPr>
        <p:txBody>
          <a:bodyPr lIns="0" tIns="0" rIns="0" bIns="0" rtlCol="0" anchor="t">
            <a:spAutoFit/>
          </a:bodyPr>
          <a:lstStyle/>
          <a:p>
            <a:pPr marL="0" lvl="0" indent="0" algn="l">
              <a:lnSpc>
                <a:spcPts val="8640"/>
              </a:lnSpc>
              <a:spcBef>
                <a:spcPct val="0"/>
              </a:spcBef>
            </a:pPr>
            <a:r>
              <a:rPr lang="en-US" sz="4800">
                <a:solidFill>
                  <a:srgbClr val="456446"/>
                </a:solidFill>
                <a:latin typeface="Gothic A1"/>
                <a:ea typeface="Gothic A1"/>
                <a:cs typeface="Gothic A1"/>
                <a:sym typeface="Gothic A1"/>
              </a:rPr>
              <a:t>The discarded difference is also a relief map</a:t>
            </a:r>
          </a:p>
        </p:txBody>
      </p:sp>
      <p:sp>
        <p:nvSpPr>
          <p:cNvPr id="8" name="TextBox 7"/>
          <p:cNvSpPr txBox="1"/>
          <p:nvPr/>
        </p:nvSpPr>
        <p:spPr>
          <a:xfrm>
            <a:off x="1044000" y="2808000"/>
            <a:ext cx="16200000" cy="1007999"/>
          </a:xfrm>
          <a:prstGeom prst="rect">
            <a:avLst/>
          </a:prstGeom>
          <a:noFill/>
        </p:spPr>
        <p:txBody>
          <a:bodyPr wrap="square" lIns="0" tIns="0" rIns="0" bIns="0">
            <a:spAutoFit/>
          </a:bodyPr>
          <a:lstStyle/>
          <a:p>
            <a:pPr marL="0" lvl="1" indent="0" algn="l">
              <a:lnSpc>
                <a:spcPct val="105000"/>
              </a:lnSpc>
              <a:buNone/>
            </a:pPr>
            <a:r>
              <a:rPr lang="en-US" sz="2100" b="0">
                <a:solidFill>
                  <a:srgbClr val="456446"/>
                </a:solidFill>
                <a:latin typeface="Gothic A1"/>
                <a:ea typeface="Gothic A1"/>
                <a:cs typeface="Gothic A1"/>
                <a:sym typeface="Gothic A1"/>
              </a:rPr>
              <a:t>Inverted through the measured tilt response, the per-pixel ratio residuals become repeated measurements of local surface slope - a relief map of the canvas from a single scan.</a:t>
            </a:r>
          </a:p>
        </p:txBody>
      </p:sp>
      <p:sp>
        <p:nvSpPr>
          <p:cNvPr id="9" name="TextBox 8"/>
          <p:cNvSpPr txBox="1"/>
          <p:nvPr/>
        </p:nvSpPr>
        <p:spPr>
          <a:xfrm>
            <a:off x="1044000" y="7596000"/>
            <a:ext cx="16200000" cy="503999"/>
          </a:xfrm>
          <a:prstGeom prst="rect">
            <a:avLst/>
          </a:prstGeom>
          <a:noFill/>
        </p:spPr>
        <p:txBody>
          <a:bodyPr wrap="square" lIns="0" tIns="0" rIns="0" bIns="0">
            <a:spAutoFit/>
          </a:bodyPr>
          <a:lstStyle/>
          <a:p>
            <a:pPr marL="0" lvl="1" indent="0" algn="ctr">
              <a:lnSpc>
                <a:spcPct val="105000"/>
              </a:lnSpc>
              <a:buNone/>
            </a:pPr>
            <a:r>
              <a:rPr lang="en-US" sz="1500" b="0">
                <a:solidFill>
                  <a:srgbClr val="456446"/>
                </a:solidFill>
                <a:latin typeface="Gothic A1"/>
                <a:ea typeface="Gothic A1"/>
                <a:cs typeface="Gothic A1"/>
                <a:sym typeface="Gothic A1"/>
              </a:rPr>
              <a:t>Local surface slope along the tilt axis, from one scan - the weave, the stretcher bar, the fabric deformation.</a:t>
            </a:r>
          </a:p>
        </p:txBody>
      </p:sp>
      <p:sp>
        <p:nvSpPr>
          <p:cNvPr id="10" name="TextBox 9"/>
          <p:cNvSpPr txBox="1"/>
          <p:nvPr/>
        </p:nvSpPr>
        <p:spPr>
          <a:xfrm>
            <a:off x="1044000" y="8243999"/>
            <a:ext cx="5220000" cy="1800000"/>
          </a:xfrm>
          <a:prstGeom prst="rect">
            <a:avLst/>
          </a:prstGeom>
          <a:noFill/>
        </p:spPr>
        <p:txBody>
          <a:bodyPr wrap="square" lIns="0" tIns="0" rIns="0" bIns="0">
            <a:spAutoFit/>
          </a:bodyPr>
          <a:lstStyle/>
          <a:p>
            <a:pPr marL="0" lvl="1" indent="0" algn="l">
              <a:lnSpc>
                <a:spcPct val="105000"/>
              </a:lnSpc>
              <a:buNone/>
            </a:pPr>
            <a:r>
              <a:rPr lang="en-US" sz="2800" b="1">
                <a:solidFill>
                  <a:srgbClr val="456446"/>
                </a:solidFill>
                <a:latin typeface="Gothic A1"/>
                <a:ea typeface="Gothic A1"/>
                <a:cs typeface="Gothic A1"/>
                <a:sym typeface="Gothic A1"/>
              </a:rPr>
              <a:t>r = 0.73</a:t>
            </a:r>
          </a:p>
          <a:p>
            <a:pPr marL="0" lvl="1" indent="0" algn="l">
              <a:lnSpc>
                <a:spcPct val="105000"/>
              </a:lnSpc>
              <a:buNone/>
            </a:pPr>
            <a:r>
              <a:rPr lang="en-US" sz="1600" b="0">
                <a:solidFill>
                  <a:srgbClr val="456446"/>
                </a:solidFill>
                <a:latin typeface="Gothic A1"/>
                <a:ea typeface="Gothic A1"/>
                <a:cs typeface="Gothic A1"/>
                <a:sym typeface="Gothic A1"/>
              </a:rPr>
              <a:t>cross-scan reproducibility of the relief map</a:t>
            </a:r>
          </a:p>
        </p:txBody>
      </p:sp>
      <p:sp>
        <p:nvSpPr>
          <p:cNvPr id="11" name="TextBox 10"/>
          <p:cNvSpPr txBox="1"/>
          <p:nvPr/>
        </p:nvSpPr>
        <p:spPr>
          <a:xfrm>
            <a:off x="6552000" y="8243999"/>
            <a:ext cx="5220000" cy="1800000"/>
          </a:xfrm>
          <a:prstGeom prst="rect">
            <a:avLst/>
          </a:prstGeom>
          <a:noFill/>
        </p:spPr>
        <p:txBody>
          <a:bodyPr wrap="square" lIns="0" tIns="0" rIns="0" bIns="0">
            <a:spAutoFit/>
          </a:bodyPr>
          <a:lstStyle/>
          <a:p>
            <a:pPr marL="0" lvl="1" indent="0" algn="l">
              <a:lnSpc>
                <a:spcPct val="105000"/>
              </a:lnSpc>
              <a:buNone/>
            </a:pPr>
            <a:r>
              <a:rPr lang="en-US" sz="2800" b="1">
                <a:solidFill>
                  <a:srgbClr val="456446"/>
                </a:solidFill>
                <a:latin typeface="Gothic A1"/>
                <a:ea typeface="Gothic A1"/>
                <a:cs typeface="Gothic A1"/>
                <a:sym typeface="Gothic A1"/>
              </a:rPr>
              <a:t>88 %</a:t>
            </a:r>
          </a:p>
          <a:p>
            <a:pPr marL="0" lvl="1" indent="0" algn="l">
              <a:lnSpc>
                <a:spcPct val="105000"/>
              </a:lnSpc>
              <a:buNone/>
            </a:pPr>
            <a:r>
              <a:rPr lang="en-US" sz="1600" b="0">
                <a:solidFill>
                  <a:srgbClr val="456446"/>
                </a:solidFill>
                <a:latin typeface="Gothic A1"/>
                <a:ea typeface="Gothic A1"/>
                <a:cs typeface="Gothic A1"/>
                <a:sym typeface="Gothic A1"/>
              </a:rPr>
              <a:t>of pixels consistent with pure geometry</a:t>
            </a:r>
          </a:p>
        </p:txBody>
      </p:sp>
      <p:sp>
        <p:nvSpPr>
          <p:cNvPr id="12" name="TextBox 11"/>
          <p:cNvSpPr txBox="1"/>
          <p:nvPr/>
        </p:nvSpPr>
        <p:spPr>
          <a:xfrm>
            <a:off x="12060000" y="8243999"/>
            <a:ext cx="5220000" cy="1800000"/>
          </a:xfrm>
          <a:prstGeom prst="rect">
            <a:avLst/>
          </a:prstGeom>
          <a:noFill/>
        </p:spPr>
        <p:txBody>
          <a:bodyPr wrap="square" lIns="0" tIns="0" rIns="0" bIns="0">
            <a:spAutoFit/>
          </a:bodyPr>
          <a:lstStyle/>
          <a:p>
            <a:pPr marL="0" lvl="1" indent="0" algn="l">
              <a:lnSpc>
                <a:spcPct val="105000"/>
              </a:lnSpc>
              <a:buNone/>
            </a:pPr>
            <a:r>
              <a:rPr lang="en-US" sz="2800" b="1">
                <a:solidFill>
                  <a:srgbClr val="456446"/>
                </a:solidFill>
                <a:latin typeface="Gothic A1"/>
                <a:ea typeface="Gothic A1"/>
                <a:cs typeface="Gothic A1"/>
                <a:sym typeface="Gothic A1"/>
              </a:rPr>
              <a:t>χ²/dof = 0.85</a:t>
            </a:r>
          </a:p>
          <a:p>
            <a:pPr marL="0" lvl="1" indent="0" algn="l">
              <a:lnSpc>
                <a:spcPct val="105000"/>
              </a:lnSpc>
              <a:buNone/>
            </a:pPr>
            <a:r>
              <a:rPr lang="en-US" sz="1600" b="0">
                <a:solidFill>
                  <a:srgbClr val="456446"/>
                </a:solidFill>
                <a:latin typeface="Gothic A1"/>
                <a:ea typeface="Gothic A1"/>
                <a:cs typeface="Gothic A1"/>
                <a:sym typeface="Gothic A1"/>
              </a:rPr>
              <a:t>goodness of fit; RMS ≈ 12° across eight lines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540000" y="2844000"/>
            <a:ext cx="7703999" cy="4494000"/>
          </a:xfrm>
          <a:custGeom>
            <a:avLst/>
            <a:gdLst/>
            <a:ahLst/>
            <a:cxnLst/>
            <a:rect l="l" t="t" r="r" b="b"/>
            <a:pathLst>
              <a:path w="7643480" h="6667551">
                <a:moveTo>
                  <a:pt x="0" y="0"/>
                </a:moveTo>
                <a:lnTo>
                  <a:pt x="7643480" y="0"/>
                </a:lnTo>
                <a:lnTo>
                  <a:pt x="7643480" y="6667551"/>
                </a:lnTo>
                <a:lnTo>
                  <a:pt x="0" y="6667551"/>
                </a:lnTo>
                <a:lnTo>
                  <a:pt x="0" y="0"/>
                </a:lnTo>
                <a:close/>
              </a:path>
            </a:pathLst>
          </a:custGeom>
          <a:blipFill>
            <a:blip r:embed="rId3"/>
            <a:stretch>
              <a:fillRect/>
            </a:stretch>
          </a:blipFill>
        </p:spPr>
        <p:txBody>
          <a:bodyPr/>
          <a:lstStyle/>
          <a:p>
            <a:endParaRPr lang="en-GB"/>
          </a:p>
        </p:txBody>
      </p:sp>
      <p:sp>
        <p:nvSpPr>
          <p:cNvPr id="3" name="AutoShape 3"/>
          <p:cNvSpPr/>
          <p:nvPr/>
        </p:nvSpPr>
        <p:spPr>
          <a:xfrm>
            <a:off x="1028700" y="986507"/>
            <a:ext cx="7066497" cy="0"/>
          </a:xfrm>
          <a:prstGeom prst="line">
            <a:avLst/>
          </a:prstGeom>
          <a:ln w="38100" cap="flat">
            <a:solidFill>
              <a:srgbClr val="456446"/>
            </a:solidFill>
            <a:prstDash val="solid"/>
            <a:headEnd type="none" w="sm" len="sm"/>
            <a:tailEnd type="none" w="sm" len="sm"/>
          </a:ln>
        </p:spPr>
        <p:txBody>
          <a:bodyPr/>
          <a:lstStyle/>
          <a:p>
            <a:endParaRPr lang="en-GB"/>
          </a:p>
        </p:txBody>
      </p:sp>
      <p:sp>
        <p:nvSpPr>
          <p:cNvPr id="6" name="TextBox 6"/>
          <p:cNvSpPr txBox="1"/>
          <p:nvPr/>
        </p:nvSpPr>
        <p:spPr>
          <a:xfrm>
            <a:off x="1028700" y="1034955"/>
            <a:ext cx="16200000" cy="2362200"/>
          </a:xfrm>
          <a:prstGeom prst="rect">
            <a:avLst/>
          </a:prstGeom>
        </p:spPr>
        <p:txBody>
          <a:bodyPr lIns="0" tIns="0" rIns="0" bIns="0" rtlCol="0" anchor="t">
            <a:spAutoFit/>
          </a:bodyPr>
          <a:lstStyle/>
          <a:p>
            <a:pPr marL="0" lvl="0" indent="0" algn="l">
              <a:lnSpc>
                <a:spcPts val="8640"/>
              </a:lnSpc>
              <a:spcBef>
                <a:spcPct val="0"/>
              </a:spcBef>
            </a:pPr>
            <a:r>
              <a:rPr lang="en-US" sz="4800">
                <a:solidFill>
                  <a:srgbClr val="456446"/>
                </a:solidFill>
                <a:latin typeface="Gothic A1"/>
                <a:ea typeface="Gothic A1"/>
                <a:cs typeface="Gothic A1"/>
                <a:sym typeface="Gothic A1"/>
              </a:rPr>
              <a:t>One degree of mounting error moves the maps</a:t>
            </a:r>
          </a:p>
        </p:txBody>
      </p:sp>
      <p:sp>
        <p:nvSpPr>
          <p:cNvPr id="8" name="TextBox 7"/>
          <p:cNvSpPr txBox="1"/>
          <p:nvPr/>
        </p:nvSpPr>
        <p:spPr>
          <a:xfrm>
            <a:off x="1044000" y="2880000"/>
            <a:ext cx="8136000" cy="6300000"/>
          </a:xfrm>
          <a:prstGeom prst="rect">
            <a:avLst/>
          </a:prstGeom>
          <a:noFill/>
        </p:spPr>
        <p:txBody>
          <a:bodyPr wrap="square" lIns="0" tIns="0" rIns="0" bIns="0">
            <a:spAutoFit/>
          </a:bodyPr>
          <a:lstStyle/>
          <a:p>
            <a:pPr marL="0" lvl="1" indent="0" algn="l">
              <a:lnSpc>
                <a:spcPct val="105000"/>
              </a:lnSpc>
              <a:buNone/>
            </a:pPr>
            <a:r>
              <a:rPr lang="en-US" sz="2100" b="0">
                <a:solidFill>
                  <a:srgbClr val="456446"/>
                </a:solidFill>
                <a:latin typeface="Gothic A1"/>
                <a:ea typeface="Gothic A1"/>
                <a:cs typeface="Gothic A1"/>
                <a:sym typeface="Gothic A1"/>
              </a:rPr>
              <a:t>Element maps shift by up to 0.63 percentage points per degree of mounting error.</a:t>
            </a:r>
          </a:p>
          <a:p>
            <a:pPr marL="0" lvl="1" indent="0" algn="l">
              <a:lnSpc>
                <a:spcPct val="105000"/>
              </a:lnSpc>
              <a:buNone/>
            </a:pPr>
            <a:r>
              <a:rPr lang="en-US" sz="2100" b="0">
                <a:solidFill>
                  <a:srgbClr val="456446"/>
                </a:solidFill>
                <a:latin typeface="Gothic A1"/>
                <a:ea typeface="Gothic A1"/>
                <a:cs typeface="Gothic A1"/>
                <a:sym typeface="Gothic A1"/>
              </a:rPr>
              <a:t>Ca +0.50 %/°, Ti +0.45 %/° - the light elements move most; Pb Lβ −0.13 %/° - exactly the energy order the model predicts.</a:t>
            </a:r>
          </a:p>
          <a:p>
            <a:pPr marL="0" lvl="1" indent="0" algn="l">
              <a:lnSpc>
                <a:spcPct val="105000"/>
              </a:lnSpc>
              <a:buNone/>
            </a:pPr>
            <a:r>
              <a:rPr lang="en-US" sz="2100" b="0">
                <a:solidFill>
                  <a:srgbClr val="456446"/>
                </a:solidFill>
                <a:latin typeface="Gothic A1"/>
                <a:ea typeface="Gothic A1"/>
                <a:cs typeface="Gothic A1"/>
                <a:sym typeface="Gothic A1"/>
              </a:rPr>
              <a:t>Grey band: the repeatability floor from the two frontal scans. These shifts are lower bounds.</a:t>
            </a:r>
          </a:p>
          <a:p>
            <a:pPr marL="0" lvl="1" indent="0" algn="l">
              <a:lnSpc>
                <a:spcPct val="105000"/>
              </a:lnSpc>
              <a:buNone/>
            </a:pPr>
            <a:r>
              <a:rPr lang="en-US" sz="2100" b="0">
                <a:solidFill>
                  <a:srgbClr val="456446"/>
                </a:solidFill>
                <a:latin typeface="Gothic A1"/>
                <a:ea typeface="Gothic A1"/>
                <a:cs typeface="Gothic A1"/>
                <a:sym typeface="Gothic A1"/>
              </a:rPr>
              <a:t>Mounting geometry belongs in the error budget of any quantitative MA-XRF campaign.</a:t>
            </a:r>
          </a:p>
        </p:txBody>
      </p:sp>
      <p:sp>
        <p:nvSpPr>
          <p:cNvPr id="9" name="TextBox 8"/>
          <p:cNvSpPr txBox="1"/>
          <p:nvPr/>
        </p:nvSpPr>
        <p:spPr>
          <a:xfrm>
            <a:off x="9540000" y="7452000"/>
            <a:ext cx="7703999" cy="864000"/>
          </a:xfrm>
          <a:prstGeom prst="rect">
            <a:avLst/>
          </a:prstGeom>
          <a:noFill/>
        </p:spPr>
        <p:txBody>
          <a:bodyPr wrap="square" lIns="0" tIns="0" rIns="0" bIns="0">
            <a:spAutoFit/>
          </a:bodyPr>
          <a:lstStyle/>
          <a:p>
            <a:pPr marL="0" lvl="1" indent="0" algn="ctr">
              <a:lnSpc>
                <a:spcPct val="105000"/>
              </a:lnSpc>
              <a:buNone/>
            </a:pPr>
            <a:r>
              <a:rPr lang="en-US" sz="1400" b="0">
                <a:solidFill>
                  <a:srgbClr val="456446"/>
                </a:solidFill>
                <a:latin typeface="Gothic A1"/>
                <a:ea typeface="Gothic A1"/>
                <a:cs typeface="Gothic A1"/>
                <a:sym typeface="Gothic A1"/>
              </a:rPr>
              <a:t>The light-element maps are the ones that move; the grey band is the repeatability floor.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F4ED"/>
        </a:solidFill>
        <a:effectLst/>
      </p:bgPr>
    </p:bg>
    <p:spTree>
      <p:nvGrpSpPr>
        <p:cNvPr id="1" name=""/>
        <p:cNvGrpSpPr/>
        <p:nvPr/>
      </p:nvGrpSpPr>
      <p:grpSpPr>
        <a:xfrm>
          <a:off x="0" y="0"/>
          <a:ext cx="0" cy="0"/>
          <a:chOff x="0" y="0"/>
          <a:chExt cx="0" cy="0"/>
        </a:xfrm>
      </p:grpSpPr>
      <p:sp>
        <p:nvSpPr>
          <p:cNvPr id="2" name="Freeform 2"/>
          <p:cNvSpPr/>
          <p:nvPr/>
        </p:nvSpPr>
        <p:spPr>
          <a:xfrm>
            <a:off x="-470361" y="-264578"/>
            <a:ext cx="19228721" cy="10816156"/>
          </a:xfrm>
          <a:custGeom>
            <a:avLst/>
            <a:gdLst/>
            <a:ahLst/>
            <a:cxnLst/>
            <a:rect l="l" t="t" r="r" b="b"/>
            <a:pathLst>
              <a:path w="19228721" h="10816156">
                <a:moveTo>
                  <a:pt x="0" y="0"/>
                </a:moveTo>
                <a:lnTo>
                  <a:pt x="19228721" y="0"/>
                </a:lnTo>
                <a:lnTo>
                  <a:pt x="19228721" y="10816156"/>
                </a:lnTo>
                <a:lnTo>
                  <a:pt x="0" y="10816156"/>
                </a:lnTo>
                <a:lnTo>
                  <a:pt x="0" y="0"/>
                </a:lnTo>
                <a:close/>
              </a:path>
            </a:pathLst>
          </a:custGeom>
          <a:blipFill>
            <a:blip r:embed="rId3">
              <a:alphaModFix amt="71000"/>
            </a:blip>
            <a:stretch>
              <a:fillRect l="-1923" r="-1923"/>
            </a:stretch>
          </a:blipFill>
        </p:spPr>
        <p:txBody>
          <a:bodyPr/>
          <a:lstStyle/>
          <a:p>
            <a:endParaRPr lang="en-GB"/>
          </a:p>
        </p:txBody>
      </p:sp>
      <p:sp>
        <p:nvSpPr>
          <p:cNvPr id="4" name="TextBox 3"/>
          <p:cNvSpPr txBox="1"/>
          <p:nvPr/>
        </p:nvSpPr>
        <p:spPr>
          <a:xfrm>
            <a:off x="1584000" y="2015999"/>
            <a:ext cx="15120000" cy="4140000"/>
          </a:xfrm>
          <a:prstGeom prst="rect">
            <a:avLst/>
          </a:prstGeom>
          <a:noFill/>
        </p:spPr>
        <p:txBody>
          <a:bodyPr wrap="square" lIns="0" tIns="0" rIns="0" bIns="0">
            <a:spAutoFit/>
          </a:bodyPr>
          <a:lstStyle/>
          <a:p>
            <a:pPr marL="0" lvl="0" indent="0" algn="ctr">
              <a:lnSpc>
                <a:spcPct val="112000"/>
              </a:lnSpc>
              <a:spcBef>
                <a:spcPct val="0"/>
              </a:spcBef>
              <a:buNone/>
            </a:pPr>
            <a:r>
              <a:rPr lang="en-US" sz="3400" b="1">
                <a:solidFill>
                  <a:srgbClr val="FFFFFF"/>
                </a:solidFill>
                <a:latin typeface="Gothic A1"/>
                <a:ea typeface="Gothic A1"/>
                <a:cs typeface="Gothic A1"/>
                <a:sym typeface="Gothic A1"/>
              </a:rPr>
              <a:t>The difference between a scanner's two detectors - normally summed away - plus one tilted scan </a:t>
            </a:r>
            <a:r>
              <a:rPr lang="en-US" sz="3400" b="1">
                <a:solidFill>
                  <a:srgbClr val="FFA51F"/>
                </a:solidFill>
                <a:latin typeface="Gothic A1"/>
                <a:ea typeface="Gothic A1"/>
                <a:cs typeface="Gothic A1"/>
                <a:sym typeface="Gothic A1"/>
              </a:rPr>
              <a:t>characterizes the instrument for free</a:t>
            </a:r>
            <a:r>
              <a:rPr lang="en-US" sz="3400" b="1">
                <a:solidFill>
                  <a:srgbClr val="FFFFFF"/>
                </a:solidFill>
                <a:latin typeface="Gothic A1"/>
                <a:ea typeface="Gothic A1"/>
                <a:cs typeface="Gothic A1"/>
                <a:sym typeface="Gothic A1"/>
              </a:rPr>
              <a:t>: detector response, acquisition geometry, canvas topography, and a learned fusion that beats summing by </a:t>
            </a:r>
            <a:r>
              <a:rPr lang="en-US" sz="3400" b="1">
                <a:solidFill>
                  <a:srgbClr val="FFA51F"/>
                </a:solidFill>
                <a:latin typeface="Gothic A1"/>
                <a:ea typeface="Gothic A1"/>
                <a:cs typeface="Gothic A1"/>
                <a:sym typeface="Gothic A1"/>
              </a:rPr>
              <a:t>10–18 % SNR</a:t>
            </a:r>
            <a:r>
              <a:rPr lang="en-US" sz="3400" b="1">
                <a:solidFill>
                  <a:srgbClr val="FFFFFF"/>
                </a:solidFill>
                <a:latin typeface="Gothic A1"/>
                <a:ea typeface="Gothic A1"/>
                <a:cs typeface="Gothic A1"/>
                <a:sym typeface="Gothic A1"/>
              </a:rPr>
              <a:t>.</a:t>
            </a:r>
          </a:p>
        </p:txBody>
      </p:sp>
      <p:sp>
        <p:nvSpPr>
          <p:cNvPr id="5" name="TextBox 4"/>
          <p:cNvSpPr txBox="1"/>
          <p:nvPr/>
        </p:nvSpPr>
        <p:spPr>
          <a:xfrm>
            <a:off x="1584000" y="6408000"/>
            <a:ext cx="15120000" cy="864000"/>
          </a:xfrm>
          <a:prstGeom prst="rect">
            <a:avLst/>
          </a:prstGeom>
          <a:noFill/>
        </p:spPr>
        <p:txBody>
          <a:bodyPr wrap="square" lIns="0" tIns="0" rIns="0" bIns="0">
            <a:spAutoFit/>
          </a:bodyPr>
          <a:lstStyle/>
          <a:p>
            <a:pPr marL="0" lvl="0" indent="0" algn="ctr">
              <a:lnSpc>
                <a:spcPts val="6613"/>
              </a:lnSpc>
              <a:spcBef>
                <a:spcPct val="0"/>
              </a:spcBef>
              <a:buNone/>
            </a:pPr>
            <a:r>
              <a:rPr lang="en-US" sz="2400" b="1">
                <a:solidFill>
                  <a:srgbClr val="FFFFFF"/>
                </a:solidFill>
                <a:latin typeface="Gothic A1"/>
                <a:ea typeface="Gothic A1"/>
                <a:cs typeface="Gothic A1"/>
                <a:sym typeface="Gothic A1"/>
              </a:rPr>
              <a:t>Field MA-XRF scanners can characterize themselves from their own routine scans.</a:t>
            </a:r>
          </a:p>
        </p:txBody>
      </p:sp>
      <p:sp>
        <p:nvSpPr>
          <p:cNvPr id="6" name="TextBox 5"/>
          <p:cNvSpPr txBox="1"/>
          <p:nvPr/>
        </p:nvSpPr>
        <p:spPr>
          <a:xfrm>
            <a:off x="1584000" y="7632000"/>
            <a:ext cx="15120000" cy="720000"/>
          </a:xfrm>
          <a:prstGeom prst="rect">
            <a:avLst/>
          </a:prstGeom>
          <a:noFill/>
        </p:spPr>
        <p:txBody>
          <a:bodyPr wrap="square" lIns="0" tIns="0" rIns="0" bIns="0">
            <a:spAutoFit/>
          </a:bodyPr>
          <a:lstStyle/>
          <a:p>
            <a:pPr marL="0" lvl="0" indent="0" algn="ctr">
              <a:lnSpc>
                <a:spcPts val="6613"/>
              </a:lnSpc>
              <a:spcBef>
                <a:spcPct val="0"/>
              </a:spcBef>
              <a:buNone/>
            </a:pPr>
            <a:r>
              <a:rPr lang="en-US" sz="2000" b="0">
                <a:solidFill>
                  <a:srgbClr val="FFFFFF"/>
                </a:solidFill>
                <a:latin typeface="Gothic A1"/>
                <a:ea typeface="Gothic A1"/>
                <a:cs typeface="Gothic A1"/>
                <a:sym typeface="Gothic A1"/>
              </a:rPr>
              <a:t>Come find us at the poster for the full story - code, data, and the complete analysis.</a:t>
            </a:r>
          </a:p>
        </p:txBody>
      </p:sp>
      <p:sp>
        <p:nvSpPr>
          <p:cNvPr id="7" name="TextBox 6"/>
          <p:cNvSpPr txBox="1"/>
          <p:nvPr/>
        </p:nvSpPr>
        <p:spPr>
          <a:xfrm>
            <a:off x="1584000" y="9000000"/>
            <a:ext cx="15120000" cy="864000"/>
          </a:xfrm>
          <a:prstGeom prst="rect">
            <a:avLst/>
          </a:prstGeom>
          <a:noFill/>
        </p:spPr>
        <p:txBody>
          <a:bodyPr wrap="square" lIns="0" tIns="0" rIns="0" bIns="0">
            <a:spAutoFit/>
          </a:bodyPr>
          <a:lstStyle/>
          <a:p>
            <a:pPr marL="0" lvl="0" indent="0" algn="ctr">
              <a:lnSpc>
                <a:spcPts val="6613"/>
              </a:lnSpc>
              <a:spcBef>
                <a:spcPct val="0"/>
              </a:spcBef>
              <a:buNone/>
            </a:pPr>
            <a:r>
              <a:rPr lang="en-US" sz="1400" b="0">
                <a:solidFill>
                  <a:srgbClr val="FFFFFF"/>
                </a:solidFill>
                <a:latin typeface="Gothic A1"/>
                <a:ea typeface="Gothic A1"/>
                <a:cs typeface="Gothic A1"/>
                <a:sym typeface="Gothic A1"/>
              </a:rPr>
              <a:t>Research partially conducted at the Palace of Science, Miodrag Kostić Endowment.  We thank Ars Mensurae for instrument access and the scans.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344055" y="2844000"/>
            <a:ext cx="5899944" cy="6263999"/>
          </a:xfrm>
          <a:custGeom>
            <a:avLst/>
            <a:gdLst/>
            <a:ahLst/>
            <a:cxnLst/>
            <a:rect l="l" t="t" r="r" b="b"/>
            <a:pathLst>
              <a:path w="7643480" h="6667551">
                <a:moveTo>
                  <a:pt x="0" y="0"/>
                </a:moveTo>
                <a:lnTo>
                  <a:pt x="7643480" y="0"/>
                </a:lnTo>
                <a:lnTo>
                  <a:pt x="7643480" y="6667551"/>
                </a:lnTo>
                <a:lnTo>
                  <a:pt x="0" y="6667551"/>
                </a:lnTo>
                <a:lnTo>
                  <a:pt x="0" y="0"/>
                </a:lnTo>
                <a:close/>
              </a:path>
            </a:pathLst>
          </a:custGeom>
          <a:blipFill>
            <a:blip r:embed="rId3"/>
            <a:stretch>
              <a:fillRect/>
            </a:stretch>
          </a:blipFill>
        </p:spPr>
        <p:txBody>
          <a:bodyPr/>
          <a:lstStyle/>
          <a:p>
            <a:endParaRPr lang="en-GB"/>
          </a:p>
        </p:txBody>
      </p:sp>
      <p:sp>
        <p:nvSpPr>
          <p:cNvPr id="3" name="AutoShape 3"/>
          <p:cNvSpPr/>
          <p:nvPr/>
        </p:nvSpPr>
        <p:spPr>
          <a:xfrm>
            <a:off x="1028700" y="986507"/>
            <a:ext cx="7066497" cy="0"/>
          </a:xfrm>
          <a:prstGeom prst="line">
            <a:avLst/>
          </a:prstGeom>
          <a:ln w="38100" cap="flat">
            <a:solidFill>
              <a:srgbClr val="456446"/>
            </a:solidFill>
            <a:prstDash val="solid"/>
            <a:headEnd type="none" w="sm" len="sm"/>
            <a:tailEnd type="none" w="sm" len="sm"/>
          </a:ln>
        </p:spPr>
        <p:txBody>
          <a:bodyPr/>
          <a:lstStyle/>
          <a:p>
            <a:endParaRPr lang="en-GB"/>
          </a:p>
        </p:txBody>
      </p:sp>
      <p:sp>
        <p:nvSpPr>
          <p:cNvPr id="6" name="TextBox 6"/>
          <p:cNvSpPr txBox="1"/>
          <p:nvPr/>
        </p:nvSpPr>
        <p:spPr>
          <a:xfrm>
            <a:off x="1028700" y="1034955"/>
            <a:ext cx="16200000" cy="2362200"/>
          </a:xfrm>
          <a:prstGeom prst="rect">
            <a:avLst/>
          </a:prstGeom>
        </p:spPr>
        <p:txBody>
          <a:bodyPr lIns="0" tIns="0" rIns="0" bIns="0" rtlCol="0" anchor="t">
            <a:spAutoFit/>
          </a:bodyPr>
          <a:lstStyle/>
          <a:p>
            <a:pPr marL="0" lvl="0" indent="0" algn="l">
              <a:lnSpc>
                <a:spcPts val="8640"/>
              </a:lnSpc>
              <a:spcBef>
                <a:spcPct val="0"/>
              </a:spcBef>
            </a:pPr>
            <a:r>
              <a:rPr lang="en-US" sz="4800">
                <a:solidFill>
                  <a:srgbClr val="456446"/>
                </a:solidFill>
                <a:latin typeface="Gothic A1"/>
                <a:ea typeface="Gothic A1"/>
                <a:cs typeface="Gothic A1"/>
                <a:sym typeface="Gothic A1"/>
              </a:rPr>
              <a:t>Why the ratio is not an artifact</a:t>
            </a:r>
          </a:p>
        </p:txBody>
      </p:sp>
      <p:sp>
        <p:nvSpPr>
          <p:cNvPr id="8" name="TextBox 7"/>
          <p:cNvSpPr txBox="1"/>
          <p:nvPr/>
        </p:nvSpPr>
        <p:spPr>
          <a:xfrm>
            <a:off x="1044000" y="2880000"/>
            <a:ext cx="9216000" cy="6480000"/>
          </a:xfrm>
          <a:prstGeom prst="rect">
            <a:avLst/>
          </a:prstGeom>
          <a:noFill/>
        </p:spPr>
        <p:txBody>
          <a:bodyPr wrap="square" lIns="0" tIns="0" rIns="0" bIns="0">
            <a:spAutoFit/>
          </a:bodyPr>
          <a:lstStyle/>
          <a:p>
            <a:pPr marL="0" lvl="1" indent="0" algn="l">
              <a:lnSpc>
                <a:spcPct val="105000"/>
              </a:lnSpc>
              <a:buNone/>
            </a:pPr>
            <a:r>
              <a:rPr lang="en-US" sz="2000" b="0">
                <a:solidFill>
                  <a:srgbClr val="456446"/>
                </a:solidFill>
                <a:latin typeface="Gothic A1"/>
                <a:ea typeface="Gothic A1"/>
                <a:cs typeface="Gothic A1"/>
                <a:sym typeface="Gothic A1"/>
              </a:rPr>
              <a:t>All ratios are computed on the registered overlap of the two fields of view (affine registration, NCC 0.965).</a:t>
            </a:r>
          </a:p>
          <a:p>
            <a:pPr marL="0" lvl="1" indent="0" algn="l">
              <a:lnSpc>
                <a:spcPct val="105000"/>
              </a:lnSpc>
              <a:buNone/>
            </a:pPr>
            <a:r>
              <a:rPr lang="en-US" sz="2000" b="0">
                <a:solidFill>
                  <a:srgbClr val="456446"/>
                </a:solidFill>
                <a:latin typeface="Gothic A1"/>
                <a:ea typeface="Gothic A1"/>
                <a:cs typeface="Gothic A1"/>
                <a:sym typeface="Gothic A1"/>
              </a:rPr>
              <a:t>Full-frame ratios mix in a field-of-view artifact large enough to flip the sign of the tilt shift - this is why registration is not optional.</a:t>
            </a:r>
          </a:p>
          <a:p>
            <a:pPr marL="0" lvl="1" indent="0" algn="l">
              <a:lnSpc>
                <a:spcPct val="105000"/>
              </a:lnSpc>
              <a:buNone/>
            </a:pPr>
            <a:r>
              <a:rPr lang="en-US" sz="2000" b="0">
                <a:solidFill>
                  <a:srgbClr val="456446"/>
                </a:solidFill>
                <a:latin typeface="Gothic A1"/>
                <a:ea typeface="Gothic A1"/>
                <a:cs typeface="Gothic A1"/>
                <a:sym typeface="Gothic A1"/>
              </a:rPr>
              <a:t>Two frontal scans taken a week apart set the repeatability floor; every quoted shift is measured against it.</a:t>
            </a:r>
          </a:p>
          <a:p>
            <a:pPr marL="0" lvl="1" indent="0" algn="l">
              <a:lnSpc>
                <a:spcPct val="105000"/>
              </a:lnSpc>
              <a:buNone/>
            </a:pPr>
            <a:r>
              <a:rPr lang="en-US" sz="2000" b="0">
                <a:solidFill>
                  <a:srgbClr val="456446"/>
                </a:solidFill>
                <a:latin typeface="Gothic A1"/>
                <a:ea typeface="Gothic A1"/>
                <a:cs typeface="Gothic A1"/>
                <a:sym typeface="Gothic A1"/>
              </a:rPr>
              <a:t>The flat-field non-uniformity correlates with the scatter-tail band (r = 0.86) - the residual pattern is physical, not processing.</a:t>
            </a:r>
          </a:p>
        </p:txBody>
      </p:sp>
      <p:sp>
        <p:nvSpPr>
          <p:cNvPr id="9" name="TextBox 8"/>
          <p:cNvSpPr txBox="1"/>
          <p:nvPr/>
        </p:nvSpPr>
        <p:spPr>
          <a:xfrm>
            <a:off x="10800000" y="9216000"/>
            <a:ext cx="6443999" cy="503999"/>
          </a:xfrm>
          <a:prstGeom prst="rect">
            <a:avLst/>
          </a:prstGeom>
          <a:noFill/>
        </p:spPr>
        <p:txBody>
          <a:bodyPr wrap="square" lIns="0" tIns="0" rIns="0" bIns="0">
            <a:spAutoFit/>
          </a:bodyPr>
          <a:lstStyle/>
          <a:p>
            <a:pPr marL="0" lvl="1" indent="0" algn="ctr">
              <a:lnSpc>
                <a:spcPct val="105000"/>
              </a:lnSpc>
              <a:buNone/>
            </a:pPr>
            <a:r>
              <a:rPr lang="en-US" sz="1400" b="0">
                <a:solidFill>
                  <a:srgbClr val="456446"/>
                </a:solidFill>
                <a:latin typeface="Gothic A1"/>
                <a:ea typeface="Gothic A1"/>
                <a:cs typeface="Gothic A1"/>
                <a:sym typeface="Gothic A1"/>
              </a:rPr>
              <a:t>Registration check: the two heads' fields of view.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84000" y="2736000"/>
            <a:ext cx="15120000" cy="5498181"/>
          </a:xfrm>
          <a:custGeom>
            <a:avLst/>
            <a:gdLst/>
            <a:ahLst/>
            <a:cxnLst/>
            <a:rect l="l" t="t" r="r" b="b"/>
            <a:pathLst>
              <a:path w="7643480" h="6667551">
                <a:moveTo>
                  <a:pt x="0" y="0"/>
                </a:moveTo>
                <a:lnTo>
                  <a:pt x="7643480" y="0"/>
                </a:lnTo>
                <a:lnTo>
                  <a:pt x="7643480" y="6667551"/>
                </a:lnTo>
                <a:lnTo>
                  <a:pt x="0" y="6667551"/>
                </a:lnTo>
                <a:lnTo>
                  <a:pt x="0" y="0"/>
                </a:lnTo>
                <a:close/>
              </a:path>
            </a:pathLst>
          </a:custGeom>
          <a:blipFill>
            <a:blip r:embed="rId3"/>
            <a:stretch>
              <a:fillRect/>
            </a:stretch>
          </a:blipFill>
        </p:spPr>
        <p:txBody>
          <a:bodyPr/>
          <a:lstStyle/>
          <a:p>
            <a:endParaRPr lang="en-GB"/>
          </a:p>
        </p:txBody>
      </p:sp>
      <p:sp>
        <p:nvSpPr>
          <p:cNvPr id="3" name="AutoShape 3"/>
          <p:cNvSpPr/>
          <p:nvPr/>
        </p:nvSpPr>
        <p:spPr>
          <a:xfrm>
            <a:off x="1028700" y="986507"/>
            <a:ext cx="7066497" cy="0"/>
          </a:xfrm>
          <a:prstGeom prst="line">
            <a:avLst/>
          </a:prstGeom>
          <a:ln w="38100" cap="flat">
            <a:solidFill>
              <a:srgbClr val="456446"/>
            </a:solidFill>
            <a:prstDash val="solid"/>
            <a:headEnd type="none" w="sm" len="sm"/>
            <a:tailEnd type="none" w="sm" len="sm"/>
          </a:ln>
        </p:spPr>
        <p:txBody>
          <a:bodyPr/>
          <a:lstStyle/>
          <a:p>
            <a:endParaRPr lang="en-GB"/>
          </a:p>
        </p:txBody>
      </p:sp>
      <p:sp>
        <p:nvSpPr>
          <p:cNvPr id="6" name="TextBox 6"/>
          <p:cNvSpPr txBox="1"/>
          <p:nvPr/>
        </p:nvSpPr>
        <p:spPr>
          <a:xfrm>
            <a:off x="1028700" y="1034955"/>
            <a:ext cx="16200000" cy="2362200"/>
          </a:xfrm>
          <a:prstGeom prst="rect">
            <a:avLst/>
          </a:prstGeom>
        </p:spPr>
        <p:txBody>
          <a:bodyPr lIns="0" tIns="0" rIns="0" bIns="0" rtlCol="0" anchor="t">
            <a:spAutoFit/>
          </a:bodyPr>
          <a:lstStyle/>
          <a:p>
            <a:pPr marL="0" lvl="0" indent="0" algn="l">
              <a:lnSpc>
                <a:spcPts val="8640"/>
              </a:lnSpc>
              <a:spcBef>
                <a:spcPct val="0"/>
              </a:spcBef>
            </a:pPr>
            <a:r>
              <a:rPr lang="en-US" sz="4400" dirty="0">
                <a:solidFill>
                  <a:srgbClr val="456446"/>
                </a:solidFill>
                <a:latin typeface="Gothic A1"/>
                <a:ea typeface="Gothic A1"/>
                <a:cs typeface="Gothic A1"/>
                <a:sym typeface="Gothic A1"/>
              </a:rPr>
              <a:t>Per-line fusion gains - and why Ca and Ti stay on the sum</a:t>
            </a:r>
          </a:p>
        </p:txBody>
      </p:sp>
      <p:sp>
        <p:nvSpPr>
          <p:cNvPr id="8" name="TextBox 7"/>
          <p:cNvSpPr txBox="1"/>
          <p:nvPr/>
        </p:nvSpPr>
        <p:spPr>
          <a:xfrm>
            <a:off x="1044000" y="8424000"/>
            <a:ext cx="16200000" cy="1728000"/>
          </a:xfrm>
          <a:prstGeom prst="rect">
            <a:avLst/>
          </a:prstGeom>
          <a:noFill/>
        </p:spPr>
        <p:txBody>
          <a:bodyPr wrap="square" lIns="0" tIns="0" rIns="0" bIns="0">
            <a:spAutoFit/>
          </a:bodyPr>
          <a:lstStyle/>
          <a:p>
            <a:pPr marL="0" lvl="1" indent="0" algn="l">
              <a:lnSpc>
                <a:spcPct val="105000"/>
              </a:lnSpc>
              <a:buNone/>
            </a:pPr>
            <a:r>
              <a:rPr lang="en-US" sz="2000" b="0">
                <a:solidFill>
                  <a:srgbClr val="456446"/>
                </a:solidFill>
                <a:latin typeface="Gothic A1"/>
                <a:ea typeface="Gothic A1"/>
                <a:cs typeface="Gothic A1"/>
                <a:sym typeface="Gothic A1"/>
              </a:rPr>
              <a:t>Six of eight emission lines gain; the two low-energy lines (Ca, Ti) show a level bias in the learned output.</a:t>
            </a:r>
          </a:p>
          <a:p>
            <a:pPr marL="0" lvl="1" indent="0" algn="l">
              <a:lnSpc>
                <a:spcPct val="105000"/>
              </a:lnSpc>
              <a:buNone/>
            </a:pPr>
            <a:r>
              <a:rPr lang="en-US" sz="2000" b="0">
                <a:solidFill>
                  <a:srgbClr val="456446"/>
                </a:solidFill>
                <a:latin typeface="Gothic A1"/>
                <a:ea typeface="Gothic A1"/>
                <a:cs typeface="Gothic A1"/>
                <a:sym typeface="Gothic A1"/>
              </a:rPr>
              <a:t>For those two lines the fusion falls back to the plain sum - the method never degrades a map below simple summing.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2090</Words>
  <Application>Microsoft Office PowerPoint</Application>
  <PresentationFormat>Custom</PresentationFormat>
  <Paragraphs>74</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Gothic A1</vt:lpstr>
      <vt:lpstr>Calibri</vt:lpstr>
      <vt:lpstr>Gothic A1 Bold</vt:lpstr>
      <vt:lpstr>Gothic A1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IcETRAN2026_final</dc:title>
  <cp:lastModifiedBy>Dimitrije Pesic</cp:lastModifiedBy>
  <cp:revision>3</cp:revision>
  <dcterms:created xsi:type="dcterms:W3CDTF">2006-08-16T00:00:00Z</dcterms:created>
  <dcterms:modified xsi:type="dcterms:W3CDTF">2026-08-26T09:43:34Z</dcterms:modified>
  <dc:identifier>DAHLqZEFXr0</dc:identifier>
</cp:coreProperties>
</file>