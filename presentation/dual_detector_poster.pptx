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684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440000" y="1224000"/>
            <a:ext cx="22212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600" b="1">
                <a:solidFill>
                  <a:srgbClr val="FFFFFF"/>
                </a:solidFill>
                <a:latin typeface="Calibri"/>
              </a:rPr>
              <a:t>Geometry-resolved characterization of a dual-detector MA-XRF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3888000"/>
            <a:ext cx="22212000" cy="11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0">
                <a:solidFill>
                  <a:srgbClr val="C7D6EE"/>
                </a:solidFill>
                <a:latin typeface="Calibri"/>
              </a:rPr>
              <a:t>Dimitrije Pešić, Janko Vukobratović, Aleksandra Stojanović, Giulia Ristori, Stefano Ridolfi, Maja Gajić-Kvaščev, Goran Kvaščev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5256000"/>
            <a:ext cx="22212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9FB4D6"/>
                </a:solidFill>
                <a:latin typeface="Calibri"/>
              </a:rPr>
              <a:t>School of Electrical Engineering, University of Belgrade  ·  Ars Mensurae, Rome  ·  IDArtScience Srl, Rome  ·  VINARH Center, Vinča Institute of Nuclear Sciences, University of Belgrade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012000" y="1440000"/>
            <a:ext cx="2232000" cy="223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4156000" y="2268000"/>
            <a:ext cx="194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QR here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https://github.com/ADD-ME/repo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12000" y="3780000"/>
            <a:ext cx="2232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code +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04000" y="1440000"/>
            <a:ext cx="2232000" cy="223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8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748000" y="2268000"/>
            <a:ext cx="1944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QR here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https://ADD-ME/paper.pdf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4000" y="3780000"/>
            <a:ext cx="2232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paper / 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7488000"/>
            <a:ext cx="8532000" cy="138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4400" b="1">
                <a:solidFill>
                  <a:srgbClr val="1F3864"/>
                </a:solidFill>
                <a:latin typeface="Calibri"/>
              </a:rPr>
              <a:t>①  One tilted scan separates detector from geometry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40000" y="9014064"/>
            <a:ext cx="8532000" cy="57600"/>
          </a:xfrm>
          <a:prstGeom prst="rect">
            <a:avLst/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lock1_idea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0" y="9338064"/>
            <a:ext cx="8532000" cy="543876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40000" y="14920829"/>
            <a:ext cx="8532000" cy="827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400" b="1">
                <a:solidFill>
                  <a:srgbClr val="595959"/>
                </a:solidFill>
                <a:latin typeface="Calibri"/>
              </a:rPr>
              <a:t>Two detectors, opposite take-off angles; tilting the canvas moves the geometric part 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16036733"/>
            <a:ext cx="8532000" cy="4683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Both heads see the same spot from opposite take-off angles, so their count ratio mixes a detector part with a geometric part.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Tilting the canvas changes the photon exit paths but not the detectors, so a second scan splits the ratio into a tilt-invariant and a tilt-dependent term.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No calibration standards, no extra hardware - two routine acquisitions.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1656693"/>
            <a:ext cx="8532000" cy="138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4400" b="1">
                <a:solidFill>
                  <a:srgbClr val="1F3864"/>
                </a:solidFill>
                <a:latin typeface="Calibri"/>
              </a:rPr>
              <a:t>②  Two SDDs, three scans, 7 200 pixels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40000" y="23182757"/>
            <a:ext cx="8532000" cy="57600"/>
          </a:xfrm>
          <a:prstGeom prst="rect">
            <a:avLst/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40000" y="23506757"/>
            <a:ext cx="8532000" cy="515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Ars Mensurae MA-XRF scanner, two Amptek X-123SDD heads (10264, 19511), 40 kV / 50 µA. Mock-up canvas, 60 × 120 pixels, 3.0 s dwell.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Three scans: two frontal seven days apart (the repeatability baseline) and one tilted forward by ≤ 8°.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All ratios are computed on the registered overlap (affine, NCC 0.965): full-frame ratios mix in a field-of-view artifact large enough to flip the sign of the tilt shift.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72000" y="7488000"/>
            <a:ext cx="8532000" cy="138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4400" b="1">
                <a:solidFill>
                  <a:srgbClr val="1F3864"/>
                </a:solidFill>
                <a:latin typeface="Calibri"/>
              </a:rPr>
              <a:t>③  The two channels differ sixfold - and the model explains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72000" y="9014064"/>
            <a:ext cx="8532000" cy="57600"/>
          </a:xfrm>
          <a:prstGeom prst="rect">
            <a:avLst/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block3_hero_geometry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000" y="9338064"/>
            <a:ext cx="8532000" cy="68153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72000" y="16297425"/>
            <a:ext cx="8532000" cy="827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400" b="1">
                <a:solidFill>
                  <a:srgbClr val="595959"/>
                </a:solidFill>
                <a:latin typeface="Calibri"/>
              </a:rPr>
              <a:t>Detector response and geometry separate cleanly, each reproduced by a small physical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72000" y="17413329"/>
            <a:ext cx="8532000" cy="751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R = det10264 / det19511 falls from 5.8 at Ca Kα to 0.63 at Pb Lγ: the same pigment gives a sixfold different signal depending on the channel.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A three-parameter detector model reproduces the frontal curve across two orders of magnitude. The fitted absorber, 973 ± 2 µm Be-equivalent, is 80–120× any entrance window: extra air path or collimation in front of det 19511, not a window.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Tilt shifts R monotonically: +9.5 % at Ca (24σ) down to +0.6 % at Pb Lγ. A thick-sample fluorescence model with antisymmetric take-off angles reproduces the shape (lever arm s = 0.53 ± 0.10, tilt ≤ 8°).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72000" y="25867929"/>
            <a:ext cx="8532000" cy="138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4400" b="1">
                <a:solidFill>
                  <a:srgbClr val="1F3864"/>
                </a:solidFill>
                <a:latin typeface="Calibri"/>
              </a:rPr>
              <a:t>⑥  One degree of mounting error moves the maps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72000" y="27393993"/>
            <a:ext cx="8532000" cy="57600"/>
          </a:xfrm>
          <a:prstGeom prst="rect">
            <a:avLst/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block6_positioning_sensi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000" y="27717993"/>
            <a:ext cx="8532000" cy="38940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872000" y="31755998"/>
            <a:ext cx="8532000" cy="827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400" b="1">
                <a:solidFill>
                  <a:srgbClr val="595959"/>
                </a:solidFill>
                <a:latin typeface="Calibri"/>
              </a:rPr>
              <a:t>The light-element maps are the ones that move; grey band = same-geometry repeatability floor.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72000" y="32871902"/>
            <a:ext cx="8532000" cy="250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Element maps shift by up to 0.63 percentage points per degree of mounting error (Ca +0.50 %/°, Ti +0.45 %/°, Pb Lβ −0.13 %/°), in the energy order the model predicts - and these are lower bounds.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04000" y="7488000"/>
            <a:ext cx="8532000" cy="138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4400" b="1">
                <a:solidFill>
                  <a:srgbClr val="1F3864"/>
                </a:solidFill>
                <a:latin typeface="Calibri"/>
              </a:rPr>
              <a:t>④  Learned fusion beats summing by 10–18 % SNR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304000" y="9014064"/>
            <a:ext cx="8532000" cy="57600"/>
          </a:xfrm>
          <a:prstGeom prst="rect">
            <a:avLst/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block4_fusion_pb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04000" y="9338064"/>
            <a:ext cx="8532000" cy="2426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304000" y="11908564"/>
            <a:ext cx="8532000" cy="827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400" b="1">
                <a:solidFill>
                  <a:srgbClr val="595959"/>
                </a:solidFill>
                <a:latin typeface="Calibri"/>
              </a:rPr>
              <a:t>Same signal, visibly calmer noise. Cross-scan difference (scan 1 − scan 2)/√2 on pixels the network never saw.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304000" y="13024468"/>
            <a:ext cx="8532000" cy="766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The two channels are conditionally independent Poisson views of the same spot, so Noise2Noise training needs no clean target.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A 1D U-Net with loss weights prescribed by the measured R(E) gains +17.7 % mean SNR over summing on held-out pixels (median +11.9 %); classical inverse-variance weighting gives +0.9 %.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Six of eight lines gain - Pb Lℓ +69 %, Pb Lγ +33 %, Fe +28 %, Cu +17 % - while Ca and Ti keep the plain sum (low-energy level bias).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Ablation: the same network with an unweighted loss gives −0.1 % - the gain comes from the measured variance structure, not the architecture. In acquisition time it is worth 39 % longer dwell.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304000" y="21623068"/>
            <a:ext cx="8532000" cy="138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4400" b="1">
                <a:solidFill>
                  <a:srgbClr val="1F3864"/>
                </a:solidFill>
                <a:latin typeface="Calibri"/>
              </a:rPr>
              <a:t>⑤  The discarded difference is also a relief map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304000" y="23149132"/>
            <a:ext cx="8532000" cy="57600"/>
          </a:xfrm>
          <a:prstGeom prst="rect">
            <a:avLst/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block5_canvas_topograph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04000" y="23473132"/>
            <a:ext cx="8532000" cy="37233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0304000" y="27340497"/>
            <a:ext cx="8532000" cy="827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2400" b="1">
                <a:solidFill>
                  <a:srgbClr val="595959"/>
                </a:solidFill>
                <a:latin typeface="Calibri"/>
              </a:rPr>
              <a:t>Detector disagreement measures surface slope, and it reproduces across scans.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304000" y="28456401"/>
            <a:ext cx="8532000" cy="3595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Inverted through the measured tilt response, the per-pixel ratio residuals turn the eight lines into repeated measurements of local surface slope.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000" b="0">
                <a:solidFill>
                  <a:srgbClr val="262626"/>
                </a:solidFill>
                <a:latin typeface="Calibri"/>
              </a:rPr>
              <a:t>Cross-scan r = 0.73, reproducible RMS ≈ 12°, χ²/dof = 0.85, 88 % of pixels consistent with pure geometry: a relief map from a single scan.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40000" y="38556000"/>
            <a:ext cx="27396000" cy="2808000"/>
          </a:xfrm>
          <a:prstGeom prst="rect">
            <a:avLst/>
          </a:prstGeom>
          <a:noFill/>
          <a:ln w="25400">
            <a:solidFill>
              <a:srgbClr val="D95F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872000" y="38880000"/>
            <a:ext cx="26532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600" b="1">
                <a:solidFill>
                  <a:srgbClr val="1F3864"/>
                </a:solidFill>
                <a:latin typeface="Calibri"/>
              </a:rPr>
              <a:t>The difference between a scanner's two detectors - normally summed away - plus one tilted scan of the same painting characterizes the instrument for free: detector response, acquisition geometry, canvas topography, and a learned fusion that beats summing by 10–18 % SNR.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0000" y="41508000"/>
            <a:ext cx="27396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>
                <a:solidFill>
                  <a:srgbClr val="595959"/>
                </a:solidFill>
                <a:latin typeface="Calibri"/>
              </a:rPr>
              <a:t>Data and code: see the QR above (releases include the registered overlap ratios and the exported R(E) curve).  Acknowledgements: Ars Mensurae for instrument access and the scans; VINARH Center, Vinča Institute of Nuclear Sciences.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