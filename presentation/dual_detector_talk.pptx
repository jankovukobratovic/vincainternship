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a:t>
            </a:r>
          </a:p>
          <a:p>
            <a:r>
              <a:t>Good morning. I will show how a dual-detector MA-XRF scanner can be characterized - efficiencies, geometry, even the mounting angle - using nothing but routine scans of a painting.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0:15-1:15</a:t>
            </a:r>
          </a:p>
          <a:p>
            <a:r>
              <a:t>Set the scene: MA-XRF, two detectors, summing is standard practice. The premise of this work: the part everyone throws away carries quantitative information about the instrument itself. Everything that follows is extracted from that difference.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1:15-2:15</a:t>
            </a:r>
          </a:p>
          <a:p>
            <a:r>
              <a:t>The one-slide method. The tilt is the control knob: it moves only the geometry. Comparing tilted vs frontal ratios cleanly separates detector properties from acquisition geometry. Quote the abstract: no dedicated calibration measurements - no reference targets, no monochromatic sources.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2:15-3:00</a:t>
            </a:r>
          </a:p>
          <a:p>
            <a:r>
              <a:t>The test object is a canvas copy of the Creation of Adam - the element maps show the two hands. Three routine scans, nothing else. The two frontal scans give the repeatability floor; the tilted one is the geometry probe.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3:00-4:15</a:t>
            </a:r>
          </a:p>
          <a:p>
            <a:r>
              <a:t>Table 1 in one look. Two messages: the channels are far from interchangeable (6x at calcium), and tilting produces a highly significant, monotonically decaying energy pattern. Mention the crop test: restricting to the registered overlap removed a field-of-view artifact - that is why these are the trustworthy numbers. The four lead lines are the internal control - same pixels, same composition, only energy differs.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4:15-5:15</a:t>
            </a:r>
          </a:p>
          <a:p>
            <a:r>
              <a:t>The frontal curve is explained by detector properties alone. The surprise: the fitted low-energy absorber is the equivalent of a millimetre of beryllium - no window is that thick. It corresponds to 15-20 cm of air, so one detector must sit further away or behind a collimator. We learned that about the hardware without opening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5:15-6:15</a:t>
            </a:r>
          </a:p>
          <a:p>
            <a:r>
              <a:t>The tilt-dependent part follows textbook fluorescence geometry. With a single tilt the individual take-off angles are not identifiable - what is, is how fast they move: about half a degree per degree of tilt. The grey band is a GP regression that knows no physics; the physical model stays inside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6:15-7:15</a:t>
            </a:r>
          </a:p>
          <a:p>
            <a:r>
              <a:t>The mounting angle was never recorded - and it turns out we never needed it. The tilt compresses the image vertically, and the scan step sizes cancel in the scale ratio, so the angle falls out of registration: about 8 degrees. Be upfront: a control pair with no tilt returns five degrees, so we quote it as an upper bound until the instrument builder confirms. The precision floor itself is a result: it is the positioning drift between two nominally identical sessions.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7:15-7:45</a:t>
            </a:r>
          </a:p>
          <a:p>
            <a:r>
              <a:t>What this is for, in practice. Each item reuses the numbers from the previous slides: the ratios weight the fusion, the tilt response prices a mounting error, the per-pixel ratios map the canvas relief. These are being finalized for the paper.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7:45-8:00</a:t>
            </a:r>
          </a:p>
          <a:p>
            <a:r>
              <a:t>One sentence to leave with: the signal everyone throws away is enough to characterize the instrument - including the angle nobody wrote down.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371600"/>
            <a:ext cx="10545775" cy="1554480"/>
          </a:xfrm>
          <a:prstGeom prst="rect">
            <a:avLst/>
          </a:prstGeom>
          <a:noFill/>
        </p:spPr>
        <p:txBody>
          <a:bodyPr wrap="square">
            <a:spAutoFit/>
          </a:bodyPr>
          <a:lstStyle/>
          <a:p>
            <a:pPr algn="ctr">
              <a:spcAft>
                <a:spcPts val="600"/>
              </a:spcAft>
            </a:pPr>
            <a:r>
              <a:rPr sz="3400" b="1" i="0">
                <a:solidFill>
                  <a:srgbClr val="1F3864"/>
                </a:solidFill>
                <a:latin typeface="Calibri"/>
              </a:rPr>
              <a:t>Geometry-resolved Characterization of a Dual-detector MA-XRF Scanner</a:t>
            </a:r>
          </a:p>
        </p:txBody>
      </p:sp>
      <p:sp>
        <p:nvSpPr>
          <p:cNvPr id="3" name="TextBox 2"/>
          <p:cNvSpPr txBox="1"/>
          <p:nvPr/>
        </p:nvSpPr>
        <p:spPr>
          <a:xfrm>
            <a:off x="822960" y="3200400"/>
            <a:ext cx="10545775" cy="2377440"/>
          </a:xfrm>
          <a:prstGeom prst="rect">
            <a:avLst/>
          </a:prstGeom>
          <a:noFill/>
        </p:spPr>
        <p:txBody>
          <a:bodyPr wrap="square">
            <a:spAutoFit/>
          </a:bodyPr>
          <a:lstStyle/>
          <a:p>
            <a:pPr algn="ctr">
              <a:spcAft>
                <a:spcPts val="600"/>
              </a:spcAft>
            </a:pPr>
            <a:r>
              <a:rPr sz="1800" b="1" i="0">
                <a:solidFill>
                  <a:srgbClr val="262626"/>
                </a:solidFill>
                <a:latin typeface="Calibri"/>
              </a:rPr>
              <a:t>Dimitrije Pešić</a:t>
            </a:r>
            <a:r>
              <a:rPr sz="1800" b="0" i="0">
                <a:solidFill>
                  <a:srgbClr val="262626"/>
                </a:solidFill>
                <a:latin typeface="Calibri"/>
              </a:rPr>
              <a:t>,  Janko Vukobratović,  Aleksandra Stojanović,  Giulia Ristori,  Stefano Ridolfi,  Maja Gajić-Kvaščev,  Goran Kvaščev</a:t>
            </a:r>
          </a:p>
          <a:p>
            <a:pPr algn="ctr">
              <a:spcAft>
                <a:spcPts val="600"/>
              </a:spcAft>
            </a:pPr>
            <a:r>
              <a:rPr sz="800"/>
              <a:t> </a:t>
            </a:r>
          </a:p>
          <a:p>
            <a:pPr algn="ctr">
              <a:spcAft>
                <a:spcPts val="600"/>
              </a:spcAft>
            </a:pPr>
            <a:r>
              <a:rPr sz="1300" b="0" i="0">
                <a:solidFill>
                  <a:srgbClr val="595959"/>
                </a:solidFill>
                <a:latin typeface="Calibri"/>
              </a:rPr>
              <a:t>University of Belgrade - School of Electrical Engineering   ·   Ars Mensurae, Rome   ·   IDArtScience, Rome   ·   Vinča Institute of Nuclear Sciences / VINARH</a:t>
            </a:r>
          </a:p>
          <a:p>
            <a:pPr algn="ctr">
              <a:spcAft>
                <a:spcPts val="600"/>
              </a:spcAft>
            </a:pPr>
            <a:r>
              <a:rPr sz="800"/>
              <a:t> </a:t>
            </a:r>
          </a:p>
          <a:p>
            <a:pPr algn="ctr">
              <a:spcAft>
                <a:spcPts val="600"/>
              </a:spcAft>
            </a:pPr>
            <a:r>
              <a:rPr sz="1400" b="0" i="1">
                <a:solidFill>
                  <a:srgbClr val="595959"/>
                </a:solidFill>
                <a:latin typeface="Calibri"/>
              </a:rPr>
              <a:t>Heidelberg,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Two detectors, one discarded signal</a:t>
            </a:r>
          </a:p>
        </p:txBody>
      </p:sp>
      <p:sp>
        <p:nvSpPr>
          <p:cNvPr id="3" name="TextBox 2"/>
          <p:cNvSpPr txBox="1"/>
          <p:nvPr/>
        </p:nvSpPr>
        <p:spPr>
          <a:xfrm>
            <a:off x="822960" y="1417320"/>
            <a:ext cx="10545775" cy="2926080"/>
          </a:xfrm>
          <a:prstGeom prst="rect">
            <a:avLst/>
          </a:prstGeom>
          <a:noFill/>
        </p:spPr>
        <p:txBody>
          <a:bodyPr wrap="square">
            <a:spAutoFit/>
          </a:bodyPr>
          <a:lstStyle/>
          <a:p>
            <a:pPr>
              <a:spcAft>
                <a:spcPts val="1400"/>
              </a:spcAft>
            </a:pPr>
            <a:r>
              <a:rPr sz="1700" b="0" i="0">
                <a:solidFill>
                  <a:srgbClr val="595959"/>
                </a:solidFill>
                <a:latin typeface="Calibri"/>
              </a:rPr>
              <a:t>•  </a:t>
            </a:r>
            <a:r>
              <a:rPr sz="1700" b="0" i="0">
                <a:solidFill>
                  <a:srgbClr val="262626"/>
                </a:solidFill>
                <a:latin typeface="Calibri"/>
              </a:rPr>
              <a:t>MA-XRF scans a painting pixel by pixel; XRF lines give element maps (Ca, Fe, Pb, ...)</a:t>
            </a:r>
          </a:p>
          <a:p>
            <a:pPr>
              <a:spcAft>
                <a:spcPts val="1400"/>
              </a:spcAft>
            </a:pPr>
            <a:r>
              <a:rPr sz="1700" b="0" i="0">
                <a:solidFill>
                  <a:srgbClr val="595959"/>
                </a:solidFill>
                <a:latin typeface="Calibri"/>
              </a:rPr>
              <a:t>•  </a:t>
            </a:r>
            <a:r>
              <a:rPr sz="1700" b="0" i="0">
                <a:solidFill>
                  <a:srgbClr val="262626"/>
                </a:solidFill>
                <a:latin typeface="Calibri"/>
              </a:rPr>
              <a:t>Many scanners carry two SDD detectors; their signals are summed for signal-to-noise</a:t>
            </a:r>
          </a:p>
          <a:p>
            <a:pPr>
              <a:spcAft>
                <a:spcPts val="1400"/>
              </a:spcAft>
            </a:pPr>
            <a:r>
              <a:rPr sz="1700" b="0" i="0">
                <a:solidFill>
                  <a:srgbClr val="595959"/>
                </a:solidFill>
                <a:latin typeface="Calibri"/>
              </a:rPr>
              <a:t>•  </a:t>
            </a:r>
            <a:r>
              <a:rPr sz="1700" b="0" i="0">
                <a:solidFill>
                  <a:srgbClr val="262626"/>
                </a:solidFill>
                <a:latin typeface="Calibri"/>
              </a:rPr>
              <a:t>The difference between the two channels is treated as noise and thrown away</a:t>
            </a:r>
          </a:p>
        </p:txBody>
      </p:sp>
      <p:sp>
        <p:nvSpPr>
          <p:cNvPr id="4" name="TextBox 3"/>
          <p:cNvSpPr txBox="1"/>
          <p:nvPr/>
        </p:nvSpPr>
        <p:spPr>
          <a:xfrm>
            <a:off x="822960" y="4206240"/>
            <a:ext cx="10545775" cy="1097280"/>
          </a:xfrm>
          <a:prstGeom prst="rect">
            <a:avLst/>
          </a:prstGeom>
          <a:noFill/>
        </p:spPr>
        <p:txBody>
          <a:bodyPr wrap="square">
            <a:spAutoFit/>
          </a:bodyPr>
          <a:lstStyle/>
          <a:p>
            <a:pPr algn="ctr">
              <a:spcAft>
                <a:spcPts val="600"/>
              </a:spcAft>
            </a:pPr>
            <a:r>
              <a:rPr sz="2600" b="1" i="0">
                <a:solidFill>
                  <a:srgbClr val="D95F02"/>
                </a:solidFill>
                <a:latin typeface="Calibri"/>
              </a:rPr>
              <a:t>That discarded difference is a calibration signal.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One extra tilted scan splits the physics</a:t>
            </a:r>
          </a:p>
        </p:txBody>
      </p:sp>
      <p:pic>
        <p:nvPicPr>
          <p:cNvPr id="3" name="Picture 2" descr="geometry_schematic.png"/>
          <p:cNvPicPr>
            <a:picLocks noChangeAspect="1"/>
          </p:cNvPicPr>
          <p:nvPr/>
        </p:nvPicPr>
        <p:blipFill>
          <a:blip r:embed="rId2"/>
          <a:stretch>
            <a:fillRect/>
          </a:stretch>
        </p:blipFill>
        <p:spPr>
          <a:xfrm>
            <a:off x="502920" y="1554480"/>
            <a:ext cx="4530516" cy="4206240"/>
          </a:xfrm>
          <a:prstGeom prst="rect">
            <a:avLst/>
          </a:prstGeom>
        </p:spPr>
      </p:pic>
      <p:sp>
        <p:nvSpPr>
          <p:cNvPr id="4" name="TextBox 3"/>
          <p:cNvSpPr txBox="1"/>
          <p:nvPr/>
        </p:nvSpPr>
        <p:spPr>
          <a:xfrm>
            <a:off x="6400800" y="1645920"/>
            <a:ext cx="5212080" cy="4389120"/>
          </a:xfrm>
          <a:prstGeom prst="rect">
            <a:avLst/>
          </a:prstGeom>
          <a:noFill/>
        </p:spPr>
        <p:txBody>
          <a:bodyPr wrap="square">
            <a:spAutoFit/>
          </a:bodyPr>
          <a:lstStyle/>
          <a:p>
            <a:pPr>
              <a:spcAft>
                <a:spcPts val="1000"/>
              </a:spcAft>
            </a:pPr>
            <a:r>
              <a:rPr sz="1700" b="0" i="0">
                <a:solidFill>
                  <a:srgbClr val="595959"/>
                </a:solidFill>
                <a:latin typeface="Calibri"/>
              </a:rPr>
              <a:t>•  </a:t>
            </a:r>
            <a:r>
              <a:rPr sz="1700" b="0" i="0">
                <a:solidFill>
                  <a:srgbClr val="262626"/>
                </a:solidFill>
                <a:latin typeface="Calibri"/>
              </a:rPr>
              <a:t>Scan the same painting twice: frontal, and with the canvas tilted forward</a:t>
            </a:r>
          </a:p>
          <a:p>
            <a:pPr>
              <a:spcAft>
                <a:spcPts val="1000"/>
              </a:spcAft>
            </a:pPr>
            <a:r>
              <a:rPr sz="1700" b="0" i="0">
                <a:solidFill>
                  <a:srgbClr val="595959"/>
                </a:solidFill>
                <a:latin typeface="Calibri"/>
              </a:rPr>
              <a:t>•  </a:t>
            </a:r>
            <a:r>
              <a:rPr sz="1700" b="0" i="0">
                <a:solidFill>
                  <a:srgbClr val="262626"/>
                </a:solidFill>
                <a:latin typeface="Calibri"/>
              </a:rPr>
              <a:t>Tilting changes the photon paths to each detector - the detectors stay the same</a:t>
            </a:r>
          </a:p>
          <a:p>
            <a:pPr>
              <a:spcAft>
                <a:spcPts val="1000"/>
              </a:spcAft>
            </a:pPr>
            <a:r>
              <a:rPr sz="1700" b="0" i="0">
                <a:solidFill>
                  <a:srgbClr val="595959"/>
                </a:solidFill>
                <a:latin typeface="Calibri"/>
              </a:rPr>
              <a:t>•  </a:t>
            </a:r>
            <a:r>
              <a:rPr sz="1700" b="0" i="0">
                <a:solidFill>
                  <a:srgbClr val="262626"/>
                </a:solidFill>
                <a:latin typeface="Calibri"/>
              </a:rPr>
              <a:t>The per-element ratio R(E) = det1 / det2 then separates into:</a:t>
            </a:r>
          </a:p>
          <a:p>
            <a:pPr>
              <a:spcAft>
                <a:spcPts val="1000"/>
              </a:spcAft>
            </a:pPr>
            <a:r>
              <a:rPr sz="1500" b="0" i="0">
                <a:solidFill>
                  <a:srgbClr val="595959"/>
                </a:solidFill>
                <a:latin typeface="Calibri"/>
              </a:rPr>
              <a:t>     –  </a:t>
            </a:r>
            <a:r>
              <a:rPr sz="1500" b="1" i="0">
                <a:solidFill>
                  <a:srgbClr val="1F77B4"/>
                </a:solidFill>
                <a:latin typeface="Calibri"/>
              </a:rPr>
              <a:t>detector part</a:t>
            </a:r>
            <a:r>
              <a:rPr sz="1500" b="0" i="0">
                <a:solidFill>
                  <a:srgbClr val="262626"/>
                </a:solidFill>
                <a:latin typeface="Calibri"/>
              </a:rPr>
              <a:t> - tilt-invariant (absorbers, Si thickness, gain)</a:t>
            </a:r>
          </a:p>
          <a:p>
            <a:pPr>
              <a:spcAft>
                <a:spcPts val="1000"/>
              </a:spcAft>
            </a:pPr>
            <a:r>
              <a:rPr sz="1500" b="0" i="0">
                <a:solidFill>
                  <a:srgbClr val="595959"/>
                </a:solidFill>
                <a:latin typeface="Calibri"/>
              </a:rPr>
              <a:t>     –  </a:t>
            </a:r>
            <a:r>
              <a:rPr sz="1500" b="1" i="0">
                <a:solidFill>
                  <a:srgbClr val="D95F02"/>
                </a:solidFill>
                <a:latin typeface="Calibri"/>
              </a:rPr>
              <a:t>geometric part</a:t>
            </a:r>
            <a:r>
              <a:rPr sz="1500" b="0" i="0">
                <a:solidFill>
                  <a:srgbClr val="262626"/>
                </a:solidFill>
                <a:latin typeface="Calibri"/>
              </a:rPr>
              <a:t> - tilt-dependent, energy-structured</a:t>
            </a:r>
          </a:p>
          <a:p>
            <a:pPr>
              <a:spcAft>
                <a:spcPts val="1000"/>
              </a:spcAft>
            </a:pPr>
            <a:r>
              <a:rPr sz="800"/>
              <a:t> </a:t>
            </a:r>
          </a:p>
          <a:p>
            <a:pPr>
              <a:spcAft>
                <a:spcPts val="1000"/>
              </a:spcAft>
            </a:pPr>
            <a:r>
              <a:rPr sz="1700" b="0" i="0">
                <a:solidFill>
                  <a:srgbClr val="595959"/>
                </a:solidFill>
                <a:latin typeface="Calibri"/>
              </a:rPr>
              <a:t>•  </a:t>
            </a:r>
            <a:r>
              <a:rPr sz="1700" b="1" i="1">
                <a:solidFill>
                  <a:srgbClr val="D95F02"/>
                </a:solidFill>
                <a:latin typeface="Calibri"/>
              </a:rPr>
              <a:t>“with no dedicated calibration measurements”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Instrument and data</a:t>
            </a:r>
          </a:p>
        </p:txBody>
      </p:sp>
      <p:sp>
        <p:nvSpPr>
          <p:cNvPr id="3" name="TextBox 2"/>
          <p:cNvSpPr txBox="1"/>
          <p:nvPr/>
        </p:nvSpPr>
        <p:spPr>
          <a:xfrm>
            <a:off x="822960" y="1371600"/>
            <a:ext cx="10545775" cy="1828800"/>
          </a:xfrm>
          <a:prstGeom prst="rect">
            <a:avLst/>
          </a:prstGeom>
          <a:noFill/>
        </p:spPr>
        <p:txBody>
          <a:bodyPr wrap="square">
            <a:spAutoFit/>
          </a:bodyPr>
          <a:lstStyle/>
          <a:p>
            <a:pPr>
              <a:spcAft>
                <a:spcPts val="800"/>
              </a:spcAft>
            </a:pPr>
            <a:r>
              <a:rPr sz="1700" b="0" i="0">
                <a:solidFill>
                  <a:srgbClr val="595959"/>
                </a:solidFill>
                <a:latin typeface="Calibri"/>
              </a:rPr>
              <a:t>•  </a:t>
            </a:r>
            <a:r>
              <a:rPr sz="1700" b="0" i="0">
                <a:solidFill>
                  <a:srgbClr val="262626"/>
                </a:solidFill>
                <a:latin typeface="Calibri"/>
              </a:rPr>
              <a:t>Canvas copy of the Creation of Adam; Ars Mensurae MA-XRF scanner, two SDDs (s/n 10264, 19511)</a:t>
            </a:r>
          </a:p>
          <a:p>
            <a:pPr>
              <a:spcAft>
                <a:spcPts val="800"/>
              </a:spcAft>
            </a:pPr>
            <a:r>
              <a:rPr sz="1700" b="0" i="0">
                <a:solidFill>
                  <a:srgbClr val="595959"/>
                </a:solidFill>
                <a:latin typeface="Calibri"/>
              </a:rPr>
              <a:t>•  </a:t>
            </a:r>
            <a:r>
              <a:rPr sz="1700" b="0" i="0">
                <a:solidFill>
                  <a:srgbClr val="262626"/>
                </a:solidFill>
                <a:latin typeface="Calibri"/>
              </a:rPr>
              <a:t>Three scans: two frontal, 7 days apart (repeatability baseline), one tilted forward</a:t>
            </a:r>
          </a:p>
          <a:p>
            <a:pPr>
              <a:spcAft>
                <a:spcPts val="800"/>
              </a:spcAft>
            </a:pPr>
            <a:r>
              <a:rPr sz="1700" b="0" i="0">
                <a:solidFill>
                  <a:srgbClr val="595959"/>
                </a:solidFill>
                <a:latin typeface="Calibri"/>
              </a:rPr>
              <a:t>•  </a:t>
            </a:r>
            <a:r>
              <a:rPr sz="1700" b="0" i="0">
                <a:solidFill>
                  <a:srgbClr val="262626"/>
                </a:solidFill>
                <a:latin typeface="Calibri"/>
              </a:rPr>
              <a:t>8 usable lines from Ca Kα (3.7 keV) to Pb Lγ (14.8 keV); bootstrap uncertainties</a:t>
            </a:r>
          </a:p>
        </p:txBody>
      </p:sp>
      <p:pic>
        <p:nvPicPr>
          <p:cNvPr id="4" name="Picture 3" descr="element_maps.png"/>
          <p:cNvPicPr>
            <a:picLocks noChangeAspect="1"/>
          </p:cNvPicPr>
          <p:nvPr/>
        </p:nvPicPr>
        <p:blipFill>
          <a:blip r:embed="rId2"/>
          <a:stretch>
            <a:fillRect/>
          </a:stretch>
        </p:blipFill>
        <p:spPr>
          <a:xfrm>
            <a:off x="594360" y="3246120"/>
            <a:ext cx="10972800" cy="343959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The two channels disagree - up to sixfold</a:t>
            </a:r>
          </a:p>
        </p:txBody>
      </p:sp>
      <p:graphicFrame>
        <p:nvGraphicFramePr>
          <p:cNvPr id="3" name="Table 2"/>
          <p:cNvGraphicFramePr>
            <a:graphicFrameLocks noGrp="1"/>
          </p:cNvGraphicFramePr>
          <p:nvPr/>
        </p:nvGraphicFramePr>
        <p:xfrm>
          <a:off x="640080" y="1463040"/>
          <a:ext cx="6035040" cy="4480560"/>
        </p:xfrm>
        <a:graphic>
          <a:graphicData uri="http://schemas.openxmlformats.org/drawingml/2006/table">
            <a:tbl>
              <a:tblPr firstRow="1" bandRow="1">
                <a:tableStyleId>{5C22544A-7EE6-4342-B048-85BDC9FD1C3A}</a:tableStyleId>
              </a:tblPr>
              <a:tblGrid>
                <a:gridCol w="1207008"/>
                <a:gridCol w="1207008"/>
                <a:gridCol w="1207008"/>
                <a:gridCol w="1207008"/>
                <a:gridCol w="1207008"/>
              </a:tblGrid>
              <a:tr h="497840">
                <a:tc>
                  <a:txBody>
                    <a:bodyPr/>
                    <a:lstStyle/>
                    <a:p>
                      <a:r>
                        <a:rPr sz="1400" b="1">
                          <a:solidFill>
                            <a:srgbClr val="FFFFFF"/>
                          </a:solidFill>
                          <a:latin typeface="Calibri"/>
                        </a:rPr>
                        <a:t>line</a:t>
                      </a:r>
                    </a:p>
                  </a:txBody>
                  <a:tcPr>
                    <a:solidFill>
                      <a:srgbClr val="1F3864"/>
                    </a:solidFill>
                  </a:tcPr>
                </a:tc>
                <a:tc>
                  <a:txBody>
                    <a:bodyPr/>
                    <a:lstStyle/>
                    <a:p>
                      <a:r>
                        <a:rPr sz="1400" b="1">
                          <a:solidFill>
                            <a:srgbClr val="FFFFFF"/>
                          </a:solidFill>
                          <a:latin typeface="Calibri"/>
                        </a:rPr>
                        <a:t>E (keV)</a:t>
                      </a:r>
                    </a:p>
                  </a:txBody>
                  <a:tcPr>
                    <a:solidFill>
                      <a:srgbClr val="1F3864"/>
                    </a:solidFill>
                  </a:tcPr>
                </a:tc>
                <a:tc>
                  <a:txBody>
                    <a:bodyPr/>
                    <a:lstStyle/>
                    <a:p>
                      <a:r>
                        <a:rPr sz="1400" b="1">
                          <a:solidFill>
                            <a:srgbClr val="FFFFFF"/>
                          </a:solidFill>
                          <a:latin typeface="Calibri"/>
                        </a:rPr>
                        <a:t>R frontal</a:t>
                      </a:r>
                    </a:p>
                  </a:txBody>
                  <a:tcPr>
                    <a:solidFill>
                      <a:srgbClr val="1F3864"/>
                    </a:solidFill>
                  </a:tcPr>
                </a:tc>
                <a:tc>
                  <a:txBody>
                    <a:bodyPr/>
                    <a:lstStyle/>
                    <a:p>
                      <a:r>
                        <a:rPr sz="1400" b="1">
                          <a:solidFill>
                            <a:srgbClr val="FFFFFF"/>
                          </a:solidFill>
                          <a:latin typeface="Calibri"/>
                        </a:rPr>
                        <a:t>tilt shift</a:t>
                      </a:r>
                    </a:p>
                  </a:txBody>
                  <a:tcPr>
                    <a:solidFill>
                      <a:srgbClr val="1F3864"/>
                    </a:solidFill>
                  </a:tcPr>
                </a:tc>
                <a:tc>
                  <a:txBody>
                    <a:bodyPr/>
                    <a:lstStyle/>
                    <a:p>
                      <a:r>
                        <a:rPr sz="1400" b="1">
                          <a:solidFill>
                            <a:srgbClr val="FFFFFF"/>
                          </a:solidFill>
                          <a:latin typeface="Calibri"/>
                        </a:rPr>
                        <a:t>signif.</a:t>
                      </a:r>
                    </a:p>
                  </a:txBody>
                  <a:tcPr>
                    <a:solidFill>
                      <a:srgbClr val="1F3864"/>
                    </a:solidFill>
                  </a:tcPr>
                </a:tc>
              </a:tr>
              <a:tr h="497840">
                <a:tc>
                  <a:txBody>
                    <a:bodyPr/>
                    <a:lstStyle/>
                    <a:p>
                      <a:r>
                        <a:rPr sz="1400">
                          <a:solidFill>
                            <a:srgbClr val="262626"/>
                          </a:solidFill>
                          <a:latin typeface="Calibri"/>
                        </a:rPr>
                        <a:t>Ca Kα</a:t>
                      </a:r>
                    </a:p>
                  </a:txBody>
                  <a:tcPr/>
                </a:tc>
                <a:tc>
                  <a:txBody>
                    <a:bodyPr/>
                    <a:lstStyle/>
                    <a:p>
                      <a:r>
                        <a:rPr sz="1400">
                          <a:solidFill>
                            <a:srgbClr val="262626"/>
                          </a:solidFill>
                          <a:latin typeface="Calibri"/>
                        </a:rPr>
                        <a:t>3.69</a:t>
                      </a:r>
                    </a:p>
                  </a:txBody>
                  <a:tcPr/>
                </a:tc>
                <a:tc>
                  <a:txBody>
                    <a:bodyPr/>
                    <a:lstStyle/>
                    <a:p>
                      <a:r>
                        <a:rPr sz="1400">
                          <a:solidFill>
                            <a:srgbClr val="262626"/>
                          </a:solidFill>
                          <a:latin typeface="Calibri"/>
                        </a:rPr>
                        <a:t>5.78</a:t>
                      </a:r>
                    </a:p>
                  </a:txBody>
                  <a:tcPr/>
                </a:tc>
                <a:tc>
                  <a:txBody>
                    <a:bodyPr/>
                    <a:lstStyle/>
                    <a:p>
                      <a:r>
                        <a:rPr sz="1400" b="1">
                          <a:solidFill>
                            <a:srgbClr val="D95F02"/>
                          </a:solidFill>
                          <a:latin typeface="Calibri"/>
                        </a:rPr>
                        <a:t>+9.5 %</a:t>
                      </a:r>
                    </a:p>
                  </a:txBody>
                  <a:tcPr/>
                </a:tc>
                <a:tc>
                  <a:txBody>
                    <a:bodyPr/>
                    <a:lstStyle/>
                    <a:p>
                      <a:r>
                        <a:rPr sz="1400" b="1">
                          <a:solidFill>
                            <a:srgbClr val="D95F02"/>
                          </a:solidFill>
                          <a:latin typeface="Calibri"/>
                        </a:rPr>
                        <a:t>24σ</a:t>
                      </a:r>
                    </a:p>
                  </a:txBody>
                  <a:tcPr/>
                </a:tc>
              </a:tr>
              <a:tr h="497840">
                <a:tc>
                  <a:txBody>
                    <a:bodyPr/>
                    <a:lstStyle/>
                    <a:p>
                      <a:r>
                        <a:rPr sz="1400">
                          <a:solidFill>
                            <a:srgbClr val="262626"/>
                          </a:solidFill>
                          <a:latin typeface="Calibri"/>
                        </a:rPr>
                        <a:t>Ti Kα</a:t>
                      </a:r>
                    </a:p>
                  </a:txBody>
                  <a:tcPr/>
                </a:tc>
                <a:tc>
                  <a:txBody>
                    <a:bodyPr/>
                    <a:lstStyle/>
                    <a:p>
                      <a:r>
                        <a:rPr sz="1400">
                          <a:solidFill>
                            <a:srgbClr val="262626"/>
                          </a:solidFill>
                          <a:latin typeface="Calibri"/>
                        </a:rPr>
                        <a:t>4.51</a:t>
                      </a:r>
                    </a:p>
                  </a:txBody>
                  <a:tcPr/>
                </a:tc>
                <a:tc>
                  <a:txBody>
                    <a:bodyPr/>
                    <a:lstStyle/>
                    <a:p>
                      <a:r>
                        <a:rPr sz="1400">
                          <a:solidFill>
                            <a:srgbClr val="262626"/>
                          </a:solidFill>
                          <a:latin typeface="Calibri"/>
                        </a:rPr>
                        <a:t>2.42</a:t>
                      </a:r>
                    </a:p>
                  </a:txBody>
                  <a:tcPr/>
                </a:tc>
                <a:tc>
                  <a:txBody>
                    <a:bodyPr/>
                    <a:lstStyle/>
                    <a:p>
                      <a:r>
                        <a:rPr sz="1400" b="1">
                          <a:solidFill>
                            <a:srgbClr val="D95F02"/>
                          </a:solidFill>
                          <a:latin typeface="Calibri"/>
                        </a:rPr>
                        <a:t>+7.9 %</a:t>
                      </a:r>
                    </a:p>
                  </a:txBody>
                  <a:tcPr/>
                </a:tc>
                <a:tc>
                  <a:txBody>
                    <a:bodyPr/>
                    <a:lstStyle/>
                    <a:p>
                      <a:r>
                        <a:rPr sz="1400" b="1">
                          <a:solidFill>
                            <a:srgbClr val="D95F02"/>
                          </a:solidFill>
                          <a:latin typeface="Calibri"/>
                        </a:rPr>
                        <a:t>13.5σ</a:t>
                      </a:r>
                    </a:p>
                  </a:txBody>
                  <a:tcPr/>
                </a:tc>
              </a:tr>
              <a:tr h="497840">
                <a:tc>
                  <a:txBody>
                    <a:bodyPr/>
                    <a:lstStyle/>
                    <a:p>
                      <a:r>
                        <a:rPr sz="1400">
                          <a:solidFill>
                            <a:srgbClr val="262626"/>
                          </a:solidFill>
                          <a:latin typeface="Calibri"/>
                        </a:rPr>
                        <a:t>Fe Kα</a:t>
                      </a:r>
                    </a:p>
                  </a:txBody>
                  <a:tcPr/>
                </a:tc>
                <a:tc>
                  <a:txBody>
                    <a:bodyPr/>
                    <a:lstStyle/>
                    <a:p>
                      <a:r>
                        <a:rPr sz="1400">
                          <a:solidFill>
                            <a:srgbClr val="262626"/>
                          </a:solidFill>
                          <a:latin typeface="Calibri"/>
                        </a:rPr>
                        <a:t>6.40</a:t>
                      </a:r>
                    </a:p>
                  </a:txBody>
                  <a:tcPr/>
                </a:tc>
                <a:tc>
                  <a:txBody>
                    <a:bodyPr/>
                    <a:lstStyle/>
                    <a:p>
                      <a:r>
                        <a:rPr sz="1400">
                          <a:solidFill>
                            <a:srgbClr val="262626"/>
                          </a:solidFill>
                          <a:latin typeface="Calibri"/>
                        </a:rPr>
                        <a:t>1.21</a:t>
                      </a:r>
                    </a:p>
                  </a:txBody>
                  <a:tcPr/>
                </a:tc>
                <a:tc>
                  <a:txBody>
                    <a:bodyPr/>
                    <a:lstStyle/>
                    <a:p>
                      <a:r>
                        <a:rPr sz="1400" b="1">
                          <a:solidFill>
                            <a:srgbClr val="D95F02"/>
                          </a:solidFill>
                          <a:latin typeface="Calibri"/>
                        </a:rPr>
                        <a:t>+3.5 %</a:t>
                      </a:r>
                    </a:p>
                  </a:txBody>
                  <a:tcPr/>
                </a:tc>
                <a:tc>
                  <a:txBody>
                    <a:bodyPr/>
                    <a:lstStyle/>
                    <a:p>
                      <a:r>
                        <a:rPr sz="1400" b="1">
                          <a:solidFill>
                            <a:srgbClr val="D95F02"/>
                          </a:solidFill>
                          <a:latin typeface="Calibri"/>
                        </a:rPr>
                        <a:t>9.2σ</a:t>
                      </a:r>
                    </a:p>
                  </a:txBody>
                  <a:tcPr/>
                </a:tc>
              </a:tr>
              <a:tr h="497840">
                <a:tc>
                  <a:txBody>
                    <a:bodyPr/>
                    <a:lstStyle/>
                    <a:p>
                      <a:r>
                        <a:rPr sz="1400">
                          <a:solidFill>
                            <a:srgbClr val="262626"/>
                          </a:solidFill>
                          <a:latin typeface="Calibri"/>
                        </a:rPr>
                        <a:t>Cu Kα</a:t>
                      </a:r>
                    </a:p>
                  </a:txBody>
                  <a:tcPr/>
                </a:tc>
                <a:tc>
                  <a:txBody>
                    <a:bodyPr/>
                    <a:lstStyle/>
                    <a:p>
                      <a:r>
                        <a:rPr sz="1400">
                          <a:solidFill>
                            <a:srgbClr val="262626"/>
                          </a:solidFill>
                          <a:latin typeface="Calibri"/>
                        </a:rPr>
                        <a:t>8.04</a:t>
                      </a:r>
                    </a:p>
                  </a:txBody>
                  <a:tcPr/>
                </a:tc>
                <a:tc>
                  <a:txBody>
                    <a:bodyPr/>
                    <a:lstStyle/>
                    <a:p>
                      <a:r>
                        <a:rPr sz="1400">
                          <a:solidFill>
                            <a:srgbClr val="262626"/>
                          </a:solidFill>
                          <a:latin typeface="Calibri"/>
                        </a:rPr>
                        <a:t>1.01</a:t>
                      </a:r>
                    </a:p>
                  </a:txBody>
                  <a:tcPr/>
                </a:tc>
                <a:tc>
                  <a:txBody>
                    <a:bodyPr/>
                    <a:lstStyle/>
                    <a:p>
                      <a:r>
                        <a:rPr sz="1400">
                          <a:solidFill>
                            <a:srgbClr val="262626"/>
                          </a:solidFill>
                          <a:latin typeface="Calibri"/>
                        </a:rPr>
                        <a:t>+2.5 %</a:t>
                      </a:r>
                    </a:p>
                  </a:txBody>
                  <a:tcPr/>
                </a:tc>
                <a:tc>
                  <a:txBody>
                    <a:bodyPr/>
                    <a:lstStyle/>
                    <a:p>
                      <a:r>
                        <a:rPr sz="1400">
                          <a:solidFill>
                            <a:srgbClr val="262626"/>
                          </a:solidFill>
                          <a:latin typeface="Calibri"/>
                        </a:rPr>
                        <a:t>4.6σ</a:t>
                      </a:r>
                    </a:p>
                  </a:txBody>
                  <a:tcPr/>
                </a:tc>
              </a:tr>
              <a:tr h="497840">
                <a:tc>
                  <a:txBody>
                    <a:bodyPr/>
                    <a:lstStyle/>
                    <a:p>
                      <a:r>
                        <a:rPr sz="1400">
                          <a:solidFill>
                            <a:srgbClr val="262626"/>
                          </a:solidFill>
                          <a:latin typeface="Calibri"/>
                        </a:rPr>
                        <a:t>Pb Ll</a:t>
                      </a:r>
                    </a:p>
                  </a:txBody>
                  <a:tcPr/>
                </a:tc>
                <a:tc>
                  <a:txBody>
                    <a:bodyPr/>
                    <a:lstStyle/>
                    <a:p>
                      <a:r>
                        <a:rPr sz="1400">
                          <a:solidFill>
                            <a:srgbClr val="262626"/>
                          </a:solidFill>
                          <a:latin typeface="Calibri"/>
                        </a:rPr>
                        <a:t>9.19</a:t>
                      </a:r>
                    </a:p>
                  </a:txBody>
                  <a:tcPr/>
                </a:tc>
                <a:tc>
                  <a:txBody>
                    <a:bodyPr/>
                    <a:lstStyle/>
                    <a:p>
                      <a:r>
                        <a:rPr sz="1400">
                          <a:solidFill>
                            <a:srgbClr val="262626"/>
                          </a:solidFill>
                          <a:latin typeface="Calibri"/>
                        </a:rPr>
                        <a:t>0.828</a:t>
                      </a:r>
                    </a:p>
                  </a:txBody>
                  <a:tcPr/>
                </a:tc>
                <a:tc>
                  <a:txBody>
                    <a:bodyPr/>
                    <a:lstStyle/>
                    <a:p>
                      <a:r>
                        <a:rPr sz="1400" b="1">
                          <a:solidFill>
                            <a:srgbClr val="D95F02"/>
                          </a:solidFill>
                          <a:latin typeface="Calibri"/>
                        </a:rPr>
                        <a:t>+4.1 %</a:t>
                      </a:r>
                    </a:p>
                  </a:txBody>
                  <a:tcPr/>
                </a:tc>
                <a:tc>
                  <a:txBody>
                    <a:bodyPr/>
                    <a:lstStyle/>
                    <a:p>
                      <a:r>
                        <a:rPr sz="1400" b="1">
                          <a:solidFill>
                            <a:srgbClr val="D95F02"/>
                          </a:solidFill>
                          <a:latin typeface="Calibri"/>
                        </a:rPr>
                        <a:t>5.6σ</a:t>
                      </a:r>
                    </a:p>
                  </a:txBody>
                  <a:tcPr/>
                </a:tc>
              </a:tr>
              <a:tr h="497840">
                <a:tc>
                  <a:txBody>
                    <a:bodyPr/>
                    <a:lstStyle/>
                    <a:p>
                      <a:r>
                        <a:rPr sz="1400">
                          <a:solidFill>
                            <a:srgbClr val="262626"/>
                          </a:solidFill>
                          <a:latin typeface="Calibri"/>
                        </a:rPr>
                        <a:t>Pb Lα</a:t>
                      </a:r>
                    </a:p>
                  </a:txBody>
                  <a:tcPr/>
                </a:tc>
                <a:tc>
                  <a:txBody>
                    <a:bodyPr/>
                    <a:lstStyle/>
                    <a:p>
                      <a:r>
                        <a:rPr sz="1400">
                          <a:solidFill>
                            <a:srgbClr val="262626"/>
                          </a:solidFill>
                          <a:latin typeface="Calibri"/>
                        </a:rPr>
                        <a:t>10.54</a:t>
                      </a:r>
                    </a:p>
                  </a:txBody>
                  <a:tcPr/>
                </a:tc>
                <a:tc>
                  <a:txBody>
                    <a:bodyPr/>
                    <a:lstStyle/>
                    <a:p>
                      <a:r>
                        <a:rPr sz="1400">
                          <a:solidFill>
                            <a:srgbClr val="262626"/>
                          </a:solidFill>
                          <a:latin typeface="Calibri"/>
                        </a:rPr>
                        <a:t>0.765</a:t>
                      </a:r>
                    </a:p>
                  </a:txBody>
                  <a:tcPr/>
                </a:tc>
                <a:tc>
                  <a:txBody>
                    <a:bodyPr/>
                    <a:lstStyle/>
                    <a:p>
                      <a:r>
                        <a:rPr sz="1400" b="1">
                          <a:solidFill>
                            <a:srgbClr val="D95F02"/>
                          </a:solidFill>
                          <a:latin typeface="Calibri"/>
                        </a:rPr>
                        <a:t>+2.2 %</a:t>
                      </a:r>
                    </a:p>
                  </a:txBody>
                  <a:tcPr/>
                </a:tc>
                <a:tc>
                  <a:txBody>
                    <a:bodyPr/>
                    <a:lstStyle/>
                    <a:p>
                      <a:r>
                        <a:rPr sz="1400" b="1">
                          <a:solidFill>
                            <a:srgbClr val="D95F02"/>
                          </a:solidFill>
                          <a:latin typeface="Calibri"/>
                        </a:rPr>
                        <a:t>11.5σ</a:t>
                      </a:r>
                    </a:p>
                  </a:txBody>
                  <a:tcPr/>
                </a:tc>
              </a:tr>
              <a:tr h="497840">
                <a:tc>
                  <a:txBody>
                    <a:bodyPr/>
                    <a:lstStyle/>
                    <a:p>
                      <a:r>
                        <a:rPr sz="1400">
                          <a:solidFill>
                            <a:srgbClr val="262626"/>
                          </a:solidFill>
                          <a:latin typeface="Calibri"/>
                        </a:rPr>
                        <a:t>Pb Lβ</a:t>
                      </a:r>
                    </a:p>
                  </a:txBody>
                  <a:tcPr/>
                </a:tc>
                <a:tc>
                  <a:txBody>
                    <a:bodyPr/>
                    <a:lstStyle/>
                    <a:p>
                      <a:r>
                        <a:rPr sz="1400">
                          <a:solidFill>
                            <a:srgbClr val="262626"/>
                          </a:solidFill>
                          <a:latin typeface="Calibri"/>
                        </a:rPr>
                        <a:t>12.61</a:t>
                      </a:r>
                    </a:p>
                  </a:txBody>
                  <a:tcPr/>
                </a:tc>
                <a:tc>
                  <a:txBody>
                    <a:bodyPr/>
                    <a:lstStyle/>
                    <a:p>
                      <a:r>
                        <a:rPr sz="1400">
                          <a:solidFill>
                            <a:srgbClr val="262626"/>
                          </a:solidFill>
                          <a:latin typeface="Calibri"/>
                        </a:rPr>
                        <a:t>0.699</a:t>
                      </a:r>
                    </a:p>
                  </a:txBody>
                  <a:tcPr/>
                </a:tc>
                <a:tc>
                  <a:txBody>
                    <a:bodyPr/>
                    <a:lstStyle/>
                    <a:p>
                      <a:r>
                        <a:rPr sz="1400" b="1">
                          <a:solidFill>
                            <a:srgbClr val="D95F02"/>
                          </a:solidFill>
                          <a:latin typeface="Calibri"/>
                        </a:rPr>
                        <a:t>+1.8 %</a:t>
                      </a:r>
                    </a:p>
                  </a:txBody>
                  <a:tcPr/>
                </a:tc>
                <a:tc>
                  <a:txBody>
                    <a:bodyPr/>
                    <a:lstStyle/>
                    <a:p>
                      <a:r>
                        <a:rPr sz="1400" b="1">
                          <a:solidFill>
                            <a:srgbClr val="D95F02"/>
                          </a:solidFill>
                          <a:latin typeface="Calibri"/>
                        </a:rPr>
                        <a:t>10.3σ</a:t>
                      </a:r>
                    </a:p>
                  </a:txBody>
                  <a:tcPr/>
                </a:tc>
              </a:tr>
              <a:tr h="497840">
                <a:tc>
                  <a:txBody>
                    <a:bodyPr/>
                    <a:lstStyle/>
                    <a:p>
                      <a:r>
                        <a:rPr sz="1400">
                          <a:solidFill>
                            <a:srgbClr val="262626"/>
                          </a:solidFill>
                          <a:latin typeface="Calibri"/>
                        </a:rPr>
                        <a:t>Pb Lγ</a:t>
                      </a:r>
                    </a:p>
                  </a:txBody>
                  <a:tcPr/>
                </a:tc>
                <a:tc>
                  <a:txBody>
                    <a:bodyPr/>
                    <a:lstStyle/>
                    <a:p>
                      <a:r>
                        <a:rPr sz="1400">
                          <a:solidFill>
                            <a:srgbClr val="262626"/>
                          </a:solidFill>
                          <a:latin typeface="Calibri"/>
                        </a:rPr>
                        <a:t>14.77</a:t>
                      </a:r>
                    </a:p>
                  </a:txBody>
                  <a:tcPr/>
                </a:tc>
                <a:tc>
                  <a:txBody>
                    <a:bodyPr/>
                    <a:lstStyle/>
                    <a:p>
                      <a:r>
                        <a:rPr sz="1400">
                          <a:solidFill>
                            <a:srgbClr val="262626"/>
                          </a:solidFill>
                          <a:latin typeface="Calibri"/>
                        </a:rPr>
                        <a:t>0.630</a:t>
                      </a:r>
                    </a:p>
                  </a:txBody>
                  <a:tcPr/>
                </a:tc>
                <a:tc>
                  <a:txBody>
                    <a:bodyPr/>
                    <a:lstStyle/>
                    <a:p>
                      <a:r>
                        <a:rPr sz="1400">
                          <a:solidFill>
                            <a:srgbClr val="262626"/>
                          </a:solidFill>
                          <a:latin typeface="Calibri"/>
                        </a:rPr>
                        <a:t>+0.6 %</a:t>
                      </a:r>
                    </a:p>
                  </a:txBody>
                  <a:tcPr/>
                </a:tc>
                <a:tc>
                  <a:txBody>
                    <a:bodyPr/>
                    <a:lstStyle/>
                    <a:p>
                      <a:r>
                        <a:rPr sz="1400">
                          <a:solidFill>
                            <a:srgbClr val="262626"/>
                          </a:solidFill>
                          <a:latin typeface="Calibri"/>
                        </a:rPr>
                        <a:t>1.8σ</a:t>
                      </a:r>
                    </a:p>
                  </a:txBody>
                  <a:tcPr/>
                </a:tc>
              </a:tr>
            </a:tbl>
          </a:graphicData>
        </a:graphic>
      </p:graphicFrame>
      <p:sp>
        <p:nvSpPr>
          <p:cNvPr id="4" name="TextBox 3"/>
          <p:cNvSpPr txBox="1"/>
          <p:nvPr/>
        </p:nvSpPr>
        <p:spPr>
          <a:xfrm>
            <a:off x="7040880" y="1645920"/>
            <a:ext cx="4663440" cy="4389120"/>
          </a:xfrm>
          <a:prstGeom prst="rect">
            <a:avLst/>
          </a:prstGeom>
          <a:noFill/>
        </p:spPr>
        <p:txBody>
          <a:bodyPr wrap="square">
            <a:spAutoFit/>
          </a:bodyPr>
          <a:lstStyle/>
          <a:p>
            <a:pPr>
              <a:spcAft>
                <a:spcPts val="1200"/>
              </a:spcAft>
            </a:pPr>
            <a:r>
              <a:rPr sz="1700" b="0" i="0">
                <a:solidFill>
                  <a:srgbClr val="595959"/>
                </a:solidFill>
                <a:latin typeface="Calibri"/>
              </a:rPr>
              <a:t>•  </a:t>
            </a:r>
            <a:r>
              <a:rPr sz="1700" b="0" i="0">
                <a:solidFill>
                  <a:srgbClr val="262626"/>
                </a:solidFill>
                <a:latin typeface="Calibri"/>
              </a:rPr>
              <a:t>Same pixels, same painting: the frontal ratio runs from 5.8 down to 0.63 across energy</a:t>
            </a:r>
          </a:p>
          <a:p>
            <a:pPr>
              <a:spcAft>
                <a:spcPts val="1200"/>
              </a:spcAft>
            </a:pPr>
            <a:r>
              <a:rPr sz="1700" b="0" i="0">
                <a:solidFill>
                  <a:srgbClr val="595959"/>
                </a:solidFill>
                <a:latin typeface="Calibri"/>
              </a:rPr>
              <a:t>•  </a:t>
            </a:r>
            <a:r>
              <a:rPr sz="1700" b="0" i="0">
                <a:solidFill>
                  <a:srgbClr val="262626"/>
                </a:solidFill>
                <a:latin typeface="Calibri"/>
              </a:rPr>
              <a:t>Frontal repeatability ≤ 1.4 % - the tilt moves the ratio up to 24σ above it</a:t>
            </a:r>
          </a:p>
          <a:p>
            <a:pPr>
              <a:spcAft>
                <a:spcPts val="1200"/>
              </a:spcAft>
            </a:pPr>
            <a:r>
              <a:rPr sz="1700" b="0" i="0">
                <a:solidFill>
                  <a:srgbClr val="595959"/>
                </a:solidFill>
                <a:latin typeface="Calibri"/>
              </a:rPr>
              <a:t>•  </a:t>
            </a:r>
            <a:r>
              <a:rPr sz="1700" b="0" i="0">
                <a:solidFill>
                  <a:srgbClr val="262626"/>
                </a:solidFill>
                <a:latin typeface="Calibri"/>
              </a:rPr>
              <a:t>The shift decays monotonically with energy, +9.5 % → +0.6 % - geometry, not drift</a:t>
            </a:r>
          </a:p>
          <a:p>
            <a:pPr>
              <a:spcAft>
                <a:spcPts val="1200"/>
              </a:spcAft>
            </a:pPr>
            <a:r>
              <a:rPr sz="1700" b="0" i="0">
                <a:solidFill>
                  <a:srgbClr val="595959"/>
                </a:solidFill>
                <a:latin typeface="Calibri"/>
              </a:rPr>
              <a:t>•  </a:t>
            </a:r>
            <a:r>
              <a:rPr sz="1700" b="0" i="0">
                <a:solidFill>
                  <a:srgbClr val="262626"/>
                </a:solidFill>
                <a:latin typeface="Calibri"/>
              </a:rPr>
              <a:t>Ratios from the registered overlap region only: a crop test showed full-frame ratios mix in a field-of-view artifact</a:t>
            </a:r>
          </a:p>
          <a:p>
            <a:pPr>
              <a:spcAft>
                <a:spcPts val="1200"/>
              </a:spcAft>
            </a:pPr>
            <a:r>
              <a:rPr sz="1700" b="0" i="0">
                <a:solidFill>
                  <a:srgbClr val="595959"/>
                </a:solidFill>
                <a:latin typeface="Calibri"/>
              </a:rPr>
              <a:t>•  </a:t>
            </a:r>
            <a:r>
              <a:rPr sz="1700" b="0" i="0">
                <a:solidFill>
                  <a:srgbClr val="262626"/>
                </a:solidFill>
                <a:latin typeface="Calibri"/>
              </a:rPr>
              <a:t>Four Pb lines share pixels and composition: a pure energy dependence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Stage 1 - what separates the detectors</a:t>
            </a:r>
          </a:p>
        </p:txBody>
      </p:sp>
      <p:pic>
        <p:nvPicPr>
          <p:cNvPr id="3" name="Picture 2" descr="geometry_fit.png"/>
          <p:cNvPicPr>
            <a:picLocks noChangeAspect="1"/>
          </p:cNvPicPr>
          <p:nvPr/>
        </p:nvPicPr>
        <p:blipFill>
          <a:blip r:embed="rId2"/>
          <a:srcRect r="50000"/>
          <a:stretch>
            <a:fillRect/>
          </a:stretch>
        </p:blipFill>
        <p:spPr>
          <a:xfrm>
            <a:off x="502920" y="1600200"/>
            <a:ext cx="5852160" cy="4681728"/>
          </a:xfrm>
          <a:prstGeom prst="rect">
            <a:avLst/>
          </a:prstGeom>
        </p:spPr>
      </p:pic>
      <p:sp>
        <p:nvSpPr>
          <p:cNvPr id="4" name="TextBox 3"/>
          <p:cNvSpPr txBox="1"/>
          <p:nvPr/>
        </p:nvSpPr>
        <p:spPr>
          <a:xfrm>
            <a:off x="6720840" y="1737360"/>
            <a:ext cx="4937760" cy="4389120"/>
          </a:xfrm>
          <a:prstGeom prst="rect">
            <a:avLst/>
          </a:prstGeom>
          <a:noFill/>
        </p:spPr>
        <p:txBody>
          <a:bodyPr wrap="square">
            <a:spAutoFit/>
          </a:bodyPr>
          <a:lstStyle/>
          <a:p>
            <a:pPr>
              <a:spcAft>
                <a:spcPts val="1200"/>
              </a:spcAft>
            </a:pPr>
            <a:r>
              <a:rPr sz="1700" b="0" i="0">
                <a:solidFill>
                  <a:srgbClr val="595959"/>
                </a:solidFill>
                <a:latin typeface="Calibri"/>
              </a:rPr>
              <a:t>•  </a:t>
            </a:r>
            <a:r>
              <a:rPr sz="1700" b="0" i="0">
                <a:solidFill>
                  <a:srgbClr val="262626"/>
                </a:solidFill>
                <a:latin typeface="Calibri"/>
              </a:rPr>
              <a:t>Three-parameter model: gain × differential absorber × Si-thickness ratio</a:t>
            </a:r>
          </a:p>
          <a:p>
            <a:pPr>
              <a:spcAft>
                <a:spcPts val="1200"/>
              </a:spcAft>
            </a:pPr>
            <a:r>
              <a:rPr sz="1700" b="0" i="0">
                <a:solidFill>
                  <a:srgbClr val="595959"/>
                </a:solidFill>
                <a:latin typeface="Calibri"/>
              </a:rPr>
              <a:t>•  </a:t>
            </a:r>
            <a:r>
              <a:rPr sz="1700" b="0" i="0">
                <a:solidFill>
                  <a:srgbClr val="262626"/>
                </a:solidFill>
                <a:latin typeface="Calibri"/>
              </a:rPr>
              <a:t>Reproduces R(E) over two orders of magnitude</a:t>
            </a:r>
          </a:p>
          <a:p>
            <a:pPr>
              <a:spcAft>
                <a:spcPts val="1200"/>
              </a:spcAft>
            </a:pPr>
            <a:r>
              <a:rPr sz="1700" b="0" i="0">
                <a:solidFill>
                  <a:srgbClr val="595959"/>
                </a:solidFill>
                <a:latin typeface="Calibri"/>
              </a:rPr>
              <a:t>•  </a:t>
            </a:r>
            <a:r>
              <a:rPr sz="1700" b="1" i="0">
                <a:solidFill>
                  <a:srgbClr val="262626"/>
                </a:solidFill>
                <a:latin typeface="Calibri"/>
              </a:rPr>
              <a:t>Fitted absorber: 974 ± 1 µm Be-equivalent</a:t>
            </a:r>
            <a:r>
              <a:rPr sz="1700" b="0" i="0">
                <a:solidFill>
                  <a:srgbClr val="262626"/>
                </a:solidFill>
                <a:latin typeface="Calibri"/>
              </a:rPr>
              <a:t> - 40-100× a real SDD window</a:t>
            </a:r>
          </a:p>
          <a:p>
            <a:pPr>
              <a:spcAft>
                <a:spcPts val="1200"/>
              </a:spcAft>
            </a:pPr>
            <a:r>
              <a:rPr sz="1700" b="0" i="0">
                <a:solidFill>
                  <a:srgbClr val="595959"/>
                </a:solidFill>
                <a:latin typeface="Calibri"/>
              </a:rPr>
              <a:t>•  </a:t>
            </a:r>
            <a:r>
              <a:rPr sz="1700" b="1" i="0">
                <a:solidFill>
                  <a:srgbClr val="D95F02"/>
                </a:solidFill>
                <a:latin typeface="Calibri"/>
              </a:rPr>
              <a:t>⇒ ≈15-20 cm extra air path / collimation in front of detector 19511</a:t>
            </a:r>
          </a:p>
          <a:p>
            <a:pPr>
              <a:spcAft>
                <a:spcPts val="1200"/>
              </a:spcAft>
            </a:pPr>
            <a:r>
              <a:rPr sz="800"/>
              <a:t> </a:t>
            </a:r>
          </a:p>
          <a:p>
            <a:pPr>
              <a:spcAft>
                <a:spcPts val="1200"/>
              </a:spcAft>
            </a:pPr>
            <a:r>
              <a:rPr sz="1700" b="0" i="0">
                <a:solidFill>
                  <a:srgbClr val="595959"/>
                </a:solidFill>
                <a:latin typeface="Calibri"/>
              </a:rPr>
              <a:t>•  </a:t>
            </a:r>
            <a:r>
              <a:rPr sz="1600" b="0" i="1">
                <a:solidFill>
                  <a:srgbClr val="595959"/>
                </a:solidFill>
                <a:latin typeface="Calibri"/>
              </a:rPr>
              <a:t>An instrument diagnosis obtained from painting scans alone.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Stage 2 - what the tilt reveals</a:t>
            </a:r>
          </a:p>
        </p:txBody>
      </p:sp>
      <p:pic>
        <p:nvPicPr>
          <p:cNvPr id="3" name="Picture 2" descr="geometry_fit.png"/>
          <p:cNvPicPr>
            <a:picLocks noChangeAspect="1"/>
          </p:cNvPicPr>
          <p:nvPr/>
        </p:nvPicPr>
        <p:blipFill>
          <a:blip r:embed="rId2"/>
          <a:srcRect l="50000"/>
          <a:stretch>
            <a:fillRect/>
          </a:stretch>
        </p:blipFill>
        <p:spPr>
          <a:xfrm>
            <a:off x="502920" y="1600200"/>
            <a:ext cx="5852160" cy="4681728"/>
          </a:xfrm>
          <a:prstGeom prst="rect">
            <a:avLst/>
          </a:prstGeom>
        </p:spPr>
      </p:pic>
      <p:sp>
        <p:nvSpPr>
          <p:cNvPr id="4" name="TextBox 3"/>
          <p:cNvSpPr txBox="1"/>
          <p:nvPr/>
        </p:nvSpPr>
        <p:spPr>
          <a:xfrm>
            <a:off x="6720840" y="1737360"/>
            <a:ext cx="4937760" cy="4389120"/>
          </a:xfrm>
          <a:prstGeom prst="rect">
            <a:avLst/>
          </a:prstGeom>
          <a:noFill/>
        </p:spPr>
        <p:txBody>
          <a:bodyPr wrap="square">
            <a:spAutoFit/>
          </a:bodyPr>
          <a:lstStyle/>
          <a:p>
            <a:pPr>
              <a:spcAft>
                <a:spcPts val="1200"/>
              </a:spcAft>
            </a:pPr>
            <a:r>
              <a:rPr sz="1700" b="0" i="0">
                <a:solidFill>
                  <a:srgbClr val="595959"/>
                </a:solidFill>
                <a:latin typeface="Calibri"/>
              </a:rPr>
              <a:t>•  </a:t>
            </a:r>
            <a:r>
              <a:rPr sz="1700" b="0" i="0">
                <a:solidFill>
                  <a:srgbClr val="262626"/>
                </a:solidFill>
                <a:latin typeface="Calibri"/>
              </a:rPr>
              <a:t>Tilt shift of R: monotonic positive decay, +9.5 % at 3.7 keV → +0.6 % at 14.8 keV</a:t>
            </a:r>
          </a:p>
          <a:p>
            <a:pPr>
              <a:spcAft>
                <a:spcPts val="1200"/>
              </a:spcAft>
            </a:pPr>
            <a:r>
              <a:rPr sz="1700" b="0" i="0">
                <a:solidFill>
                  <a:srgbClr val="595959"/>
                </a:solidFill>
                <a:latin typeface="Calibri"/>
              </a:rPr>
              <a:t>•  </a:t>
            </a:r>
            <a:r>
              <a:rPr sz="1700" b="0" i="0">
                <a:solidFill>
                  <a:srgbClr val="262626"/>
                </a:solidFill>
                <a:latin typeface="Calibri"/>
              </a:rPr>
              <a:t>Thick-sample fluorescence model; the tilt moves the effective take-off angles</a:t>
            </a:r>
          </a:p>
          <a:p>
            <a:pPr>
              <a:spcAft>
                <a:spcPts val="1200"/>
              </a:spcAft>
            </a:pPr>
            <a:r>
              <a:rPr sz="1700" b="0" i="0">
                <a:solidFill>
                  <a:srgbClr val="595959"/>
                </a:solidFill>
                <a:latin typeface="Calibri"/>
              </a:rPr>
              <a:t>•  </a:t>
            </a:r>
            <a:r>
              <a:rPr sz="1700" b="1" i="0">
                <a:solidFill>
                  <a:srgbClr val="262626"/>
                </a:solidFill>
                <a:latin typeface="Calibri"/>
              </a:rPr>
              <a:t>Lever arm s = 0.53 ± 0.10 ⇒ take-off shift 4.1° ± 0.8° at this tilt</a:t>
            </a:r>
          </a:p>
          <a:p>
            <a:pPr>
              <a:spcAft>
                <a:spcPts val="1200"/>
              </a:spcAft>
            </a:pPr>
            <a:r>
              <a:rPr sz="1700" b="0" i="0">
                <a:solidFill>
                  <a:srgbClr val="595959"/>
                </a:solidFill>
                <a:latin typeface="Calibri"/>
              </a:rPr>
              <a:t>•  </a:t>
            </a:r>
            <a:r>
              <a:rPr sz="1700" b="0" i="0">
                <a:solidFill>
                  <a:srgbClr val="262626"/>
                </a:solidFill>
                <a:latin typeface="Calibri"/>
              </a:rPr>
              <a:t>Gaussian-process check (no physics inside): same shape, model within 1.1σ</a:t>
            </a:r>
          </a:p>
          <a:p>
            <a:pPr>
              <a:spcAft>
                <a:spcPts val="1200"/>
              </a:spcAft>
            </a:pPr>
            <a:r>
              <a:rPr sz="1700" b="0" i="0">
                <a:solidFill>
                  <a:srgbClr val="595959"/>
                </a:solidFill>
                <a:latin typeface="Calibri"/>
              </a:rPr>
              <a:t>•  </a:t>
            </a:r>
            <a:r>
              <a:rPr sz="1700" b="1" i="0">
                <a:solidFill>
                  <a:srgbClr val="D95F02"/>
                </a:solidFill>
                <a:latin typeface="Calibri"/>
              </a:rPr>
              <a:t>⇒ the shape lives in the data, not in the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The scan measures its own geometry</a:t>
            </a:r>
          </a:p>
        </p:txBody>
      </p:sp>
      <p:pic>
        <p:nvPicPr>
          <p:cNvPr id="3" name="Picture 2" descr="tilt_angle.png"/>
          <p:cNvPicPr>
            <a:picLocks noChangeAspect="1"/>
          </p:cNvPicPr>
          <p:nvPr/>
        </p:nvPicPr>
        <p:blipFill>
          <a:blip r:embed="rId2"/>
          <a:stretch>
            <a:fillRect/>
          </a:stretch>
        </p:blipFill>
        <p:spPr>
          <a:xfrm>
            <a:off x="6812280" y="1417320"/>
            <a:ext cx="5074920" cy="5074920"/>
          </a:xfrm>
          <a:prstGeom prst="rect">
            <a:avLst/>
          </a:prstGeom>
        </p:spPr>
      </p:pic>
      <p:sp>
        <p:nvSpPr>
          <p:cNvPr id="4" name="TextBox 3"/>
          <p:cNvSpPr txBox="1"/>
          <p:nvPr/>
        </p:nvSpPr>
        <p:spPr>
          <a:xfrm>
            <a:off x="640080" y="1737360"/>
            <a:ext cx="5852160" cy="4389120"/>
          </a:xfrm>
          <a:prstGeom prst="rect">
            <a:avLst/>
          </a:prstGeom>
          <a:noFill/>
        </p:spPr>
        <p:txBody>
          <a:bodyPr wrap="square">
            <a:spAutoFit/>
          </a:bodyPr>
          <a:lstStyle/>
          <a:p>
            <a:pPr>
              <a:spcAft>
                <a:spcPts val="1200"/>
              </a:spcAft>
            </a:pPr>
            <a:r>
              <a:rPr sz="1700" b="0" i="0">
                <a:solidFill>
                  <a:srgbClr val="595959"/>
                </a:solidFill>
                <a:latin typeface="Calibri"/>
              </a:rPr>
              <a:t>•  </a:t>
            </a:r>
            <a:r>
              <a:rPr sz="1700" b="0" i="0">
                <a:solidFill>
                  <a:srgbClr val="262626"/>
                </a:solidFill>
                <a:latin typeface="Calibri"/>
              </a:rPr>
              <a:t>A forward tilt compresses the image vertically by cos θ</a:t>
            </a:r>
          </a:p>
          <a:p>
            <a:pPr>
              <a:spcAft>
                <a:spcPts val="1200"/>
              </a:spcAft>
            </a:pPr>
            <a:r>
              <a:rPr sz="1700" b="0" i="0">
                <a:solidFill>
                  <a:srgbClr val="595959"/>
                </a:solidFill>
                <a:latin typeface="Calibri"/>
              </a:rPr>
              <a:t>•  </a:t>
            </a:r>
            <a:r>
              <a:rPr sz="1700" b="0" i="0">
                <a:solidFill>
                  <a:srgbClr val="262626"/>
                </a:solidFill>
                <a:latin typeface="Calibri"/>
              </a:rPr>
              <a:t>Register tilted ↔ frontal with independent x/y scales: sy/sx = 1/cos θ - the unknown step sizes cancel</a:t>
            </a:r>
          </a:p>
          <a:p>
            <a:pPr>
              <a:spcAft>
                <a:spcPts val="1200"/>
              </a:spcAft>
            </a:pPr>
            <a:r>
              <a:rPr sz="1700" b="0" i="0">
                <a:solidFill>
                  <a:srgbClr val="595959"/>
                </a:solidFill>
                <a:latin typeface="Calibri"/>
              </a:rPr>
              <a:t>•  </a:t>
            </a:r>
            <a:r>
              <a:rPr sz="1800" b="1" i="0">
                <a:solidFill>
                  <a:srgbClr val="262626"/>
                </a:solidFill>
                <a:latin typeface="Calibri"/>
              </a:rPr>
              <a:t>θ = 7.7° ± 1.0° ± 1.8° - an upper bound (θ ≲ 8°)</a:t>
            </a:r>
          </a:p>
          <a:p>
            <a:pPr>
              <a:spcAft>
                <a:spcPts val="1200"/>
              </a:spcAft>
            </a:pPr>
            <a:r>
              <a:rPr sz="1700" b="0" i="0">
                <a:solidFill>
                  <a:srgbClr val="595959"/>
                </a:solidFill>
                <a:latin typeface="Calibri"/>
              </a:rPr>
              <a:t>•  </a:t>
            </a:r>
            <a:r>
              <a:rPr sz="1700" b="0" i="0">
                <a:solidFill>
                  <a:srgbClr val="262626"/>
                </a:solidFill>
                <a:latin typeface="Calibri"/>
              </a:rPr>
              <a:t>A no-tilt control pair returns “5.3°”: foreshortening at this angle sits near the resolution floor</a:t>
            </a:r>
          </a:p>
          <a:p>
            <a:pPr>
              <a:spcAft>
                <a:spcPts val="1200"/>
              </a:spcAft>
            </a:pPr>
            <a:r>
              <a:rPr sz="800"/>
              <a:t> </a:t>
            </a:r>
          </a:p>
          <a:p>
            <a:pPr>
              <a:spcAft>
                <a:spcPts val="1200"/>
              </a:spcAft>
            </a:pPr>
            <a:r>
              <a:rPr sz="1700" b="0" i="0">
                <a:solidFill>
                  <a:srgbClr val="595959"/>
                </a:solidFill>
                <a:latin typeface="Calibri"/>
              </a:rPr>
              <a:t>•  </a:t>
            </a:r>
            <a:r>
              <a:rPr sz="1700" b="1" i="0">
                <a:solidFill>
                  <a:srgbClr val="D95F02"/>
                </a:solidFill>
                <a:latin typeface="Calibri"/>
              </a:rPr>
              <a:t>Bonus: two “identical” frontal sessions differ by 0.43 % in scale - a measured positioning drift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What the characterization buys</a:t>
            </a:r>
          </a:p>
          <a:p>
            <a:pPr>
              <a:spcAft>
                <a:spcPts val="200"/>
              </a:spcAft>
            </a:pPr>
            <a:r>
              <a:rPr sz="1600" b="0" i="1">
                <a:solidFill>
                  <a:srgbClr val="595959"/>
                </a:solidFill>
                <a:latin typeface="Calibri"/>
              </a:rPr>
              <a:t>ongoing - full results in the paper</a:t>
            </a:r>
          </a:p>
        </p:txBody>
      </p:sp>
      <p:sp>
        <p:nvSpPr>
          <p:cNvPr id="3" name="TextBox 2"/>
          <p:cNvSpPr txBox="1"/>
          <p:nvPr/>
        </p:nvSpPr>
        <p:spPr>
          <a:xfrm>
            <a:off x="822960" y="1645920"/>
            <a:ext cx="10545775" cy="4206240"/>
          </a:xfrm>
          <a:prstGeom prst="rect">
            <a:avLst/>
          </a:prstGeom>
          <a:noFill/>
        </p:spPr>
        <p:txBody>
          <a:bodyPr wrap="square">
            <a:spAutoFit/>
          </a:bodyPr>
          <a:lstStyle/>
          <a:p>
            <a:pPr>
              <a:spcAft>
                <a:spcPts val="1600"/>
              </a:spcAft>
            </a:pPr>
            <a:r>
              <a:rPr sz="1700" b="0" i="0">
                <a:solidFill>
                  <a:srgbClr val="595959"/>
                </a:solidFill>
                <a:latin typeface="Calibri"/>
              </a:rPr>
              <a:t>•  </a:t>
            </a:r>
            <a:r>
              <a:rPr sz="1800" b="1" i="0">
                <a:solidFill>
                  <a:srgbClr val="262626"/>
                </a:solidFill>
                <a:latin typeface="Calibri"/>
              </a:rPr>
              <a:t>Geometric non-uniformity map</a:t>
            </a:r>
            <a:r>
              <a:rPr sz="1800" b="0" i="0">
                <a:solidFill>
                  <a:srgbClr val="262626"/>
                </a:solidFill>
                <a:latin typeface="Calibri"/>
              </a:rPr>
              <a:t> from registered log-ratio maps - the “flat-field” of the abstract</a:t>
            </a:r>
          </a:p>
          <a:p>
            <a:pPr>
              <a:spcAft>
                <a:spcPts val="1600"/>
              </a:spcAft>
            </a:pPr>
            <a:r>
              <a:rPr sz="1700" b="0" i="0">
                <a:solidFill>
                  <a:srgbClr val="595959"/>
                </a:solidFill>
                <a:latin typeface="Calibri"/>
              </a:rPr>
              <a:t>•  </a:t>
            </a:r>
            <a:r>
              <a:rPr sz="1800" b="1" i="0">
                <a:solidFill>
                  <a:srgbClr val="262626"/>
                </a:solidFill>
                <a:latin typeface="Calibri"/>
              </a:rPr>
              <a:t>Detector fusion</a:t>
            </a:r>
            <a:r>
              <a:rPr sz="1800" b="0" i="0">
                <a:solidFill>
                  <a:srgbClr val="262626"/>
                </a:solidFill>
                <a:latin typeface="Calibri"/>
              </a:rPr>
              <a:t> weighted by the measured efficiency ratios - and a learned, self-supervised variant (two detectors = two independent noise realizations)</a:t>
            </a:r>
          </a:p>
          <a:p>
            <a:pPr>
              <a:spcAft>
                <a:spcPts val="1600"/>
              </a:spcAft>
            </a:pPr>
            <a:r>
              <a:rPr sz="1700" b="0" i="0">
                <a:solidFill>
                  <a:srgbClr val="595959"/>
                </a:solidFill>
                <a:latin typeface="Calibri"/>
              </a:rPr>
              <a:t>•  </a:t>
            </a:r>
            <a:r>
              <a:rPr sz="1800" b="1" i="0">
                <a:solidFill>
                  <a:srgbClr val="262626"/>
                </a:solidFill>
                <a:latin typeface="Calibri"/>
              </a:rPr>
              <a:t>Mounting-error estimate</a:t>
            </a:r>
            <a:r>
              <a:rPr sz="1800" b="0" i="0">
                <a:solidFill>
                  <a:srgbClr val="262626"/>
                </a:solidFill>
                <a:latin typeface="Calibri"/>
              </a:rPr>
              <a:t> per element, in %/degree, from the measured tilt response</a:t>
            </a:r>
          </a:p>
          <a:p>
            <a:pPr>
              <a:spcAft>
                <a:spcPts val="1600"/>
              </a:spcAft>
            </a:pPr>
            <a:r>
              <a:rPr sz="1700" b="0" i="0">
                <a:solidFill>
                  <a:srgbClr val="595959"/>
                </a:solidFill>
                <a:latin typeface="Calibri"/>
              </a:rPr>
              <a:t>•  </a:t>
            </a:r>
            <a:r>
              <a:rPr sz="1800" b="1" i="0">
                <a:solidFill>
                  <a:srgbClr val="262626"/>
                </a:solidFill>
                <a:latin typeface="Calibri"/>
              </a:rPr>
              <a:t>Canvas-topography map</a:t>
            </a:r>
            <a:r>
              <a:rPr sz="1800" b="0" i="0">
                <a:solidFill>
                  <a:srgbClr val="262626"/>
                </a:solidFill>
                <a:latin typeface="Calibri"/>
              </a:rPr>
              <a:t> - per-pixel tilt regression from a single frontal scan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Conclusions</a:t>
            </a:r>
          </a:p>
        </p:txBody>
      </p:sp>
      <p:sp>
        <p:nvSpPr>
          <p:cNvPr id="3" name="TextBox 2"/>
          <p:cNvSpPr txBox="1"/>
          <p:nvPr/>
        </p:nvSpPr>
        <p:spPr>
          <a:xfrm>
            <a:off x="822960" y="1554480"/>
            <a:ext cx="10545775" cy="3840480"/>
          </a:xfrm>
          <a:prstGeom prst="rect">
            <a:avLst/>
          </a:prstGeom>
          <a:noFill/>
        </p:spPr>
        <p:txBody>
          <a:bodyPr wrap="square">
            <a:spAutoFit/>
          </a:bodyPr>
          <a:lstStyle/>
          <a:p>
            <a:pPr>
              <a:spcAft>
                <a:spcPts val="1400"/>
              </a:spcAft>
            </a:pPr>
            <a:r>
              <a:rPr sz="1700" b="0" i="0">
                <a:solidFill>
                  <a:srgbClr val="595959"/>
                </a:solidFill>
                <a:latin typeface="Calibri"/>
              </a:rPr>
              <a:t>•  </a:t>
            </a:r>
            <a:r>
              <a:rPr sz="1700" b="0" i="0">
                <a:solidFill>
                  <a:srgbClr val="262626"/>
                </a:solidFill>
                <a:latin typeface="Calibri"/>
              </a:rPr>
              <a:t>Detector difference + one tilted scan = geometry-resolved characterization, with no dedicated calibration measurements</a:t>
            </a:r>
          </a:p>
          <a:p>
            <a:pPr>
              <a:spcAft>
                <a:spcPts val="1400"/>
              </a:spcAft>
            </a:pPr>
            <a:r>
              <a:rPr sz="1700" b="0" i="0">
                <a:solidFill>
                  <a:srgbClr val="595959"/>
                </a:solidFill>
                <a:latin typeface="Calibri"/>
              </a:rPr>
              <a:t>•  </a:t>
            </a:r>
            <a:r>
              <a:rPr sz="1700" b="0" i="0">
                <a:solidFill>
                  <a:srgbClr val="262626"/>
                </a:solidFill>
                <a:latin typeface="Calibri"/>
              </a:rPr>
              <a:t>Per-element efficiency ratios with uncertainties, spanning 5.8 to 0.63</a:t>
            </a:r>
          </a:p>
          <a:p>
            <a:pPr>
              <a:spcAft>
                <a:spcPts val="1400"/>
              </a:spcAft>
            </a:pPr>
            <a:r>
              <a:rPr sz="1700" b="0" i="0">
                <a:solidFill>
                  <a:srgbClr val="595959"/>
                </a:solidFill>
                <a:latin typeface="Calibri"/>
              </a:rPr>
              <a:t>•  </a:t>
            </a:r>
            <a:r>
              <a:rPr sz="1700" b="0" i="0">
                <a:solidFill>
                  <a:srgbClr val="262626"/>
                </a:solidFill>
                <a:latin typeface="Calibri"/>
              </a:rPr>
              <a:t>Detector vs geometry cleanly separated; effective take-off response 0.5°/° of tilt; matrix scale Ec ≈ 3.6 keV</a:t>
            </a:r>
          </a:p>
          <a:p>
            <a:pPr>
              <a:spcAft>
                <a:spcPts val="1400"/>
              </a:spcAft>
            </a:pPr>
            <a:r>
              <a:rPr sz="1700" b="0" i="0">
                <a:solidFill>
                  <a:srgbClr val="595959"/>
                </a:solidFill>
                <a:latin typeface="Calibri"/>
              </a:rPr>
              <a:t>•  </a:t>
            </a:r>
            <a:r>
              <a:rPr sz="1700" b="1" i="0">
                <a:solidFill>
                  <a:srgbClr val="D95F02"/>
                </a:solidFill>
                <a:latin typeface="Calibri"/>
              </a:rPr>
              <a:t>The data self-report their geometry: tilt ≲ 8°, session drift 0.43 %</a:t>
            </a:r>
          </a:p>
          <a:p>
            <a:pPr>
              <a:spcAft>
                <a:spcPts val="1400"/>
              </a:spcAft>
            </a:pPr>
            <a:r>
              <a:rPr sz="800"/>
              <a:t> </a:t>
            </a:r>
          </a:p>
          <a:p>
            <a:pPr>
              <a:spcAft>
                <a:spcPts val="1400"/>
              </a:spcAft>
            </a:pPr>
            <a:r>
              <a:rPr sz="1700" b="0" i="0">
                <a:solidFill>
                  <a:srgbClr val="595959"/>
                </a:solidFill>
                <a:latin typeface="Calibri"/>
              </a:rPr>
              <a:t>•  </a:t>
            </a:r>
            <a:r>
              <a:rPr sz="1500" b="0" i="0">
                <a:solidFill>
                  <a:srgbClr val="595959"/>
                </a:solidFill>
                <a:latin typeface="Calibri"/>
              </a:rPr>
              <a:t>Data and code: github.com/JankoVukobratovic/VincaInternship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