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Automated Chemical Vulnerability Assessment
of Canvas Paintings from XRF Spectral Imaging
Using Deep Learning and Foundation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2057400"/>
            <a:ext cx="11704320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Dimitrije Pešić  ·  Janko Vukobratović  ·  Aleksandra Stojanović  ·  Giulia Ristori  ·  Stefano Ridolfi  ·  Maja Gajić-Kvaščev  ·  Goran Kvaščev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</a:rPr>
              <a:t>University of Belgrade, School of Electrical Engineering  ·  Ars Mensurae Rome  ·  IDArtScience Rome  ·  Vinča Institute of Nuclear Sciences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120640"/>
            <a:ext cx="2651760" cy="128016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513892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FC3F7"/>
                </a:solidFill>
              </a:rPr>
              <a:t>7,200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57424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6E0"/>
                </a:solidFill>
              </a:rPr>
              <a:t>XRF spectra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5120640"/>
            <a:ext cx="2651760" cy="128016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513892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FC3F7"/>
                </a:solidFill>
              </a:rPr>
              <a:t>&lt; 70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57424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6E0"/>
                </a:solidFill>
              </a:rPr>
              <a:t>end-to-end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5120640"/>
            <a:ext cx="2651760" cy="128016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513892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FC3F7"/>
                </a:solidFill>
              </a:rPr>
              <a:t>r &gt; 0.98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57424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6E0"/>
                </a:solidFill>
              </a:rPr>
              <a:t>reproducibility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5120640"/>
            <a:ext cx="2651760" cy="128016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513892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FC3F7"/>
                </a:solidFill>
              </a:rPr>
              <a:t>0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57424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6E0"/>
                </a:solidFill>
              </a:rPr>
              <a:t>training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</a:rPr>
              <a:t>Science Conference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FC3F7"/>
                </a:solidFill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</a:rPr>
              <a:t>Why automate conservation risk assessment?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Historical paintings degrade silently — damage often invisible until irreversible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Pigments interact chemically: Cu greens corrode, Pb whites turn black, Fe catalyzes oxidation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Traditional assessment: expert-driven, qualitative, does not scale to full surfaces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</a:rPr>
              <a:t>XRF MACRO-SCANNING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572768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Per-pixel elemental maps across entire painting surface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120 × 60 = 7,200 spectra at 3 s/pixel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Non-invasive, no sampling required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Problem: interpreting 7,200 spectra manually is impractical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OUR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572768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5C518"/>
                </a:solidFill>
              </a:rPr>
              <a:t>  • Fully automated pipeline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5C518"/>
                </a:solidFill>
              </a:rPr>
              <a:t>  • Raw XRF → conservation-priority map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5C518"/>
                </a:solidFill>
              </a:rPr>
              <a:t>  • Zero expert-labeled training data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5C518"/>
                </a:solidFill>
              </a:rPr>
              <a:t>  • Under 70 s on a standard laptop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188720"/>
            <a:ext cx="27432" cy="502920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188720"/>
            <a:ext cx="27432" cy="502920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6492240"/>
            <a:ext cx="11704320" cy="27432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6E0"/>
                </a:solidFill>
              </a:rPr>
              <a:t>Key principle: preserve as much original material as possible → detect risk before it is visible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FC3F7"/>
                </a:solidFill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</a:rPr>
              <a:t>Five stages · no labeled training data · &lt;70 s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1920240" cy="347472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1920240" cy="20116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727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FC3F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933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Self-Supervised
Denoising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2834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6E0"/>
                </a:solidFill>
              </a:rPr>
              <a:t>1D U-Net
Poisson splitting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856" y="2788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CD6E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371600"/>
            <a:ext cx="1920240" cy="347472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1371600"/>
            <a:ext cx="1920240" cy="20116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5727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FC3F7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9933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Elemental
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834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6E0"/>
                </a:solidFill>
              </a:rPr>
              <a:t>5-pt calibration
ROI + background sub.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788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CD6E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371600"/>
            <a:ext cx="1920240" cy="347472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1371600"/>
            <a:ext cx="1920240" cy="201168"/>
          </a:xfrm>
          <a:prstGeom prst="rect">
            <a:avLst/>
          </a:prstGeom>
          <a:solidFill>
            <a:srgbClr val="78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15727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78C878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9933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NMF
Corroboration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834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6E0"/>
                </a:solidFill>
              </a:rPr>
              <a:t>K=5 components
&lt;5% recon.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2788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CD6E0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371600"/>
            <a:ext cx="1920240" cy="347472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0" y="1371600"/>
            <a:ext cx="1920240" cy="2011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5727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5C518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9933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Chemical
Vulnerability
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834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6E0"/>
                </a:solidFill>
              </a:rPr>
              <a:t>5 literature rules
Geometric mean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3376" y="2788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CD6E0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1371600"/>
            <a:ext cx="1920240" cy="347472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15400" y="1371600"/>
            <a:ext cx="1920240" cy="201168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400" y="15727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5A5A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19933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SAM Region
Segmentation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834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6E0"/>
                </a:solidFill>
              </a:rPr>
              <a:t>13 regions
Per-region CVI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074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6E0"/>
                </a:solidFill>
              </a:rPr>
              <a:t>INPUT: raw .mca spectra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5074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C518"/>
                </a:solidFill>
              </a:rPr>
              <a:t>OUTPUT: per-region risk report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5623560"/>
            <a:ext cx="11704320" cy="27432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6E0"/>
                </a:solidFill>
              </a:rPr>
              <a:t>U-Net inference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016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C3F7"/>
                </a:solidFill>
              </a:rPr>
              <a:t>28 s · 40%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6E0"/>
                </a:solidFill>
              </a:rPr>
              <a:t>Extraction + NMF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6016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C3F7"/>
                </a:solidFill>
              </a:rPr>
              <a:t>10.5 s · 15%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6E0"/>
                </a:solidFill>
              </a:rPr>
              <a:t>CVI + metrics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6016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C3F7"/>
                </a:solidFill>
              </a:rPr>
              <a:t>3.5 s · 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6E0"/>
                </a:solidFill>
              </a:rPr>
              <a:t>SAM segmentation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6016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C3F7"/>
                </a:solidFill>
              </a:rPr>
              <a:t>28 s · 40%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FC3F7"/>
                </a:solidFill>
              </a:rPr>
              <a:t>Spectral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</a:rPr>
              <a:t>Denoising → calibration → element maps → NMF corroboration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</a:rPr>
              <a:t>SELF-SUPERVISED DENOISING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• XRF counts follow Poisson statistics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• Noise2Self: Binomial-split spectrum into two halves (x, y)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• Train 1D U-Net to predict y from x → no clean reference needed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• 4-level encoder/decoder, ~1.66M params, PNLL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657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</a:rPr>
              <a:t>ELEMENTAL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02336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• 5-point linear calibration: E = 0.0292·c − 0.069 keV  (R² &gt; 0.9999)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• ROI integration + linear background from off-peak sidebands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• Spectral overlap corrections (Cu Kβ→Zn, Pb/As regression)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• As/Pb Lα overlap at ΔE = 0.007 keV — below detector FWHM</a:t>
            </a:r>
          </a:p>
        </p:txBody>
      </p:sp>
      <p:pic>
        <p:nvPicPr>
          <p:cNvPr id="9" name="Picture 8" descr="01_element_maps_raw_vs_denoi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6492240" cy="321065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8600" y="6217920"/>
            <a:ext cx="11704320" cy="27432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2819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6E0"/>
                </a:solidFill>
              </a:rPr>
              <a:t>NMF (K=5) independently recovers the same 5 material groups — Pb, Ca/Fe, Cu, Ti, Compton — reconstruction error &lt;5%   →   cross-validates physics-based extraction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FC3F7"/>
                </a:solidFill>
              </a:rPr>
              <a:t>Chemical Vulnerability Index (CVI)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</a:rPr>
              <a:t>Literature-grounded degradation risk, pixel-level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120640" cy="77724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CVI(i,j) = max_k { w_k · √( A_k(i,j) · B_k(i,j) )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57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• Geometric mean → high score only when BOTH incompatible elements co-occur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• Single-element rules (R2, R3): CVI_k = w_k · A_k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• All intensities percentile-normalised → CVI in [0, 1]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• Gaussian filter σ=1 px to suppress pixel-level noise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97763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</a:rPr>
              <a:t>FOUR RISK ZONES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343400"/>
            <a:ext cx="1188720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Low  &lt;0.25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892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6E0"/>
                </a:solidFill>
              </a:rPr>
              <a:t>No 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6192" y="4343400"/>
            <a:ext cx="1188720" cy="50292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Moderate 0.25–0.50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4892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6E0"/>
                </a:solidFill>
              </a:rPr>
              <a:t>Monitor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98063" y="4343400"/>
            <a:ext cx="1188720" cy="5029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Elevated 0.50–0.75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3" y="4892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6E0"/>
                </a:solidFill>
              </a:rPr>
              <a:t>Intervene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9935" y="4343400"/>
            <a:ext cx="1188720" cy="502920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Critical ≥0.75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5" y="4892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6E0"/>
                </a:solidFill>
              </a:rPr>
              <a:t>Urgent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143000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</a:rPr>
              <a:t>DEGRADATION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5727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</a:rPr>
              <a:t>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572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15727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</a:rPr>
              <a:t>Elem.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157276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</a:rPr>
              <a:t>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1938528"/>
            <a:ext cx="6309360" cy="27432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77840" y="1965960"/>
            <a:ext cx="6309360" cy="621792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2011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6E0"/>
                </a:solidFill>
              </a:rPr>
              <a:t>R1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0116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TiO₂/CaCO₃ thermal mismatch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0116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Ti / 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20116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6E0"/>
                </a:solidFill>
              </a:rPr>
              <a:t>0.40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67004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A5A"/>
                </a:solidFill>
              </a:rPr>
              <a:t>R2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67004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Cu-based green pigment degradation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67004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Cu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267004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A5A"/>
                </a:solidFill>
              </a:rPr>
              <a:t>1.00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282696"/>
            <a:ext cx="6309360" cy="621792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332841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A5A"/>
                </a:solidFill>
              </a:rPr>
              <a:t>R3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32841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Lead white darkening (PbS)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328416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Pb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4200" y="3328416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A5A"/>
                </a:solidFill>
              </a:rPr>
              <a:t>1.00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98678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33"/>
                </a:solidFill>
              </a:rPr>
              <a:t>R4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98678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Trapped moisture under TiO₂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986784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Ti / Cu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44200" y="3986784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33"/>
                </a:solidFill>
              </a:rPr>
              <a:t>0.60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4599432"/>
            <a:ext cx="6309360" cy="621792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464515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33"/>
                </a:solidFill>
              </a:rPr>
              <a:t>R5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464515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Fe-catalyzed Pb oxidation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4645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Fe / Pb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4200" y="46451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33"/>
                </a:solidFill>
              </a:rPr>
              <a:t>0.80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6172200"/>
            <a:ext cx="11704320" cy="27432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23620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6E0"/>
                </a:solidFill>
              </a:rPr>
              <a:t>Sensitivity: ±15% weight perturbation → &lt;8% change in mean CVI  ·  top-decile ranking preserved in &gt;92% of pixels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FC3F7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</a:rPr>
              <a:t>Reproducibility · CVI distribution · SAM region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</a:rPr>
              <a:t>SCAN REPRODUCIBILITY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Two scans, 7 days apart, same conditions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74519"/>
            <a:ext cx="3749039" cy="393192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9202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Ca Kα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9202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</a:rPr>
              <a:t>0.992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04287"/>
            <a:ext cx="3749039" cy="393192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3500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Fe Kα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5000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</a:rPr>
              <a:t>0.993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34056"/>
            <a:ext cx="3749039" cy="393192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77977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Pb Lα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77977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</a:rPr>
              <a:t>0.991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63824"/>
            <a:ext cx="3749039" cy="393192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2095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Cu Kα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2095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</a:rPr>
              <a:t>0.983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593591"/>
            <a:ext cx="3749039" cy="393192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363931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Ti Kα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63931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</a:rPr>
              <a:t>0.982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0690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Composite CVI (prova1 vs prova2)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407408"/>
            <a:ext cx="3749039" cy="50292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44531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W₁=0.0054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4531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r=0.994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44531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SSIM=0.982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029200"/>
            <a:ext cx="3749039" cy="68580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504748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</a:rPr>
              <a:t>Without denoising: W₁ +65%, SSIM −0.018
→ U-Net improves stability but physics-based
   extraction is dominant source of agreement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1143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</a:rPr>
              <a:t>CVI ZONE DISTRIBUTION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1508760"/>
            <a:ext cx="3474720" cy="658368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34840" y="1691639"/>
            <a:ext cx="292608" cy="29260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1664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664207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4CAF50"/>
                </a:solidFill>
              </a:rPr>
              <a:t>13.9%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240280"/>
            <a:ext cx="3474720" cy="658368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34840" y="2423160"/>
            <a:ext cx="292608" cy="292608"/>
          </a:xfrm>
          <a:prstGeom prst="ellipse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2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Moderate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395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8BC34A"/>
                </a:solidFill>
              </a:rPr>
              <a:t>49.9%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2971800"/>
            <a:ext cx="3474720" cy="658368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434840" y="3154680"/>
            <a:ext cx="292608" cy="29260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28032" y="3127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Elevated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1272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F9933"/>
                </a:solidFill>
              </a:rPr>
              <a:t>30.3%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3703320"/>
            <a:ext cx="3474720" cy="658368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34840" y="3886200"/>
            <a:ext cx="292608" cy="292608"/>
          </a:xfrm>
          <a:prstGeom prst="ellipse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28032" y="38587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8587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F5A5A"/>
                </a:solidFill>
              </a:rPr>
              <a:t>5.9%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44805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R2 (Cu degradation) elevated on ~22% of pixels
R3 (Pb darkening) on ~19%
R5 traces figural contours</a:t>
            </a:r>
          </a:p>
        </p:txBody>
      </p:sp>
      <p:pic>
        <p:nvPicPr>
          <p:cNvPr id="47" name="Picture 46" descr="03_cvi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5120640"/>
            <a:ext cx="3474720" cy="128884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092440" y="11430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</a:rPr>
              <a:t>SAM REGION ANALYSIS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150876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13 regions auto-identified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92440" y="1874519"/>
            <a:ext cx="3840480" cy="114300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92440" y="1874519"/>
            <a:ext cx="109728" cy="1143000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20" y="192023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Pb-dominated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22585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max CVI 0.93 · mean 0.54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2532887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5A5A"/>
                </a:solidFill>
              </a:rPr>
              <a:t>Urgent (R3 – Pb darkening)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2440" y="3108960"/>
            <a:ext cx="3840480" cy="114300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92440" y="3108960"/>
            <a:ext cx="109728" cy="11430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5320" y="315467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Cu-dominated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34930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max CVI 0.97 · mean 0.45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37673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9933"/>
                </a:solidFill>
              </a:rPr>
              <a:t>Monitor (R2 – Cu degr.)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92440" y="4343400"/>
            <a:ext cx="3840480" cy="114300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92440" y="4343400"/>
            <a:ext cx="109728" cy="11430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75320" y="43891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Ti/Cu overlap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47274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mean CVI ≈ 0.45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75320" y="50017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C34A"/>
                </a:solidFill>
              </a:rPr>
              <a:t>Moisture entrapment (R4)</a:t>
            </a:r>
          </a:p>
        </p:txBody>
      </p:sp>
      <p:pic>
        <p:nvPicPr>
          <p:cNvPr id="65" name="Picture 64" descr="05_sam_segm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577840"/>
            <a:ext cx="3840480" cy="10997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FC3F7"/>
                </a:solidFill>
              </a:rPr>
              <a:t>Further Work &amp;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</a:rPr>
              <a:t>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WHAT WE SHOWED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Fully automated XRF → conservation-priority map in &lt;70 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No expert-labeled training data at any stage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Cross-scan reproducibility r &gt; 0.98 on all elements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Composite CVI stable across scans (W₁ = 0.0054, SSIM = 0.982)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13 SAM regions with per-region risk summaries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CVI critical zone: 5.9% of pixels flagged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846320"/>
            <a:ext cx="5303520" cy="27432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9194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933"/>
                </a:solidFill>
              </a:rPr>
              <a:t>PRINCIPAL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28523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</a:rPr>
              <a:t>All validation is internal consistency on one mockup canvas — ground-truth comparison against conservator assessments on real paintings with documented degradation outcomes is required.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43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</a:rPr>
              <a:t>NEXT STEPS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00200"/>
            <a:ext cx="5394960" cy="86868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00200"/>
            <a:ext cx="91440" cy="868680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69164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Validate CVI against expert conservator assessments on real paintings with known degradation outcomes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560320"/>
            <a:ext cx="5394960" cy="86868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560320"/>
            <a:ext cx="91440" cy="86868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65176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Integrate NMF abundance maps as CVI inputs — capture material mixtures invisible to single-element thresholds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520440"/>
            <a:ext cx="5394960" cy="86868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520440"/>
            <a:ext cx="91440" cy="8686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61188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Extend to paintings with different conservation histories; adapt rule weights as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480560"/>
            <a:ext cx="5394960" cy="86868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480560"/>
            <a:ext cx="91440" cy="8686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57200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Resolve As/Pb Lα overlap (ΔE=0.007 keV) with higher-resolution detectors or deconvolution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440680"/>
            <a:ext cx="5394960" cy="868680"/>
          </a:xfrm>
          <a:prstGeom prst="rect">
            <a:avLst/>
          </a:prstGeom>
          <a:solidFill>
            <a:srgbClr val="1A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5440680"/>
            <a:ext cx="91440" cy="86868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553212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Build conservator-facing GUI/API — no Python expertise required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6400800"/>
            <a:ext cx="11704320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46480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C3F7"/>
                </a:solidFill>
              </a:rPr>
              <a:t>The contribution is the workflow itself: end-to-end automation of a procedure that traditionally requires extensive expert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