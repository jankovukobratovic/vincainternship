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Gothic A1 Medium" charset="1" panose="00000000000000000000"/>
      <p:regular r:id="rId15"/>
    </p:embeddedFont>
    <p:embeddedFont>
      <p:font typeface="Gothic A1" charset="1" panose="00000000000000000000"/>
      <p:regular r:id="rId16"/>
    </p:embeddedFont>
    <p:embeddedFont>
      <p:font typeface="Gothic A1 Bold" charset="1" panose="00000000000000000000"/>
      <p:regular r:id="rId17"/>
    </p:embeddedFont>
    <p:embeddedFont>
      <p:font typeface="Lovelo" charset="1" panose="020000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30842" y="6737832"/>
            <a:ext cx="4454471" cy="1675995"/>
          </a:xfrm>
          <a:custGeom>
            <a:avLst/>
            <a:gdLst/>
            <a:ahLst/>
            <a:cxnLst/>
            <a:rect r="r" b="b" t="t" l="l"/>
            <a:pathLst>
              <a:path h="1675995" w="4454471">
                <a:moveTo>
                  <a:pt x="0" y="0"/>
                </a:moveTo>
                <a:lnTo>
                  <a:pt x="4454472" y="0"/>
                </a:lnTo>
                <a:lnTo>
                  <a:pt x="4454472" y="1675995"/>
                </a:lnTo>
                <a:lnTo>
                  <a:pt x="0" y="16759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33727" y="6883242"/>
            <a:ext cx="4828061" cy="735875"/>
          </a:xfrm>
          <a:custGeom>
            <a:avLst/>
            <a:gdLst/>
            <a:ahLst/>
            <a:cxnLst/>
            <a:rect r="r" b="b" t="t" l="l"/>
            <a:pathLst>
              <a:path h="735875" w="4828061">
                <a:moveTo>
                  <a:pt x="0" y="0"/>
                </a:moveTo>
                <a:lnTo>
                  <a:pt x="4828061" y="0"/>
                </a:lnTo>
                <a:lnTo>
                  <a:pt x="4828061" y="735875"/>
                </a:lnTo>
                <a:lnTo>
                  <a:pt x="0" y="7358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758925" y="6883242"/>
            <a:ext cx="4198577" cy="1530585"/>
          </a:xfrm>
          <a:custGeom>
            <a:avLst/>
            <a:gdLst/>
            <a:ahLst/>
            <a:cxnLst/>
            <a:rect r="r" b="b" t="t" l="l"/>
            <a:pathLst>
              <a:path h="1530585" w="4198577">
                <a:moveTo>
                  <a:pt x="0" y="0"/>
                </a:moveTo>
                <a:lnTo>
                  <a:pt x="4198577" y="0"/>
                </a:lnTo>
                <a:lnTo>
                  <a:pt x="4198577" y="1530585"/>
                </a:lnTo>
                <a:lnTo>
                  <a:pt x="0" y="15305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7500" t="-75657" r="-16496" b="-69235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061788" y="499241"/>
            <a:ext cx="2448180" cy="1888283"/>
          </a:xfrm>
          <a:custGeom>
            <a:avLst/>
            <a:gdLst/>
            <a:ahLst/>
            <a:cxnLst/>
            <a:rect r="r" b="b" t="t" l="l"/>
            <a:pathLst>
              <a:path h="1888283" w="2448180">
                <a:moveTo>
                  <a:pt x="0" y="0"/>
                </a:moveTo>
                <a:lnTo>
                  <a:pt x="2448181" y="0"/>
                </a:lnTo>
                <a:lnTo>
                  <a:pt x="2448181" y="1888282"/>
                </a:lnTo>
                <a:lnTo>
                  <a:pt x="0" y="188828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30842" y="2739948"/>
            <a:ext cx="16933260" cy="2714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43"/>
              </a:lnSpc>
            </a:pPr>
            <a:r>
              <a:rPr lang="en-US" sz="5431" b="true">
                <a:solidFill>
                  <a:srgbClr val="9BBB9C"/>
                </a:solidFill>
                <a:latin typeface="Gothic A1 Medium"/>
                <a:ea typeface="Gothic A1 Medium"/>
                <a:cs typeface="Gothic A1 Medium"/>
                <a:sym typeface="Gothic A1 Medium"/>
              </a:rPr>
              <a:t>Automated Chemical Vulnerability Assessment</a:t>
            </a:r>
          </a:p>
          <a:p>
            <a:pPr algn="l">
              <a:lnSpc>
                <a:spcPts val="6843"/>
              </a:lnSpc>
            </a:pPr>
            <a:r>
              <a:rPr lang="en-US" sz="5431" b="true">
                <a:solidFill>
                  <a:srgbClr val="9BBB9C"/>
                </a:solidFill>
                <a:latin typeface="Gothic A1 Medium"/>
                <a:ea typeface="Gothic A1 Medium"/>
                <a:cs typeface="Gothic A1 Medium"/>
                <a:sym typeface="Gothic A1 Medium"/>
              </a:rPr>
              <a:t>of Canvas Paintings from XRF Spectral Imaging</a:t>
            </a:r>
          </a:p>
          <a:p>
            <a:pPr algn="l">
              <a:lnSpc>
                <a:spcPts val="6843"/>
              </a:lnSpc>
            </a:pPr>
            <a:r>
              <a:rPr lang="en-US" sz="5431" b="true">
                <a:solidFill>
                  <a:srgbClr val="9BBB9C"/>
                </a:solidFill>
                <a:latin typeface="Gothic A1 Medium"/>
                <a:ea typeface="Gothic A1 Medium"/>
                <a:cs typeface="Gothic A1 Medium"/>
                <a:sym typeface="Gothic A1 Medium"/>
              </a:rPr>
              <a:t>Using Deep Learning and Foundation Models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30842" y="5645228"/>
            <a:ext cx="15585797" cy="806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7"/>
              </a:lnSpc>
            </a:pPr>
            <a:r>
              <a:rPr lang="en-US" sz="2155">
                <a:solidFill>
                  <a:srgbClr val="456446"/>
                </a:solidFill>
                <a:latin typeface="Gothic A1"/>
                <a:ea typeface="Gothic A1"/>
                <a:cs typeface="Gothic A1"/>
                <a:sym typeface="Gothic A1"/>
              </a:rPr>
              <a:t>Dimitrije Pešić · Janko Vukobratović · Aleksandra Stojanović · Giulia Ristori · Stefano Ridolfi · Maja Gajić-Kvaščev · Goran Kvaščev</a:t>
            </a:r>
          </a:p>
          <a:p>
            <a:pPr algn="l">
              <a:lnSpc>
                <a:spcPts val="3017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84681" y="-331460"/>
            <a:ext cx="19228721" cy="10816156"/>
          </a:xfrm>
          <a:custGeom>
            <a:avLst/>
            <a:gdLst/>
            <a:ahLst/>
            <a:cxnLst/>
            <a:rect r="r" b="b" t="t" l="l"/>
            <a:pathLst>
              <a:path h="10816156" w="19228721">
                <a:moveTo>
                  <a:pt x="0" y="0"/>
                </a:moveTo>
                <a:lnTo>
                  <a:pt x="19228721" y="0"/>
                </a:lnTo>
                <a:lnTo>
                  <a:pt x="19228721" y="10816156"/>
                </a:lnTo>
                <a:lnTo>
                  <a:pt x="0" y="108161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1000"/>
            </a:blip>
            <a:stretch>
              <a:fillRect l="-1923" t="0" r="-1923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538406" y="1276084"/>
            <a:ext cx="5204740" cy="1590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087"/>
              </a:lnSpc>
              <a:spcBef>
                <a:spcPct val="0"/>
              </a:spcBef>
            </a:pPr>
            <a:r>
              <a:rPr lang="en-US" sz="8799">
                <a:solidFill>
                  <a:srgbClr val="FFFFFF"/>
                </a:solidFill>
                <a:latin typeface="Gothic A1"/>
                <a:ea typeface="Gothic A1"/>
                <a:cs typeface="Gothic A1"/>
                <a:sym typeface="Gothic A1"/>
              </a:rPr>
              <a:t>Sadržaj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38545" y="3823961"/>
            <a:ext cx="4132028" cy="969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613"/>
              </a:lnSpc>
              <a:spcBef>
                <a:spcPct val="0"/>
              </a:spcBef>
            </a:pPr>
            <a:r>
              <a:rPr lang="en-US" sz="5511">
                <a:solidFill>
                  <a:srgbClr val="FFFFFF"/>
                </a:solidFill>
                <a:latin typeface="Gothic A1"/>
                <a:ea typeface="Gothic A1"/>
                <a:cs typeface="Gothic A1"/>
                <a:sym typeface="Gothic A1"/>
              </a:rPr>
              <a:t>Motivacija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937293" y="3854726"/>
            <a:ext cx="4132028" cy="969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613"/>
              </a:lnSpc>
              <a:spcBef>
                <a:spcPct val="0"/>
              </a:spcBef>
            </a:pPr>
            <a:r>
              <a:rPr lang="en-US" sz="5511">
                <a:solidFill>
                  <a:srgbClr val="FFFFFF"/>
                </a:solidFill>
                <a:latin typeface="Gothic A1"/>
                <a:ea typeface="Gothic A1"/>
                <a:cs typeface="Gothic A1"/>
                <a:sym typeface="Gothic A1"/>
              </a:rPr>
              <a:t>Podaci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340063" y="3854726"/>
            <a:ext cx="4361558" cy="1806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613"/>
              </a:lnSpc>
              <a:spcBef>
                <a:spcPct val="0"/>
              </a:spcBef>
            </a:pPr>
            <a:r>
              <a:rPr lang="en-US" sz="5511">
                <a:solidFill>
                  <a:srgbClr val="FFFFFF"/>
                </a:solidFill>
                <a:latin typeface="Gothic A1"/>
                <a:ea typeface="Gothic A1"/>
                <a:cs typeface="Gothic A1"/>
                <a:sym typeface="Gothic A1"/>
              </a:rPr>
              <a:t>Pregled pipline-a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937289" y="6270656"/>
            <a:ext cx="4651354" cy="969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613"/>
              </a:lnSpc>
              <a:spcBef>
                <a:spcPct val="0"/>
              </a:spcBef>
            </a:pPr>
            <a:r>
              <a:rPr lang="en-US" sz="5511">
                <a:solidFill>
                  <a:srgbClr val="FFFFFF"/>
                </a:solidFill>
                <a:latin typeface="Gothic A1"/>
                <a:ea typeface="Gothic A1"/>
                <a:cs typeface="Gothic A1"/>
                <a:sym typeface="Gothic A1"/>
              </a:rPr>
              <a:t>Rezultati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38216" y="6292946"/>
            <a:ext cx="4132028" cy="969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613"/>
              </a:lnSpc>
              <a:spcBef>
                <a:spcPct val="0"/>
              </a:spcBef>
            </a:pPr>
            <a:r>
              <a:rPr lang="en-US" sz="5511">
                <a:solidFill>
                  <a:srgbClr val="FFFFFF"/>
                </a:solidFill>
                <a:latin typeface="Gothic A1"/>
                <a:ea typeface="Gothic A1"/>
                <a:cs typeface="Gothic A1"/>
                <a:sym typeface="Gothic A1"/>
              </a:rPr>
              <a:t>Proces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336037" y="6301422"/>
            <a:ext cx="4651354" cy="969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613"/>
              </a:lnSpc>
              <a:spcBef>
                <a:spcPct val="0"/>
              </a:spcBef>
            </a:pPr>
            <a:r>
              <a:rPr lang="en-US" sz="5511">
                <a:solidFill>
                  <a:srgbClr val="FFFFFF"/>
                </a:solidFill>
                <a:latin typeface="Gothic A1"/>
                <a:ea typeface="Gothic A1"/>
                <a:cs typeface="Gothic A1"/>
                <a:sym typeface="Gothic A1"/>
              </a:rPr>
              <a:t>Dalji rad</a:t>
            </a:r>
          </a:p>
        </p:txBody>
      </p:sp>
      <p:sp>
        <p:nvSpPr>
          <p:cNvPr name="AutoShape 10" id="10"/>
          <p:cNvSpPr/>
          <p:nvPr/>
        </p:nvSpPr>
        <p:spPr>
          <a:xfrm>
            <a:off x="1538212" y="3612817"/>
            <a:ext cx="3265126" cy="0"/>
          </a:xfrm>
          <a:prstGeom prst="line">
            <a:avLst/>
          </a:prstGeom>
          <a:ln cap="flat" w="571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5937536" y="6036675"/>
            <a:ext cx="3264623" cy="0"/>
          </a:xfrm>
          <a:prstGeom prst="line">
            <a:avLst/>
          </a:prstGeom>
          <a:ln cap="flat" w="571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5937289" y="3643582"/>
            <a:ext cx="3265126" cy="0"/>
          </a:xfrm>
          <a:prstGeom prst="line">
            <a:avLst/>
          </a:prstGeom>
          <a:ln cap="flat" w="571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>
            <a:off x="10340059" y="3643582"/>
            <a:ext cx="3265126" cy="0"/>
          </a:xfrm>
          <a:prstGeom prst="line">
            <a:avLst/>
          </a:prstGeom>
          <a:ln cap="flat" w="571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>
            <a:off x="1538212" y="6081802"/>
            <a:ext cx="3265126" cy="0"/>
          </a:xfrm>
          <a:prstGeom prst="line">
            <a:avLst/>
          </a:prstGeom>
          <a:ln cap="flat" w="571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10336037" y="6051036"/>
            <a:ext cx="3265126" cy="0"/>
          </a:xfrm>
          <a:prstGeom prst="line">
            <a:avLst/>
          </a:prstGeom>
          <a:ln cap="flat" w="571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034955"/>
            <a:ext cx="10210156" cy="2362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7200">
                <a:solidFill>
                  <a:srgbClr val="456446"/>
                </a:solidFill>
                <a:latin typeface="Gothic A1"/>
                <a:ea typeface="Gothic A1"/>
                <a:cs typeface="Gothic A1"/>
                <a:sym typeface="Gothic A1"/>
              </a:rPr>
              <a:t>Motivacija</a:t>
            </a:r>
          </a:p>
          <a:p>
            <a:pPr algn="l" marL="0" indent="0" lvl="0">
              <a:lnSpc>
                <a:spcPts val="8640"/>
              </a:lnSpc>
              <a:spcBef>
                <a:spcPct val="0"/>
              </a:spcBef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1126904" y="2416080"/>
            <a:ext cx="4594322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15"/>
              </a:lnSpc>
              <a:spcBef>
                <a:spcPct val="0"/>
              </a:spcBef>
            </a:pPr>
            <a:r>
              <a:rPr lang="en-US" b="true" sz="3346">
                <a:solidFill>
                  <a:srgbClr val="456446"/>
                </a:solidFill>
                <a:latin typeface="Gothic A1 Bold"/>
                <a:ea typeface="Gothic A1 Bold"/>
                <a:cs typeface="Gothic A1 Bold"/>
                <a:sym typeface="Gothic A1 Bold"/>
              </a:rPr>
              <a:t>Problem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54110" y="3272741"/>
            <a:ext cx="4588402" cy="6457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456446"/>
                </a:solidFill>
                <a:latin typeface="Gothic A1"/>
                <a:ea typeface="Gothic A1"/>
                <a:cs typeface="Gothic A1"/>
                <a:sym typeface="Gothic A1"/>
              </a:rPr>
              <a:t>Macro-XRF scanning proizvodi 7.200 spektara po skenu, sa 1024 podatka po svakom spektru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456446"/>
                </a:solidFill>
                <a:latin typeface="Gothic A1"/>
                <a:ea typeface="Gothic A1"/>
                <a:cs typeface="Gothic A1"/>
                <a:sym typeface="Gothic A1"/>
              </a:rPr>
              <a:t>Podaci su gusti i bogati informacijama, ali je njihovo tumačenje u ovom obimu izvan mogućnosti manuelne analize.</a:t>
            </a:r>
          </a:p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5959188" y="3272741"/>
            <a:ext cx="5258871" cy="539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456446"/>
                </a:solidFill>
                <a:latin typeface="Gothic A1"/>
                <a:ea typeface="Gothic A1"/>
                <a:cs typeface="Gothic A1"/>
                <a:sym typeface="Gothic A1"/>
              </a:rPr>
              <a:t>Degradacija prati poznate mehanizme: Cu pigmenti korodiraju, Pb bele boje tamne, Fe katalizuje oksidaciju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456446"/>
                </a:solidFill>
                <a:latin typeface="Gothic A1"/>
                <a:ea typeface="Gothic A1"/>
                <a:cs typeface="Gothic A1"/>
                <a:sym typeface="Gothic A1"/>
              </a:rPr>
              <a:t>Po</a:t>
            </a:r>
            <a:r>
              <a:rPr lang="en-US" sz="3000">
                <a:solidFill>
                  <a:srgbClr val="456446"/>
                </a:solidFill>
                <a:latin typeface="Gothic A1"/>
                <a:ea typeface="Gothic A1"/>
                <a:cs typeface="Gothic A1"/>
                <a:sym typeface="Gothic A1"/>
              </a:rPr>
              <a:t>stojeće procene su spore, zavise od eksperta i nisu skalabilne</a:t>
            </a:r>
          </a:p>
          <a:p>
            <a:pPr algn="l">
              <a:lnSpc>
                <a:spcPts val="4200"/>
              </a:lnSpc>
            </a:pPr>
          </a:p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1879323" y="3272741"/>
            <a:ext cx="5554567" cy="6457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456446"/>
                </a:solidFill>
                <a:latin typeface="Gothic A1"/>
                <a:ea typeface="Gothic A1"/>
                <a:cs typeface="Gothic A1"/>
                <a:sym typeface="Gothic A1"/>
              </a:rPr>
              <a:t>Postojeće deep learning arhitekture prilagođene su novom domenu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456446"/>
                </a:solidFill>
                <a:latin typeface="Gothic A1"/>
                <a:ea typeface="Gothic A1"/>
                <a:cs typeface="Gothic A1"/>
                <a:sym typeface="Gothic A1"/>
              </a:rPr>
              <a:t>Od r</a:t>
            </a:r>
            <a:r>
              <a:rPr lang="en-US" sz="3000">
                <a:solidFill>
                  <a:srgbClr val="456446"/>
                </a:solidFill>
                <a:latin typeface="Gothic A1"/>
                <a:ea typeface="Gothic A1"/>
                <a:cs typeface="Gothic A1"/>
                <a:sym typeface="Gothic A1"/>
              </a:rPr>
              <a:t>aw XRF input-a do potpuno automatizovane conservation-priority map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456446"/>
                </a:solidFill>
                <a:latin typeface="Gothic A1"/>
                <a:ea typeface="Gothic A1"/>
                <a:cs typeface="Gothic A1"/>
                <a:sym typeface="Gothic A1"/>
              </a:rPr>
              <a:t>Nisu p</a:t>
            </a:r>
            <a:r>
              <a:rPr lang="en-US" sz="3000">
                <a:solidFill>
                  <a:srgbClr val="456446"/>
                </a:solidFill>
                <a:latin typeface="Gothic A1"/>
                <a:ea typeface="Gothic A1"/>
                <a:cs typeface="Gothic A1"/>
                <a:sym typeface="Gothic A1"/>
              </a:rPr>
              <a:t>otrebni expert-labeled training data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456446"/>
                </a:solidFill>
                <a:latin typeface="Gothic A1"/>
                <a:ea typeface="Gothic A1"/>
                <a:cs typeface="Gothic A1"/>
                <a:sym typeface="Gothic A1"/>
              </a:rPr>
              <a:t>Ma</a:t>
            </a:r>
            <a:r>
              <a:rPr lang="en-US" sz="3000">
                <a:solidFill>
                  <a:srgbClr val="456446"/>
                </a:solidFill>
                <a:latin typeface="Gothic A1"/>
                <a:ea typeface="Gothic A1"/>
                <a:cs typeface="Gothic A1"/>
                <a:sym typeface="Gothic A1"/>
              </a:rPr>
              <a:t>nje od 70 sekundi na standardnom laptopu</a:t>
            </a:r>
          </a:p>
          <a:p>
            <a:pPr algn="l">
              <a:lnSpc>
                <a:spcPts val="4200"/>
              </a:lnSpc>
            </a:pPr>
          </a:p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</a:p>
        </p:txBody>
      </p:sp>
      <p:sp>
        <p:nvSpPr>
          <p:cNvPr name="AutoShape 7" id="7"/>
          <p:cNvSpPr/>
          <p:nvPr/>
        </p:nvSpPr>
        <p:spPr>
          <a:xfrm>
            <a:off x="1028700" y="986507"/>
            <a:ext cx="7066497" cy="0"/>
          </a:xfrm>
          <a:prstGeom prst="line">
            <a:avLst/>
          </a:prstGeom>
          <a:ln cap="flat" w="38100">
            <a:solidFill>
              <a:srgbClr val="45644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6291463" y="2416080"/>
            <a:ext cx="4594322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15"/>
              </a:lnSpc>
              <a:spcBef>
                <a:spcPct val="0"/>
              </a:spcBef>
            </a:pPr>
            <a:r>
              <a:rPr lang="en-US" b="true" sz="3346">
                <a:solidFill>
                  <a:srgbClr val="456446"/>
                </a:solidFill>
                <a:latin typeface="Gothic A1 Bold"/>
                <a:ea typeface="Gothic A1 Bold"/>
                <a:cs typeface="Gothic A1 Bold"/>
                <a:sym typeface="Gothic A1 Bold"/>
              </a:rPr>
              <a:t>Otkriće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185149" y="2416080"/>
            <a:ext cx="4594322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15"/>
              </a:lnSpc>
              <a:spcBef>
                <a:spcPct val="0"/>
              </a:spcBef>
            </a:pPr>
            <a:r>
              <a:rPr lang="en-US" b="true" sz="3346">
                <a:solidFill>
                  <a:srgbClr val="456446"/>
                </a:solidFill>
                <a:latin typeface="Gothic A1 Bold"/>
                <a:ea typeface="Gothic A1 Bold"/>
                <a:cs typeface="Gothic A1 Bold"/>
                <a:sym typeface="Gothic A1 Bold"/>
              </a:rPr>
              <a:t>Naš pristup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615820" y="1422150"/>
            <a:ext cx="7643480" cy="6667551"/>
          </a:xfrm>
          <a:custGeom>
            <a:avLst/>
            <a:gdLst/>
            <a:ahLst/>
            <a:cxnLst/>
            <a:rect r="r" b="b" t="t" l="l"/>
            <a:pathLst>
              <a:path h="6667551" w="7643480">
                <a:moveTo>
                  <a:pt x="0" y="0"/>
                </a:moveTo>
                <a:lnTo>
                  <a:pt x="7643480" y="0"/>
                </a:lnTo>
                <a:lnTo>
                  <a:pt x="7643480" y="6667551"/>
                </a:lnTo>
                <a:lnTo>
                  <a:pt x="0" y="66675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4356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028700" y="986507"/>
            <a:ext cx="7066497" cy="0"/>
          </a:xfrm>
          <a:prstGeom prst="line">
            <a:avLst/>
          </a:prstGeom>
          <a:ln cap="flat" w="38100">
            <a:solidFill>
              <a:srgbClr val="45644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2594161" y="3597180"/>
            <a:ext cx="4056446" cy="2884241"/>
          </a:xfrm>
          <a:custGeom>
            <a:avLst/>
            <a:gdLst/>
            <a:ahLst/>
            <a:cxnLst/>
            <a:rect r="r" b="b" t="t" l="l"/>
            <a:pathLst>
              <a:path h="2884241" w="4056446">
                <a:moveTo>
                  <a:pt x="0" y="0"/>
                </a:moveTo>
                <a:lnTo>
                  <a:pt x="4056446" y="0"/>
                </a:lnTo>
                <a:lnTo>
                  <a:pt x="4056446" y="2884241"/>
                </a:lnTo>
                <a:lnTo>
                  <a:pt x="0" y="28842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2331341" y="6765399"/>
            <a:ext cx="4582085" cy="2648604"/>
          </a:xfrm>
          <a:custGeom>
            <a:avLst/>
            <a:gdLst/>
            <a:ahLst/>
            <a:cxnLst/>
            <a:rect r="r" b="b" t="t" l="l"/>
            <a:pathLst>
              <a:path h="2648604" w="4582085">
                <a:moveTo>
                  <a:pt x="4582085" y="2648603"/>
                </a:moveTo>
                <a:lnTo>
                  <a:pt x="0" y="2648603"/>
                </a:lnTo>
                <a:lnTo>
                  <a:pt x="0" y="0"/>
                </a:lnTo>
                <a:lnTo>
                  <a:pt x="4582085" y="0"/>
                </a:lnTo>
                <a:lnTo>
                  <a:pt x="4582085" y="2648603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1034955"/>
            <a:ext cx="7629294" cy="2362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640"/>
              </a:lnSpc>
              <a:spcBef>
                <a:spcPct val="0"/>
              </a:spcBef>
            </a:pPr>
            <a:r>
              <a:rPr lang="en-US" sz="7200">
                <a:solidFill>
                  <a:srgbClr val="456446"/>
                </a:solidFill>
                <a:latin typeface="Gothic A1"/>
                <a:ea typeface="Gothic A1"/>
                <a:cs typeface="Gothic A1"/>
                <a:sym typeface="Gothic A1"/>
              </a:rPr>
              <a:t>Podaci - Spektralna analiza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E8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986507"/>
            <a:ext cx="7066497" cy="0"/>
          </a:xfrm>
          <a:prstGeom prst="line">
            <a:avLst/>
          </a:prstGeom>
          <a:ln cap="flat" w="38100">
            <a:solidFill>
              <a:srgbClr val="45644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28700" y="1034955"/>
            <a:ext cx="10210156" cy="1266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640"/>
              </a:lnSpc>
              <a:spcBef>
                <a:spcPct val="0"/>
              </a:spcBef>
            </a:pPr>
            <a:r>
              <a:rPr lang="en-US" sz="7200">
                <a:solidFill>
                  <a:srgbClr val="456446"/>
                </a:solidFill>
                <a:latin typeface="Gothic A1"/>
                <a:ea typeface="Gothic A1"/>
                <a:cs typeface="Gothic A1"/>
                <a:sym typeface="Gothic A1"/>
              </a:rPr>
              <a:t>Pregled pipeline-a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28700" y="2814808"/>
            <a:ext cx="2778363" cy="5810594"/>
            <a:chOff x="0" y="0"/>
            <a:chExt cx="3704484" cy="7747459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3704484" cy="7747459"/>
              <a:chOff x="0" y="0"/>
              <a:chExt cx="706910" cy="1478412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706910" cy="1478412"/>
              </a:xfrm>
              <a:custGeom>
                <a:avLst/>
                <a:gdLst/>
                <a:ahLst/>
                <a:cxnLst/>
                <a:rect r="r" b="b" t="t" l="l"/>
                <a:pathLst>
                  <a:path h="1478412" w="706910">
                    <a:moveTo>
                      <a:pt x="0" y="0"/>
                    </a:moveTo>
                    <a:lnTo>
                      <a:pt x="706910" y="0"/>
                    </a:lnTo>
                    <a:lnTo>
                      <a:pt x="706910" y="1478412"/>
                    </a:lnTo>
                    <a:lnTo>
                      <a:pt x="0" y="1478412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104775"/>
                <a:ext cx="706910" cy="158318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60"/>
                  </a:lnSpc>
                </a:pPr>
              </a:p>
            </p:txBody>
          </p:sp>
        </p:grpSp>
        <p:grpSp>
          <p:nvGrpSpPr>
            <p:cNvPr name="Group 8" id="8"/>
            <p:cNvGrpSpPr/>
            <p:nvPr/>
          </p:nvGrpSpPr>
          <p:grpSpPr>
            <a:xfrm rot="0">
              <a:off x="0" y="0"/>
              <a:ext cx="3704484" cy="672091"/>
              <a:chOff x="0" y="0"/>
              <a:chExt cx="706910" cy="128252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706910" cy="128252"/>
              </a:xfrm>
              <a:custGeom>
                <a:avLst/>
                <a:gdLst/>
                <a:ahLst/>
                <a:cxnLst/>
                <a:rect r="r" b="b" t="t" l="l"/>
                <a:pathLst>
                  <a:path h="128252" w="706910">
                    <a:moveTo>
                      <a:pt x="0" y="0"/>
                    </a:moveTo>
                    <a:lnTo>
                      <a:pt x="706910" y="0"/>
                    </a:lnTo>
                    <a:lnTo>
                      <a:pt x="706910" y="128252"/>
                    </a:lnTo>
                    <a:lnTo>
                      <a:pt x="0" y="128252"/>
                    </a:lnTo>
                    <a:close/>
                  </a:path>
                </a:pathLst>
              </a:custGeom>
              <a:solidFill>
                <a:srgbClr val="456446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104775"/>
                <a:ext cx="706910" cy="23302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60"/>
                  </a:lnSpc>
                </a:pPr>
              </a:p>
            </p:txBody>
          </p:sp>
        </p:grpSp>
      </p:grpSp>
      <p:sp>
        <p:nvSpPr>
          <p:cNvPr name="TextBox 11" id="11"/>
          <p:cNvSpPr txBox="true"/>
          <p:nvPr/>
        </p:nvSpPr>
        <p:spPr>
          <a:xfrm rot="0">
            <a:off x="2258249" y="3443759"/>
            <a:ext cx="319265" cy="1170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07"/>
              </a:lnSpc>
            </a:pPr>
            <a:r>
              <a:rPr lang="en-US" sz="6791">
                <a:solidFill>
                  <a:srgbClr val="456446"/>
                </a:solidFill>
                <a:latin typeface="Lovelo"/>
                <a:ea typeface="Lovelo"/>
                <a:cs typeface="Lovelo"/>
                <a:sym typeface="Lovelo"/>
              </a:rPr>
              <a:t>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64321" y="4557576"/>
            <a:ext cx="2307121" cy="1094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6"/>
              </a:lnSpc>
              <a:spcBef>
                <a:spcPct val="0"/>
              </a:spcBef>
            </a:pPr>
            <a:r>
              <a:rPr lang="en-US" b="true" sz="2313">
                <a:solidFill>
                  <a:srgbClr val="456446"/>
                </a:solidFill>
                <a:latin typeface="Gothic A1 Bold"/>
                <a:ea typeface="Gothic A1 Bold"/>
                <a:cs typeface="Gothic A1 Bold"/>
                <a:sym typeface="Gothic A1 Bold"/>
              </a:rPr>
              <a:t>Self-Supervised</a:t>
            </a:r>
          </a:p>
          <a:p>
            <a:pPr algn="ctr">
              <a:lnSpc>
                <a:spcPts val="2776"/>
              </a:lnSpc>
              <a:spcBef>
                <a:spcPct val="0"/>
              </a:spcBef>
            </a:pPr>
            <a:r>
              <a:rPr lang="en-US" b="true" sz="2313">
                <a:solidFill>
                  <a:srgbClr val="456446"/>
                </a:solidFill>
                <a:latin typeface="Gothic A1 Bold"/>
                <a:ea typeface="Gothic A1 Bold"/>
                <a:cs typeface="Gothic A1 Bold"/>
                <a:sym typeface="Gothic A1 Bold"/>
              </a:rPr>
              <a:t>Denoising</a:t>
            </a:r>
          </a:p>
          <a:p>
            <a:pPr algn="ctr">
              <a:lnSpc>
                <a:spcPts val="2776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351623" y="5595364"/>
            <a:ext cx="2132517" cy="1096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6"/>
              </a:lnSpc>
              <a:spcBef>
                <a:spcPct val="0"/>
              </a:spcBef>
            </a:pPr>
            <a:r>
              <a:rPr lang="en-US" sz="2313">
                <a:solidFill>
                  <a:srgbClr val="456446"/>
                </a:solidFill>
                <a:latin typeface="Gothic A1"/>
                <a:ea typeface="Gothic A1"/>
                <a:cs typeface="Gothic A1"/>
                <a:sym typeface="Gothic A1"/>
              </a:rPr>
              <a:t>1D U</a:t>
            </a:r>
            <a:r>
              <a:rPr lang="en-US" sz="2313">
                <a:solidFill>
                  <a:srgbClr val="456446"/>
                </a:solidFill>
                <a:latin typeface="Gothic A1"/>
                <a:ea typeface="Gothic A1"/>
                <a:cs typeface="Gothic A1"/>
                <a:sym typeface="Gothic A1"/>
              </a:rPr>
              <a:t>-Net</a:t>
            </a:r>
          </a:p>
          <a:p>
            <a:pPr algn="ctr">
              <a:lnSpc>
                <a:spcPts val="2776"/>
              </a:lnSpc>
              <a:spcBef>
                <a:spcPct val="0"/>
              </a:spcBef>
            </a:pPr>
            <a:r>
              <a:rPr lang="en-US" sz="2313">
                <a:solidFill>
                  <a:srgbClr val="456446"/>
                </a:solidFill>
                <a:latin typeface="Gothic A1"/>
                <a:ea typeface="Gothic A1"/>
                <a:cs typeface="Gothic A1"/>
                <a:sym typeface="Gothic A1"/>
              </a:rPr>
              <a:t>Poisson splitting</a:t>
            </a:r>
          </a:p>
          <a:p>
            <a:pPr algn="ctr">
              <a:lnSpc>
                <a:spcPts val="2776"/>
              </a:lnSpc>
              <a:spcBef>
                <a:spcPct val="0"/>
              </a:spcBef>
            </a:pPr>
          </a:p>
        </p:txBody>
      </p:sp>
      <p:grpSp>
        <p:nvGrpSpPr>
          <p:cNvPr name="Group 14" id="14"/>
          <p:cNvGrpSpPr/>
          <p:nvPr/>
        </p:nvGrpSpPr>
        <p:grpSpPr>
          <a:xfrm rot="0">
            <a:off x="4391759" y="2860051"/>
            <a:ext cx="2778363" cy="5765351"/>
            <a:chOff x="0" y="0"/>
            <a:chExt cx="3704484" cy="7687135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3704484" cy="7687135"/>
              <a:chOff x="0" y="0"/>
              <a:chExt cx="706910" cy="14669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706910" cy="1466900"/>
              </a:xfrm>
              <a:custGeom>
                <a:avLst/>
                <a:gdLst/>
                <a:ahLst/>
                <a:cxnLst/>
                <a:rect r="r" b="b" t="t" l="l"/>
                <a:pathLst>
                  <a:path h="1466900" w="706910">
                    <a:moveTo>
                      <a:pt x="0" y="0"/>
                    </a:moveTo>
                    <a:lnTo>
                      <a:pt x="706910" y="0"/>
                    </a:lnTo>
                    <a:lnTo>
                      <a:pt x="706910" y="1466900"/>
                    </a:lnTo>
                    <a:lnTo>
                      <a:pt x="0" y="146690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104775"/>
                <a:ext cx="706910" cy="15716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60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0" y="0"/>
              <a:ext cx="3704484" cy="666858"/>
              <a:chOff x="0" y="0"/>
              <a:chExt cx="706910" cy="127253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706910" cy="127253"/>
              </a:xfrm>
              <a:custGeom>
                <a:avLst/>
                <a:gdLst/>
                <a:ahLst/>
                <a:cxnLst/>
                <a:rect r="r" b="b" t="t" l="l"/>
                <a:pathLst>
                  <a:path h="127253" w="706910">
                    <a:moveTo>
                      <a:pt x="0" y="0"/>
                    </a:moveTo>
                    <a:lnTo>
                      <a:pt x="706910" y="0"/>
                    </a:lnTo>
                    <a:lnTo>
                      <a:pt x="706910" y="127253"/>
                    </a:lnTo>
                    <a:lnTo>
                      <a:pt x="0" y="127253"/>
                    </a:lnTo>
                    <a:close/>
                  </a:path>
                </a:pathLst>
              </a:custGeom>
              <a:solidFill>
                <a:srgbClr val="456446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104775"/>
                <a:ext cx="706910" cy="23202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60"/>
                  </a:lnSpc>
                </a:pPr>
              </a:p>
            </p:txBody>
          </p:sp>
        </p:grpSp>
      </p:grpSp>
      <p:sp>
        <p:nvSpPr>
          <p:cNvPr name="TextBox 21" id="21"/>
          <p:cNvSpPr txBox="true"/>
          <p:nvPr/>
        </p:nvSpPr>
        <p:spPr>
          <a:xfrm rot="0">
            <a:off x="5556172" y="3489003"/>
            <a:ext cx="449537" cy="1170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07"/>
              </a:lnSpc>
            </a:pPr>
            <a:r>
              <a:rPr lang="en-US" sz="6791">
                <a:solidFill>
                  <a:srgbClr val="456446"/>
                </a:solidFill>
                <a:latin typeface="Lovelo"/>
                <a:ea typeface="Lovelo"/>
                <a:cs typeface="Lovelo"/>
                <a:sym typeface="Lovelo"/>
              </a:rPr>
              <a:t>2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056797" y="4602819"/>
            <a:ext cx="1448287" cy="1094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6"/>
              </a:lnSpc>
              <a:spcBef>
                <a:spcPct val="0"/>
              </a:spcBef>
            </a:pPr>
            <a:r>
              <a:rPr lang="en-US" b="true" sz="2313">
                <a:solidFill>
                  <a:srgbClr val="456446"/>
                </a:solidFill>
                <a:latin typeface="Gothic A1 Bold"/>
                <a:ea typeface="Gothic A1 Bold"/>
                <a:cs typeface="Gothic A1 Bold"/>
                <a:sym typeface="Gothic A1 Bold"/>
              </a:rPr>
              <a:t>Elem</a:t>
            </a:r>
            <a:r>
              <a:rPr lang="en-US" b="true" sz="2313">
                <a:solidFill>
                  <a:srgbClr val="456446"/>
                </a:solidFill>
                <a:latin typeface="Gothic A1 Bold"/>
                <a:ea typeface="Gothic A1 Bold"/>
                <a:cs typeface="Gothic A1 Bold"/>
                <a:sym typeface="Gothic A1 Bold"/>
              </a:rPr>
              <a:t>ental</a:t>
            </a:r>
          </a:p>
          <a:p>
            <a:pPr algn="ctr">
              <a:lnSpc>
                <a:spcPts val="2776"/>
              </a:lnSpc>
              <a:spcBef>
                <a:spcPct val="0"/>
              </a:spcBef>
            </a:pPr>
            <a:r>
              <a:rPr lang="en-US" b="true" sz="2313">
                <a:solidFill>
                  <a:srgbClr val="456446"/>
                </a:solidFill>
                <a:latin typeface="Gothic A1 Bold"/>
                <a:ea typeface="Gothic A1 Bold"/>
                <a:cs typeface="Gothic A1 Bold"/>
                <a:sym typeface="Gothic A1 Bold"/>
              </a:rPr>
              <a:t>Extraction</a:t>
            </a:r>
          </a:p>
          <a:p>
            <a:pPr algn="ctr">
              <a:lnSpc>
                <a:spcPts val="2776"/>
              </a:lnSpc>
              <a:spcBef>
                <a:spcPct val="0"/>
              </a:spcBef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4593717" y="5595364"/>
            <a:ext cx="2374448" cy="1442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6"/>
              </a:lnSpc>
              <a:spcBef>
                <a:spcPct val="0"/>
              </a:spcBef>
            </a:pPr>
            <a:r>
              <a:rPr lang="en-US" sz="2313">
                <a:solidFill>
                  <a:srgbClr val="456446"/>
                </a:solidFill>
                <a:latin typeface="Gothic A1"/>
                <a:ea typeface="Gothic A1"/>
                <a:cs typeface="Gothic A1"/>
                <a:sym typeface="Gothic A1"/>
              </a:rPr>
              <a:t>5</a:t>
            </a:r>
            <a:r>
              <a:rPr lang="en-US" sz="2313">
                <a:solidFill>
                  <a:srgbClr val="456446"/>
                </a:solidFill>
                <a:latin typeface="Gothic A1"/>
                <a:ea typeface="Gothic A1"/>
                <a:cs typeface="Gothic A1"/>
                <a:sym typeface="Gothic A1"/>
              </a:rPr>
              <a:t>-pt calibration</a:t>
            </a:r>
          </a:p>
          <a:p>
            <a:pPr algn="ctr">
              <a:lnSpc>
                <a:spcPts val="2776"/>
              </a:lnSpc>
              <a:spcBef>
                <a:spcPct val="0"/>
              </a:spcBef>
            </a:pPr>
            <a:r>
              <a:rPr lang="en-US" sz="2313">
                <a:solidFill>
                  <a:srgbClr val="456446"/>
                </a:solidFill>
                <a:latin typeface="Gothic A1"/>
                <a:ea typeface="Gothic A1"/>
                <a:cs typeface="Gothic A1"/>
                <a:sym typeface="Gothic A1"/>
              </a:rPr>
              <a:t>ROI + background sub.</a:t>
            </a:r>
          </a:p>
          <a:p>
            <a:pPr algn="ctr">
              <a:lnSpc>
                <a:spcPts val="2776"/>
              </a:lnSpc>
              <a:spcBef>
                <a:spcPct val="0"/>
              </a:spcBef>
            </a:pPr>
          </a:p>
        </p:txBody>
      </p:sp>
      <p:grpSp>
        <p:nvGrpSpPr>
          <p:cNvPr name="Group 24" id="24"/>
          <p:cNvGrpSpPr/>
          <p:nvPr/>
        </p:nvGrpSpPr>
        <p:grpSpPr>
          <a:xfrm rot="0">
            <a:off x="7754818" y="2905294"/>
            <a:ext cx="2778363" cy="5720108"/>
            <a:chOff x="0" y="0"/>
            <a:chExt cx="3704484" cy="7626811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0"/>
              <a:ext cx="3704484" cy="7626811"/>
              <a:chOff x="0" y="0"/>
              <a:chExt cx="706910" cy="1455389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706910" cy="1455389"/>
              </a:xfrm>
              <a:custGeom>
                <a:avLst/>
                <a:gdLst/>
                <a:ahLst/>
                <a:cxnLst/>
                <a:rect r="r" b="b" t="t" l="l"/>
                <a:pathLst>
                  <a:path h="1455389" w="706910">
                    <a:moveTo>
                      <a:pt x="0" y="0"/>
                    </a:moveTo>
                    <a:lnTo>
                      <a:pt x="706910" y="0"/>
                    </a:lnTo>
                    <a:lnTo>
                      <a:pt x="706910" y="1455389"/>
                    </a:lnTo>
                    <a:lnTo>
                      <a:pt x="0" y="1455389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104775"/>
                <a:ext cx="706910" cy="156016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60"/>
                  </a:lnSpc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0" y="0"/>
              <a:ext cx="3704484" cy="661625"/>
              <a:chOff x="0" y="0"/>
              <a:chExt cx="706910" cy="126255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706910" cy="126255"/>
              </a:xfrm>
              <a:custGeom>
                <a:avLst/>
                <a:gdLst/>
                <a:ahLst/>
                <a:cxnLst/>
                <a:rect r="r" b="b" t="t" l="l"/>
                <a:pathLst>
                  <a:path h="126255" w="706910">
                    <a:moveTo>
                      <a:pt x="0" y="0"/>
                    </a:moveTo>
                    <a:lnTo>
                      <a:pt x="706910" y="0"/>
                    </a:lnTo>
                    <a:lnTo>
                      <a:pt x="706910" y="126255"/>
                    </a:lnTo>
                    <a:lnTo>
                      <a:pt x="0" y="126255"/>
                    </a:lnTo>
                    <a:close/>
                  </a:path>
                </a:pathLst>
              </a:custGeom>
              <a:solidFill>
                <a:srgbClr val="456446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104775"/>
                <a:ext cx="706910" cy="23103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60"/>
                  </a:lnSpc>
                </a:pPr>
              </a:p>
            </p:txBody>
          </p:sp>
        </p:grpSp>
      </p:grpSp>
      <p:sp>
        <p:nvSpPr>
          <p:cNvPr name="TextBox 31" id="31"/>
          <p:cNvSpPr txBox="true"/>
          <p:nvPr/>
        </p:nvSpPr>
        <p:spPr>
          <a:xfrm rot="0">
            <a:off x="8928376" y="3534246"/>
            <a:ext cx="431248" cy="1170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07"/>
              </a:lnSpc>
            </a:pPr>
            <a:r>
              <a:rPr lang="en-US" sz="6791">
                <a:solidFill>
                  <a:srgbClr val="456446"/>
                </a:solidFill>
                <a:latin typeface="Lovelo"/>
                <a:ea typeface="Lovelo"/>
                <a:cs typeface="Lovelo"/>
                <a:sym typeface="Lovelo"/>
              </a:rPr>
              <a:t>3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8163696" y="4648062"/>
            <a:ext cx="1960607" cy="1094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6"/>
              </a:lnSpc>
              <a:spcBef>
                <a:spcPct val="0"/>
              </a:spcBef>
            </a:pPr>
            <a:r>
              <a:rPr lang="en-US" b="true" sz="2313">
                <a:solidFill>
                  <a:srgbClr val="456446"/>
                </a:solidFill>
                <a:latin typeface="Gothic A1 Bold"/>
                <a:ea typeface="Gothic A1 Bold"/>
                <a:cs typeface="Gothic A1 Bold"/>
                <a:sym typeface="Gothic A1 Bold"/>
              </a:rPr>
              <a:t>NMF</a:t>
            </a:r>
          </a:p>
          <a:p>
            <a:pPr algn="ctr">
              <a:lnSpc>
                <a:spcPts val="2776"/>
              </a:lnSpc>
              <a:spcBef>
                <a:spcPct val="0"/>
              </a:spcBef>
            </a:pPr>
            <a:r>
              <a:rPr lang="en-US" b="true" sz="2313">
                <a:solidFill>
                  <a:srgbClr val="456446"/>
                </a:solidFill>
                <a:latin typeface="Gothic A1 Bold"/>
                <a:ea typeface="Gothic A1 Bold"/>
                <a:cs typeface="Gothic A1 Bold"/>
                <a:sym typeface="Gothic A1 Bold"/>
              </a:rPr>
              <a:t>Corroboration</a:t>
            </a:r>
          </a:p>
          <a:p>
            <a:pPr algn="ctr">
              <a:lnSpc>
                <a:spcPts val="2776"/>
              </a:lnSpc>
              <a:spcBef>
                <a:spcPct val="0"/>
              </a:spcBef>
            </a:pPr>
          </a:p>
        </p:txBody>
      </p:sp>
      <p:sp>
        <p:nvSpPr>
          <p:cNvPr name="TextBox 33" id="33"/>
          <p:cNvSpPr txBox="true"/>
          <p:nvPr/>
        </p:nvSpPr>
        <p:spPr>
          <a:xfrm rot="0">
            <a:off x="8052825" y="5595364"/>
            <a:ext cx="2182351" cy="1096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6"/>
              </a:lnSpc>
              <a:spcBef>
                <a:spcPct val="0"/>
              </a:spcBef>
            </a:pPr>
            <a:r>
              <a:rPr lang="en-US" sz="2313">
                <a:solidFill>
                  <a:srgbClr val="456446"/>
                </a:solidFill>
                <a:latin typeface="Gothic A1"/>
                <a:ea typeface="Gothic A1"/>
                <a:cs typeface="Gothic A1"/>
                <a:sym typeface="Gothic A1"/>
              </a:rPr>
              <a:t>K=5 c</a:t>
            </a:r>
            <a:r>
              <a:rPr lang="en-US" sz="2313">
                <a:solidFill>
                  <a:srgbClr val="456446"/>
                </a:solidFill>
                <a:latin typeface="Gothic A1"/>
                <a:ea typeface="Gothic A1"/>
                <a:cs typeface="Gothic A1"/>
                <a:sym typeface="Gothic A1"/>
              </a:rPr>
              <a:t>omponents</a:t>
            </a:r>
          </a:p>
          <a:p>
            <a:pPr algn="ctr">
              <a:lnSpc>
                <a:spcPts val="2776"/>
              </a:lnSpc>
              <a:spcBef>
                <a:spcPct val="0"/>
              </a:spcBef>
            </a:pPr>
            <a:r>
              <a:rPr lang="en-US" sz="2313">
                <a:solidFill>
                  <a:srgbClr val="456446"/>
                </a:solidFill>
                <a:latin typeface="Gothic A1"/>
                <a:ea typeface="Gothic A1"/>
                <a:cs typeface="Gothic A1"/>
                <a:sym typeface="Gothic A1"/>
              </a:rPr>
              <a:t>&lt;5% recon. error</a:t>
            </a:r>
          </a:p>
          <a:p>
            <a:pPr algn="ctr">
              <a:lnSpc>
                <a:spcPts val="2776"/>
              </a:lnSpc>
              <a:spcBef>
                <a:spcPct val="0"/>
              </a:spcBef>
            </a:pPr>
          </a:p>
        </p:txBody>
      </p:sp>
      <p:grpSp>
        <p:nvGrpSpPr>
          <p:cNvPr name="Group 34" id="34"/>
          <p:cNvGrpSpPr/>
          <p:nvPr/>
        </p:nvGrpSpPr>
        <p:grpSpPr>
          <a:xfrm rot="0">
            <a:off x="11117878" y="2950538"/>
            <a:ext cx="2778363" cy="5674865"/>
            <a:chOff x="0" y="0"/>
            <a:chExt cx="3704484" cy="7566486"/>
          </a:xfrm>
        </p:grpSpPr>
        <p:grpSp>
          <p:nvGrpSpPr>
            <p:cNvPr name="Group 35" id="35"/>
            <p:cNvGrpSpPr/>
            <p:nvPr/>
          </p:nvGrpSpPr>
          <p:grpSpPr>
            <a:xfrm rot="0">
              <a:off x="0" y="0"/>
              <a:ext cx="3704484" cy="7566486"/>
              <a:chOff x="0" y="0"/>
              <a:chExt cx="706910" cy="1443877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706910" cy="1443877"/>
              </a:xfrm>
              <a:custGeom>
                <a:avLst/>
                <a:gdLst/>
                <a:ahLst/>
                <a:cxnLst/>
                <a:rect r="r" b="b" t="t" l="l"/>
                <a:pathLst>
                  <a:path h="1443877" w="706910">
                    <a:moveTo>
                      <a:pt x="0" y="0"/>
                    </a:moveTo>
                    <a:lnTo>
                      <a:pt x="706910" y="0"/>
                    </a:lnTo>
                    <a:lnTo>
                      <a:pt x="706910" y="1443877"/>
                    </a:lnTo>
                    <a:lnTo>
                      <a:pt x="0" y="1443877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-104775"/>
                <a:ext cx="706910" cy="154865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60"/>
                  </a:lnSpc>
                </a:pPr>
              </a:p>
            </p:txBody>
          </p:sp>
        </p:grpSp>
        <p:grpSp>
          <p:nvGrpSpPr>
            <p:cNvPr name="Group 38" id="38"/>
            <p:cNvGrpSpPr/>
            <p:nvPr/>
          </p:nvGrpSpPr>
          <p:grpSpPr>
            <a:xfrm rot="0">
              <a:off x="0" y="0"/>
              <a:ext cx="3704484" cy="656392"/>
              <a:chOff x="0" y="0"/>
              <a:chExt cx="706910" cy="125256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706910" cy="125256"/>
              </a:xfrm>
              <a:custGeom>
                <a:avLst/>
                <a:gdLst/>
                <a:ahLst/>
                <a:cxnLst/>
                <a:rect r="r" b="b" t="t" l="l"/>
                <a:pathLst>
                  <a:path h="125256" w="706910">
                    <a:moveTo>
                      <a:pt x="0" y="0"/>
                    </a:moveTo>
                    <a:lnTo>
                      <a:pt x="706910" y="0"/>
                    </a:lnTo>
                    <a:lnTo>
                      <a:pt x="706910" y="125256"/>
                    </a:lnTo>
                    <a:lnTo>
                      <a:pt x="0" y="125256"/>
                    </a:lnTo>
                    <a:close/>
                  </a:path>
                </a:pathLst>
              </a:custGeom>
              <a:solidFill>
                <a:srgbClr val="456446"/>
              </a:solidFill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0" y="-104775"/>
                <a:ext cx="706910" cy="23003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60"/>
                  </a:lnSpc>
                </a:pPr>
              </a:p>
            </p:txBody>
          </p:sp>
        </p:grpSp>
      </p:grpSp>
      <p:sp>
        <p:nvSpPr>
          <p:cNvPr name="TextBox 41" id="41"/>
          <p:cNvSpPr txBox="true"/>
          <p:nvPr/>
        </p:nvSpPr>
        <p:spPr>
          <a:xfrm rot="0">
            <a:off x="12274108" y="3579489"/>
            <a:ext cx="465902" cy="1170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07"/>
              </a:lnSpc>
            </a:pPr>
            <a:r>
              <a:rPr lang="en-US" sz="6791">
                <a:solidFill>
                  <a:srgbClr val="456446"/>
                </a:solidFill>
                <a:latin typeface="Lovelo"/>
                <a:ea typeface="Lovelo"/>
                <a:cs typeface="Lovelo"/>
                <a:sym typeface="Lovelo"/>
              </a:rPr>
              <a:t>4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1623318" y="4693305"/>
            <a:ext cx="1767483" cy="1440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6"/>
              </a:lnSpc>
              <a:spcBef>
                <a:spcPct val="0"/>
              </a:spcBef>
            </a:pPr>
            <a:r>
              <a:rPr lang="en-US" b="true" sz="2313">
                <a:solidFill>
                  <a:srgbClr val="456446"/>
                </a:solidFill>
                <a:latin typeface="Gothic A1 Bold"/>
                <a:ea typeface="Gothic A1 Bold"/>
                <a:cs typeface="Gothic A1 Bold"/>
                <a:sym typeface="Gothic A1 Bold"/>
              </a:rPr>
              <a:t>Ch</a:t>
            </a:r>
            <a:r>
              <a:rPr lang="en-US" b="true" sz="2313">
                <a:solidFill>
                  <a:srgbClr val="456446"/>
                </a:solidFill>
                <a:latin typeface="Gothic A1 Bold"/>
                <a:ea typeface="Gothic A1 Bold"/>
                <a:cs typeface="Gothic A1 Bold"/>
                <a:sym typeface="Gothic A1 Bold"/>
              </a:rPr>
              <a:t>emical</a:t>
            </a:r>
          </a:p>
          <a:p>
            <a:pPr algn="ctr">
              <a:lnSpc>
                <a:spcPts val="2776"/>
              </a:lnSpc>
              <a:spcBef>
                <a:spcPct val="0"/>
              </a:spcBef>
            </a:pPr>
            <a:r>
              <a:rPr lang="en-US" b="true" sz="2313">
                <a:solidFill>
                  <a:srgbClr val="456446"/>
                </a:solidFill>
                <a:latin typeface="Gothic A1 Bold"/>
                <a:ea typeface="Gothic A1 Bold"/>
                <a:cs typeface="Gothic A1 Bold"/>
                <a:sym typeface="Gothic A1 Bold"/>
              </a:rPr>
              <a:t>Vulnerability</a:t>
            </a:r>
          </a:p>
          <a:p>
            <a:pPr algn="ctr">
              <a:lnSpc>
                <a:spcPts val="2776"/>
              </a:lnSpc>
              <a:spcBef>
                <a:spcPct val="0"/>
              </a:spcBef>
            </a:pPr>
            <a:r>
              <a:rPr lang="en-US" b="true" sz="2313">
                <a:solidFill>
                  <a:srgbClr val="456446"/>
                </a:solidFill>
                <a:latin typeface="Gothic A1 Bold"/>
                <a:ea typeface="Gothic A1 Bold"/>
                <a:cs typeface="Gothic A1 Bold"/>
                <a:sym typeface="Gothic A1 Bold"/>
              </a:rPr>
              <a:t>Index</a:t>
            </a:r>
          </a:p>
          <a:p>
            <a:pPr algn="ctr">
              <a:lnSpc>
                <a:spcPts val="2776"/>
              </a:lnSpc>
              <a:spcBef>
                <a:spcPct val="0"/>
              </a:spcBef>
            </a:pPr>
          </a:p>
        </p:txBody>
      </p:sp>
      <p:sp>
        <p:nvSpPr>
          <p:cNvPr name="TextBox 43" id="43"/>
          <p:cNvSpPr txBox="true"/>
          <p:nvPr/>
        </p:nvSpPr>
        <p:spPr>
          <a:xfrm rot="0">
            <a:off x="11816348" y="5936248"/>
            <a:ext cx="1381423" cy="750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6"/>
              </a:lnSpc>
            </a:pPr>
            <a:r>
              <a:rPr lang="en-US" sz="2313">
                <a:solidFill>
                  <a:srgbClr val="456446"/>
                </a:solidFill>
                <a:latin typeface="Gothic A1"/>
                <a:ea typeface="Gothic A1"/>
                <a:cs typeface="Gothic A1"/>
                <a:sym typeface="Gothic A1"/>
              </a:rPr>
              <a:t>5 koef. </a:t>
            </a:r>
          </a:p>
          <a:p>
            <a:pPr algn="ctr">
              <a:lnSpc>
                <a:spcPts val="2776"/>
              </a:lnSpc>
              <a:spcBef>
                <a:spcPct val="0"/>
              </a:spcBef>
            </a:pPr>
            <a:r>
              <a:rPr lang="en-US" sz="2313">
                <a:solidFill>
                  <a:srgbClr val="456446"/>
                </a:solidFill>
                <a:latin typeface="Gothic A1"/>
                <a:ea typeface="Gothic A1"/>
                <a:cs typeface="Gothic A1"/>
                <a:sym typeface="Gothic A1"/>
              </a:rPr>
              <a:t>Geom. avg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14480937" y="2995781"/>
            <a:ext cx="2778363" cy="5629622"/>
            <a:chOff x="0" y="0"/>
            <a:chExt cx="3704484" cy="7506162"/>
          </a:xfrm>
        </p:grpSpPr>
        <p:grpSp>
          <p:nvGrpSpPr>
            <p:cNvPr name="Group 45" id="45"/>
            <p:cNvGrpSpPr/>
            <p:nvPr/>
          </p:nvGrpSpPr>
          <p:grpSpPr>
            <a:xfrm rot="0">
              <a:off x="0" y="0"/>
              <a:ext cx="3704484" cy="7506162"/>
              <a:chOff x="0" y="0"/>
              <a:chExt cx="706910" cy="1432366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706910" cy="1432366"/>
              </a:xfrm>
              <a:custGeom>
                <a:avLst/>
                <a:gdLst/>
                <a:ahLst/>
                <a:cxnLst/>
                <a:rect r="r" b="b" t="t" l="l"/>
                <a:pathLst>
                  <a:path h="1432366" w="706910">
                    <a:moveTo>
                      <a:pt x="0" y="0"/>
                    </a:moveTo>
                    <a:lnTo>
                      <a:pt x="706910" y="0"/>
                    </a:lnTo>
                    <a:lnTo>
                      <a:pt x="706910" y="1432366"/>
                    </a:lnTo>
                    <a:lnTo>
                      <a:pt x="0" y="143236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0" y="-104775"/>
                <a:ext cx="706910" cy="153714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60"/>
                  </a:lnSpc>
                </a:pPr>
              </a:p>
            </p:txBody>
          </p:sp>
        </p:grpSp>
        <p:grpSp>
          <p:nvGrpSpPr>
            <p:cNvPr name="Group 48" id="48"/>
            <p:cNvGrpSpPr/>
            <p:nvPr/>
          </p:nvGrpSpPr>
          <p:grpSpPr>
            <a:xfrm rot="0">
              <a:off x="0" y="0"/>
              <a:ext cx="3704484" cy="651159"/>
              <a:chOff x="0" y="0"/>
              <a:chExt cx="706910" cy="124258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706910" cy="124258"/>
              </a:xfrm>
              <a:custGeom>
                <a:avLst/>
                <a:gdLst/>
                <a:ahLst/>
                <a:cxnLst/>
                <a:rect r="r" b="b" t="t" l="l"/>
                <a:pathLst>
                  <a:path h="124258" w="706910">
                    <a:moveTo>
                      <a:pt x="0" y="0"/>
                    </a:moveTo>
                    <a:lnTo>
                      <a:pt x="706910" y="0"/>
                    </a:lnTo>
                    <a:lnTo>
                      <a:pt x="706910" y="124258"/>
                    </a:lnTo>
                    <a:lnTo>
                      <a:pt x="0" y="124258"/>
                    </a:lnTo>
                    <a:close/>
                  </a:path>
                </a:pathLst>
              </a:custGeom>
              <a:solidFill>
                <a:srgbClr val="456446"/>
              </a:solidFill>
            </p:spPr>
          </p:sp>
          <p:sp>
            <p:nvSpPr>
              <p:cNvPr name="TextBox 50" id="50"/>
              <p:cNvSpPr txBox="true"/>
              <p:nvPr/>
            </p:nvSpPr>
            <p:spPr>
              <a:xfrm>
                <a:off x="0" y="-104775"/>
                <a:ext cx="706910" cy="2290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60"/>
                  </a:lnSpc>
                </a:pPr>
              </a:p>
            </p:txBody>
          </p:sp>
        </p:grpSp>
      </p:grpSp>
      <p:sp>
        <p:nvSpPr>
          <p:cNvPr name="TextBox 51" id="51"/>
          <p:cNvSpPr txBox="true"/>
          <p:nvPr/>
        </p:nvSpPr>
        <p:spPr>
          <a:xfrm rot="0">
            <a:off x="15643585" y="3624732"/>
            <a:ext cx="453067" cy="1170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07"/>
              </a:lnSpc>
            </a:pPr>
            <a:r>
              <a:rPr lang="en-US" sz="6791">
                <a:solidFill>
                  <a:srgbClr val="456446"/>
                </a:solidFill>
                <a:latin typeface="Lovelo"/>
                <a:ea typeface="Lovelo"/>
                <a:cs typeface="Lovelo"/>
                <a:sym typeface="Lovelo"/>
              </a:rPr>
              <a:t>5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4890107" y="4738548"/>
            <a:ext cx="1960023" cy="1094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6"/>
              </a:lnSpc>
              <a:spcBef>
                <a:spcPct val="0"/>
              </a:spcBef>
            </a:pPr>
            <a:r>
              <a:rPr lang="en-US" b="true" sz="2313">
                <a:solidFill>
                  <a:srgbClr val="456446"/>
                </a:solidFill>
                <a:latin typeface="Gothic A1 Bold"/>
                <a:ea typeface="Gothic A1 Bold"/>
                <a:cs typeface="Gothic A1 Bold"/>
                <a:sym typeface="Gothic A1 Bold"/>
              </a:rPr>
              <a:t>SAM Region</a:t>
            </a:r>
          </a:p>
          <a:p>
            <a:pPr algn="ctr">
              <a:lnSpc>
                <a:spcPts val="2776"/>
              </a:lnSpc>
              <a:spcBef>
                <a:spcPct val="0"/>
              </a:spcBef>
            </a:pPr>
            <a:r>
              <a:rPr lang="en-US" b="true" sz="2313">
                <a:solidFill>
                  <a:srgbClr val="456446"/>
                </a:solidFill>
                <a:latin typeface="Gothic A1 Bold"/>
                <a:ea typeface="Gothic A1 Bold"/>
                <a:cs typeface="Gothic A1 Bold"/>
                <a:sym typeface="Gothic A1 Bold"/>
              </a:rPr>
              <a:t>Segmentation</a:t>
            </a:r>
          </a:p>
          <a:p>
            <a:pPr algn="ctr">
              <a:lnSpc>
                <a:spcPts val="2776"/>
              </a:lnSpc>
              <a:spcBef>
                <a:spcPct val="0"/>
              </a:spcBef>
            </a:pPr>
          </a:p>
        </p:txBody>
      </p:sp>
      <p:sp>
        <p:nvSpPr>
          <p:cNvPr name="TextBox 53" id="53"/>
          <p:cNvSpPr txBox="true"/>
          <p:nvPr/>
        </p:nvSpPr>
        <p:spPr>
          <a:xfrm rot="0">
            <a:off x="14916345" y="5776336"/>
            <a:ext cx="1907547" cy="1096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6"/>
              </a:lnSpc>
              <a:spcBef>
                <a:spcPct val="0"/>
              </a:spcBef>
            </a:pPr>
            <a:r>
              <a:rPr lang="en-US" sz="2313">
                <a:solidFill>
                  <a:srgbClr val="456446"/>
                </a:solidFill>
                <a:latin typeface="Gothic A1"/>
                <a:ea typeface="Gothic A1"/>
                <a:cs typeface="Gothic A1"/>
                <a:sym typeface="Gothic A1"/>
              </a:rPr>
              <a:t>13 r</a:t>
            </a:r>
            <a:r>
              <a:rPr lang="en-US" sz="2313">
                <a:solidFill>
                  <a:srgbClr val="456446"/>
                </a:solidFill>
                <a:latin typeface="Gothic A1"/>
                <a:ea typeface="Gothic A1"/>
                <a:cs typeface="Gothic A1"/>
                <a:sym typeface="Gothic A1"/>
              </a:rPr>
              <a:t>egiona</a:t>
            </a:r>
          </a:p>
          <a:p>
            <a:pPr algn="ctr">
              <a:lnSpc>
                <a:spcPts val="2776"/>
              </a:lnSpc>
              <a:spcBef>
                <a:spcPct val="0"/>
              </a:spcBef>
            </a:pPr>
            <a:r>
              <a:rPr lang="en-US" sz="2313">
                <a:solidFill>
                  <a:srgbClr val="456446"/>
                </a:solidFill>
                <a:latin typeface="Gothic A1"/>
                <a:ea typeface="Gothic A1"/>
                <a:cs typeface="Gothic A1"/>
                <a:sym typeface="Gothic A1"/>
              </a:rPr>
              <a:t>Per-region CVI</a:t>
            </a:r>
          </a:p>
          <a:p>
            <a:pPr algn="ctr">
              <a:lnSpc>
                <a:spcPts val="2776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986507"/>
            <a:ext cx="7066497" cy="0"/>
          </a:xfrm>
          <a:prstGeom prst="line">
            <a:avLst/>
          </a:prstGeom>
          <a:ln cap="flat" w="38100">
            <a:solidFill>
              <a:srgbClr val="45644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28700" y="1034955"/>
            <a:ext cx="14116543" cy="1266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640"/>
              </a:lnSpc>
              <a:spcBef>
                <a:spcPct val="0"/>
              </a:spcBef>
            </a:pPr>
            <a:r>
              <a:rPr lang="en-US" sz="7200">
                <a:solidFill>
                  <a:srgbClr val="456446"/>
                </a:solidFill>
                <a:latin typeface="Gothic A1"/>
                <a:ea typeface="Gothic A1"/>
                <a:cs typeface="Gothic A1"/>
                <a:sym typeface="Gothic A1"/>
              </a:rPr>
              <a:t>Proces - CVI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28700" y="5381308"/>
            <a:ext cx="8711659" cy="1599313"/>
            <a:chOff x="0" y="0"/>
            <a:chExt cx="11615546" cy="2132417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865700"/>
              <a:ext cx="2533434" cy="1266717"/>
              <a:chOff x="0" y="0"/>
              <a:chExt cx="812800" cy="4064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812800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406400"/>
                    </a:lnTo>
                    <a:lnTo>
                      <a:pt x="0" y="406400"/>
                    </a:lnTo>
                    <a:close/>
                  </a:path>
                </a:pathLst>
              </a:custGeom>
              <a:solidFill>
                <a:srgbClr val="BFECAC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57150"/>
                <a:ext cx="812800" cy="463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76"/>
                  </a:lnSpc>
                </a:pPr>
                <a:r>
                  <a:rPr lang="en-US" sz="2313" b="true">
                    <a:solidFill>
                      <a:srgbClr val="000000"/>
                    </a:solidFill>
                    <a:latin typeface="Gothic A1 Bold"/>
                    <a:ea typeface="Gothic A1 Bold"/>
                    <a:cs typeface="Gothic A1 Bold"/>
                    <a:sym typeface="Gothic A1 Bold"/>
                  </a:rPr>
                  <a:t>Niskak </a:t>
                </a:r>
              </a:p>
              <a:p>
                <a:pPr algn="ctr">
                  <a:lnSpc>
                    <a:spcPts val="2776"/>
                  </a:lnSpc>
                </a:pPr>
                <a:r>
                  <a:rPr lang="en-US" b="true" sz="2313">
                    <a:solidFill>
                      <a:srgbClr val="000000"/>
                    </a:solidFill>
                    <a:latin typeface="Gothic A1 Bold"/>
                    <a:ea typeface="Gothic A1 Bold"/>
                    <a:cs typeface="Gothic A1 Bold"/>
                    <a:sym typeface="Gothic A1 Bold"/>
                  </a:rPr>
                  <a:t>&lt;0.25</a:t>
                </a:r>
              </a:p>
            </p:txBody>
          </p:sp>
        </p:grpSp>
        <p:grpSp>
          <p:nvGrpSpPr>
            <p:cNvPr name="Group 8" id="8"/>
            <p:cNvGrpSpPr/>
            <p:nvPr/>
          </p:nvGrpSpPr>
          <p:grpSpPr>
            <a:xfrm rot="0">
              <a:off x="3027371" y="847487"/>
              <a:ext cx="2533434" cy="1266717"/>
              <a:chOff x="0" y="0"/>
              <a:chExt cx="812800" cy="4064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812800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406400"/>
                    </a:lnTo>
                    <a:lnTo>
                      <a:pt x="0" y="406400"/>
                    </a:lnTo>
                    <a:close/>
                  </a:path>
                </a:pathLst>
              </a:custGeom>
              <a:solidFill>
                <a:srgbClr val="FFF27D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57150"/>
                <a:ext cx="812800" cy="463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76"/>
                  </a:lnSpc>
                </a:pPr>
                <a:r>
                  <a:rPr lang="en-US" sz="2313" b="true">
                    <a:solidFill>
                      <a:srgbClr val="000000"/>
                    </a:solidFill>
                    <a:latin typeface="Gothic A1 Bold"/>
                    <a:ea typeface="Gothic A1 Bold"/>
                    <a:cs typeface="Gothic A1 Bold"/>
                    <a:sym typeface="Gothic A1 Bold"/>
                  </a:rPr>
                  <a:t>Umereno </a:t>
                </a:r>
              </a:p>
              <a:p>
                <a:pPr algn="ctr">
                  <a:lnSpc>
                    <a:spcPts val="2776"/>
                  </a:lnSpc>
                </a:pPr>
                <a:r>
                  <a:rPr lang="en-US" b="true" sz="2313">
                    <a:solidFill>
                      <a:srgbClr val="000000"/>
                    </a:solidFill>
                    <a:latin typeface="Gothic A1 Bold"/>
                    <a:ea typeface="Gothic A1 Bold"/>
                    <a:cs typeface="Gothic A1 Bold"/>
                    <a:sym typeface="Gothic A1 Bold"/>
                  </a:rPr>
                  <a:t>0.25-0.50</a:t>
                </a: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0">
              <a:off x="6054741" y="829273"/>
              <a:ext cx="2533434" cy="1266717"/>
              <a:chOff x="0" y="0"/>
              <a:chExt cx="812800" cy="4064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812800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406400"/>
                    </a:lnTo>
                    <a:lnTo>
                      <a:pt x="0" y="406400"/>
                    </a:lnTo>
                    <a:close/>
                  </a:path>
                </a:pathLst>
              </a:custGeom>
              <a:solidFill>
                <a:srgbClr val="FFCB7D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57150"/>
                <a:ext cx="812800" cy="463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76"/>
                  </a:lnSpc>
                </a:pPr>
                <a:r>
                  <a:rPr lang="en-US" sz="2313" b="true">
                    <a:solidFill>
                      <a:srgbClr val="000000"/>
                    </a:solidFill>
                    <a:latin typeface="Gothic A1 Bold"/>
                    <a:ea typeface="Gothic A1 Bold"/>
                    <a:cs typeface="Gothic A1 Bold"/>
                    <a:sym typeface="Gothic A1 Bold"/>
                  </a:rPr>
                  <a:t>Povišeno</a:t>
                </a:r>
              </a:p>
              <a:p>
                <a:pPr algn="ctr">
                  <a:lnSpc>
                    <a:spcPts val="2776"/>
                  </a:lnSpc>
                </a:pPr>
                <a:r>
                  <a:rPr lang="en-US" b="true" sz="2313">
                    <a:solidFill>
                      <a:srgbClr val="000000"/>
                    </a:solidFill>
                    <a:latin typeface="Gothic A1 Bold"/>
                    <a:ea typeface="Gothic A1 Bold"/>
                    <a:cs typeface="Gothic A1 Bold"/>
                    <a:sym typeface="Gothic A1 Bold"/>
                  </a:rPr>
                  <a:t>0.50-0.75</a:t>
                </a:r>
              </a:p>
            </p:txBody>
          </p:sp>
        </p:grpSp>
        <p:grpSp>
          <p:nvGrpSpPr>
            <p:cNvPr name="Group 14" id="14"/>
            <p:cNvGrpSpPr/>
            <p:nvPr/>
          </p:nvGrpSpPr>
          <p:grpSpPr>
            <a:xfrm rot="0">
              <a:off x="9082112" y="811059"/>
              <a:ext cx="2533434" cy="1266717"/>
              <a:chOff x="0" y="0"/>
              <a:chExt cx="812800" cy="4064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812800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406400"/>
                    </a:lnTo>
                    <a:lnTo>
                      <a:pt x="0" y="406400"/>
                    </a:lnTo>
                    <a:close/>
                  </a:path>
                </a:pathLst>
              </a:custGeom>
              <a:solidFill>
                <a:srgbClr val="E59797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57150"/>
                <a:ext cx="812800" cy="463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76"/>
                  </a:lnSpc>
                </a:pPr>
                <a:r>
                  <a:rPr lang="en-US" sz="2313" b="true">
                    <a:solidFill>
                      <a:srgbClr val="000000"/>
                    </a:solidFill>
                    <a:latin typeface="Gothic A1 Bold"/>
                    <a:ea typeface="Gothic A1 Bold"/>
                    <a:cs typeface="Gothic A1 Bold"/>
                    <a:sym typeface="Gothic A1 Bold"/>
                  </a:rPr>
                  <a:t>Kritično</a:t>
                </a:r>
              </a:p>
              <a:p>
                <a:pPr algn="ctr">
                  <a:lnSpc>
                    <a:spcPts val="2776"/>
                  </a:lnSpc>
                </a:pPr>
                <a:r>
                  <a:rPr lang="en-US" b="true" sz="2313">
                    <a:solidFill>
                      <a:srgbClr val="000000"/>
                    </a:solidFill>
                    <a:latin typeface="Gothic A1 Bold"/>
                    <a:ea typeface="Gothic A1 Bold"/>
                    <a:cs typeface="Gothic A1 Bold"/>
                    <a:sym typeface="Gothic A1 Bold"/>
                  </a:rPr>
                  <a:t>&gt;= 0.75</a:t>
                </a: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4070917" y="-57150"/>
              <a:ext cx="3473712" cy="5140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51"/>
                </a:lnSpc>
                <a:spcBef>
                  <a:spcPct val="0"/>
                </a:spcBef>
              </a:pPr>
              <a:r>
                <a:rPr lang="en-US" b="true" sz="2293">
                  <a:solidFill>
                    <a:srgbClr val="456446"/>
                  </a:solidFill>
                  <a:latin typeface="Gothic A1 Bold"/>
                  <a:ea typeface="Gothic A1 Bold"/>
                  <a:cs typeface="Gothic A1 Bold"/>
                  <a:sym typeface="Gothic A1 Bold"/>
                </a:rPr>
                <a:t>4 ZONE RIZIKA</a:t>
              </a:r>
            </a:p>
          </p:txBody>
        </p:sp>
      </p:grpSp>
      <p:pic>
        <p:nvPicPr>
          <p:cNvPr name="Picture 18" id="18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57534" y="2922033"/>
            <a:ext cx="10453991" cy="2787516"/>
          </a:xfrm>
          <a:prstGeom prst="rect">
            <a:avLst/>
          </a:prstGeom>
        </p:spPr>
      </p:pic>
      <p:graphicFrame>
        <p:nvGraphicFramePr>
          <p:cNvPr name="Table 19" id="19"/>
          <p:cNvGraphicFramePr>
            <a:graphicFrameLocks noGrp="true"/>
          </p:cNvGraphicFramePr>
          <p:nvPr/>
        </p:nvGraphicFramePr>
        <p:xfrm>
          <a:off x="10341267" y="3913871"/>
          <a:ext cx="6918033" cy="4664789"/>
        </p:xfrm>
        <a:graphic>
          <a:graphicData uri="http://schemas.openxmlformats.org/drawingml/2006/table">
            <a:tbl>
              <a:tblPr/>
              <a:tblGrid>
                <a:gridCol w="647206"/>
                <a:gridCol w="3952362"/>
                <a:gridCol w="1267403"/>
                <a:gridCol w="1051062"/>
              </a:tblGrid>
              <a:tr h="77746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57"/>
                        </a:lnSpc>
                        <a:defRPr/>
                      </a:pPr>
                      <a:r>
                        <a:rPr lang="en-US" sz="1683">
                          <a:solidFill>
                            <a:srgbClr val="FFFFFF"/>
                          </a:solidFill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Id</a:t>
                      </a:r>
                      <a:endParaRPr lang="en-US" sz="1100"/>
                    </a:p>
                  </a:txBody>
                  <a:tcPr marL="178196" marR="178196" marT="178196" marB="178196" anchor="ctr">
                    <a:lnL cmpd="sng" algn="ctr" cap="flat" w="35639">
                      <a:solidFill>
                        <a:srgbClr val="456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5639">
                      <a:solidFill>
                        <a:srgbClr val="456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5639">
                      <a:solidFill>
                        <a:srgbClr val="456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5639">
                      <a:solidFill>
                        <a:srgbClr val="456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644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57"/>
                        </a:lnSpc>
                        <a:defRPr/>
                      </a:pPr>
                      <a:r>
                        <a:rPr lang="en-US" sz="1683">
                          <a:solidFill>
                            <a:srgbClr val="FFFFFF"/>
                          </a:solidFill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Mehanizam</a:t>
                      </a:r>
                      <a:endParaRPr lang="en-US" sz="1100"/>
                    </a:p>
                  </a:txBody>
                  <a:tcPr marL="178196" marR="178196" marT="178196" marB="178196" anchor="ctr">
                    <a:lnL cmpd="sng" algn="ctr" cap="flat" w="35639">
                      <a:solidFill>
                        <a:srgbClr val="456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5639">
                      <a:solidFill>
                        <a:srgbClr val="456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5639">
                      <a:solidFill>
                        <a:srgbClr val="456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5639">
                      <a:solidFill>
                        <a:srgbClr val="456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644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57"/>
                        </a:lnSpc>
                        <a:defRPr/>
                      </a:pPr>
                      <a:r>
                        <a:rPr lang="en-US" sz="1683">
                          <a:solidFill>
                            <a:srgbClr val="FFFFFF"/>
                          </a:solidFill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Elementi</a:t>
                      </a:r>
                      <a:endParaRPr lang="en-US" sz="1100"/>
                    </a:p>
                  </a:txBody>
                  <a:tcPr marL="178196" marR="178196" marT="178196" marB="178196" anchor="ctr">
                    <a:lnL cmpd="sng" algn="ctr" cap="flat" w="35639">
                      <a:solidFill>
                        <a:srgbClr val="456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5639">
                      <a:solidFill>
                        <a:srgbClr val="456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5639">
                      <a:solidFill>
                        <a:srgbClr val="456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5639">
                      <a:solidFill>
                        <a:srgbClr val="456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644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57"/>
                        </a:lnSpc>
                        <a:defRPr/>
                      </a:pPr>
                      <a:r>
                        <a:rPr lang="en-US" sz="1683">
                          <a:solidFill>
                            <a:srgbClr val="FFFFFF"/>
                          </a:solidFill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Težine</a:t>
                      </a:r>
                      <a:endParaRPr lang="en-US" sz="1100"/>
                    </a:p>
                  </a:txBody>
                  <a:tcPr marL="178196" marR="178196" marT="178196" marB="178196" anchor="ctr">
                    <a:lnL cmpd="sng" algn="ctr" cap="flat" w="35639">
                      <a:solidFill>
                        <a:srgbClr val="456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5639">
                      <a:solidFill>
                        <a:srgbClr val="456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5639">
                      <a:solidFill>
                        <a:srgbClr val="456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5639">
                      <a:solidFill>
                        <a:srgbClr val="456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6446"/>
                    </a:solidFill>
                  </a:tcPr>
                </a:tc>
              </a:tr>
              <a:tr h="77746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57"/>
                        </a:lnSpc>
                        <a:defRPr/>
                      </a:pPr>
                      <a:r>
                        <a:rPr lang="en-US" sz="1683">
                          <a:solidFill>
                            <a:srgbClr val="000000"/>
                          </a:solidFill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R1</a:t>
                      </a:r>
                      <a:endParaRPr lang="en-US" sz="1100"/>
                    </a:p>
                  </a:txBody>
                  <a:tcPr marL="178196" marR="178196" marT="178196" marB="178196" anchor="ctr">
                    <a:lnL cmpd="sng" algn="ctr" cap="flat" w="35639">
                      <a:solidFill>
                        <a:srgbClr val="456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5639">
                      <a:solidFill>
                        <a:srgbClr val="456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5639">
                      <a:solidFill>
                        <a:srgbClr val="456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5639">
                      <a:solidFill>
                        <a:srgbClr val="456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57"/>
                        </a:lnSpc>
                        <a:defRPr/>
                      </a:pPr>
                      <a:r>
                        <a:rPr lang="en-US" sz="1683">
                          <a:solidFill>
                            <a:srgbClr val="000000"/>
                          </a:solidFill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TiO₂/CaCO₃ termičko pucanje</a:t>
                      </a:r>
                      <a:endParaRPr lang="en-US" sz="1100"/>
                    </a:p>
                  </a:txBody>
                  <a:tcPr marL="178196" marR="178196" marT="178196" marB="178196" anchor="ctr">
                    <a:lnL cmpd="sng" algn="ctr" cap="flat" w="35639">
                      <a:solidFill>
                        <a:srgbClr val="456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5639">
                      <a:solidFill>
                        <a:srgbClr val="456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5639">
                      <a:solidFill>
                        <a:srgbClr val="456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5639">
                      <a:solidFill>
                        <a:srgbClr val="456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57"/>
                        </a:lnSpc>
                        <a:defRPr/>
                      </a:pPr>
                      <a:r>
                        <a:rPr lang="en-US" sz="1683">
                          <a:solidFill>
                            <a:srgbClr val="000000"/>
                          </a:solidFill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Ti / Ca</a:t>
                      </a:r>
                      <a:endParaRPr lang="en-US" sz="1100"/>
                    </a:p>
                  </a:txBody>
                  <a:tcPr marL="178196" marR="178196" marT="178196" marB="178196" anchor="ctr">
                    <a:lnL cmpd="sng" algn="ctr" cap="flat" w="35639">
                      <a:solidFill>
                        <a:srgbClr val="456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5639">
                      <a:solidFill>
                        <a:srgbClr val="456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5639">
                      <a:solidFill>
                        <a:srgbClr val="456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5639">
                      <a:solidFill>
                        <a:srgbClr val="456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57"/>
                        </a:lnSpc>
                        <a:defRPr/>
                      </a:pPr>
                      <a:r>
                        <a:rPr lang="en-US" sz="1683">
                          <a:solidFill>
                            <a:srgbClr val="000000"/>
                          </a:solidFill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0.40</a:t>
                      </a:r>
                      <a:endParaRPr lang="en-US" sz="1100"/>
                    </a:p>
                  </a:txBody>
                  <a:tcPr marL="178196" marR="178196" marT="178196" marB="178196" anchor="ctr">
                    <a:lnL cmpd="sng" algn="ctr" cap="flat" w="35639">
                      <a:solidFill>
                        <a:srgbClr val="456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5639">
                      <a:solidFill>
                        <a:srgbClr val="456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5639">
                      <a:solidFill>
                        <a:srgbClr val="456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5639">
                      <a:solidFill>
                        <a:srgbClr val="456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46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57"/>
                        </a:lnSpc>
                        <a:defRPr/>
                      </a:pPr>
                      <a:r>
                        <a:rPr lang="en-US" sz="1683">
                          <a:solidFill>
                            <a:srgbClr val="000000"/>
                          </a:solidFill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R2</a:t>
                      </a:r>
                      <a:endParaRPr lang="en-US" sz="1100"/>
                    </a:p>
                  </a:txBody>
                  <a:tcPr marL="178196" marR="178196" marT="178196" marB="178196" anchor="ctr">
                    <a:lnL cmpd="sng" algn="ctr" cap="flat" w="35639">
                      <a:solidFill>
                        <a:srgbClr val="456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5639">
                      <a:solidFill>
                        <a:srgbClr val="456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5639">
                      <a:solidFill>
                        <a:srgbClr val="456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5639">
                      <a:solidFill>
                        <a:srgbClr val="456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57"/>
                        </a:lnSpc>
                        <a:defRPr/>
                      </a:pPr>
                      <a:r>
                        <a:rPr lang="en-US" sz="1683">
                          <a:solidFill>
                            <a:srgbClr val="000000"/>
                          </a:solidFill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Cu pigment degradacija</a:t>
                      </a:r>
                      <a:endParaRPr lang="en-US" sz="1100"/>
                    </a:p>
                  </a:txBody>
                  <a:tcPr marL="178196" marR="178196" marT="178196" marB="178196" anchor="ctr">
                    <a:lnL cmpd="sng" algn="ctr" cap="flat" w="35639">
                      <a:solidFill>
                        <a:srgbClr val="456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5639">
                      <a:solidFill>
                        <a:srgbClr val="456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5639">
                      <a:solidFill>
                        <a:srgbClr val="456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5639">
                      <a:solidFill>
                        <a:srgbClr val="456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57"/>
                        </a:lnSpc>
                        <a:defRPr/>
                      </a:pPr>
                      <a:r>
                        <a:rPr lang="en-US" sz="1683">
                          <a:solidFill>
                            <a:srgbClr val="000000"/>
                          </a:solidFill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Cu</a:t>
                      </a:r>
                      <a:endParaRPr lang="en-US" sz="1100"/>
                    </a:p>
                  </a:txBody>
                  <a:tcPr marL="178196" marR="178196" marT="178196" marB="178196" anchor="ctr">
                    <a:lnL cmpd="sng" algn="ctr" cap="flat" w="35639">
                      <a:solidFill>
                        <a:srgbClr val="456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5639">
                      <a:solidFill>
                        <a:srgbClr val="456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5639">
                      <a:solidFill>
                        <a:srgbClr val="456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5639">
                      <a:solidFill>
                        <a:srgbClr val="456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57"/>
                        </a:lnSpc>
                        <a:defRPr/>
                      </a:pPr>
                      <a:r>
                        <a:rPr lang="en-US" sz="1683">
                          <a:solidFill>
                            <a:srgbClr val="000000"/>
                          </a:solidFill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1.00</a:t>
                      </a:r>
                      <a:endParaRPr lang="en-US" sz="1100"/>
                    </a:p>
                  </a:txBody>
                  <a:tcPr marL="178196" marR="178196" marT="178196" marB="178196" anchor="ctr">
                    <a:lnL cmpd="sng" algn="ctr" cap="flat" w="35639">
                      <a:solidFill>
                        <a:srgbClr val="456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5639">
                      <a:solidFill>
                        <a:srgbClr val="456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5639">
                      <a:solidFill>
                        <a:srgbClr val="456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5639">
                      <a:solidFill>
                        <a:srgbClr val="456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46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57"/>
                        </a:lnSpc>
                        <a:defRPr/>
                      </a:pPr>
                      <a:r>
                        <a:rPr lang="en-US" sz="1683">
                          <a:solidFill>
                            <a:srgbClr val="000000"/>
                          </a:solidFill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R3</a:t>
                      </a:r>
                      <a:endParaRPr lang="en-US" sz="1100"/>
                    </a:p>
                  </a:txBody>
                  <a:tcPr marL="178196" marR="178196" marT="178196" marB="178196" anchor="ctr">
                    <a:lnL cmpd="sng" algn="ctr" cap="flat" w="35639">
                      <a:solidFill>
                        <a:srgbClr val="456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5639">
                      <a:solidFill>
                        <a:srgbClr val="456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5639">
                      <a:solidFill>
                        <a:srgbClr val="456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5639">
                      <a:solidFill>
                        <a:srgbClr val="456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57"/>
                        </a:lnSpc>
                        <a:defRPr/>
                      </a:pPr>
                      <a:r>
                        <a:rPr lang="en-US" sz="1683">
                          <a:solidFill>
                            <a:srgbClr val="000000"/>
                          </a:solidFill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Tamljenje olova (PbS)</a:t>
                      </a:r>
                      <a:endParaRPr lang="en-US" sz="1100"/>
                    </a:p>
                  </a:txBody>
                  <a:tcPr marL="178196" marR="178196" marT="178196" marB="178196" anchor="ctr">
                    <a:lnL cmpd="sng" algn="ctr" cap="flat" w="35639">
                      <a:solidFill>
                        <a:srgbClr val="456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5639">
                      <a:solidFill>
                        <a:srgbClr val="456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5639">
                      <a:solidFill>
                        <a:srgbClr val="456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5639">
                      <a:solidFill>
                        <a:srgbClr val="456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57"/>
                        </a:lnSpc>
                        <a:defRPr/>
                      </a:pPr>
                      <a:r>
                        <a:rPr lang="en-US" sz="1683">
                          <a:solidFill>
                            <a:srgbClr val="000000"/>
                          </a:solidFill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Pb</a:t>
                      </a:r>
                      <a:endParaRPr lang="en-US" sz="1100"/>
                    </a:p>
                  </a:txBody>
                  <a:tcPr marL="178196" marR="178196" marT="178196" marB="178196" anchor="ctr">
                    <a:lnL cmpd="sng" algn="ctr" cap="flat" w="35639">
                      <a:solidFill>
                        <a:srgbClr val="456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5639">
                      <a:solidFill>
                        <a:srgbClr val="456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5639">
                      <a:solidFill>
                        <a:srgbClr val="456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5639">
                      <a:solidFill>
                        <a:srgbClr val="456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57"/>
                        </a:lnSpc>
                        <a:defRPr/>
                      </a:pPr>
                      <a:r>
                        <a:rPr lang="en-US" sz="1683">
                          <a:solidFill>
                            <a:srgbClr val="000000"/>
                          </a:solidFill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1.00</a:t>
                      </a:r>
                      <a:endParaRPr lang="en-US" sz="1100"/>
                    </a:p>
                  </a:txBody>
                  <a:tcPr marL="178196" marR="178196" marT="178196" marB="178196" anchor="ctr">
                    <a:lnL cmpd="sng" algn="ctr" cap="flat" w="35639">
                      <a:solidFill>
                        <a:srgbClr val="456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5639">
                      <a:solidFill>
                        <a:srgbClr val="456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5639">
                      <a:solidFill>
                        <a:srgbClr val="456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5639">
                      <a:solidFill>
                        <a:srgbClr val="456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46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57"/>
                        </a:lnSpc>
                        <a:defRPr/>
                      </a:pPr>
                      <a:r>
                        <a:rPr lang="en-US" sz="1683">
                          <a:solidFill>
                            <a:srgbClr val="000000"/>
                          </a:solidFill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R4</a:t>
                      </a:r>
                      <a:endParaRPr lang="en-US" sz="1100"/>
                    </a:p>
                  </a:txBody>
                  <a:tcPr marL="178196" marR="178196" marT="178196" marB="178196" anchor="ctr">
                    <a:lnL cmpd="sng" algn="ctr" cap="flat" w="35639">
                      <a:solidFill>
                        <a:srgbClr val="456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5639">
                      <a:solidFill>
                        <a:srgbClr val="456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5639">
                      <a:solidFill>
                        <a:srgbClr val="456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5639">
                      <a:solidFill>
                        <a:srgbClr val="456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57"/>
                        </a:lnSpc>
                        <a:defRPr/>
                      </a:pPr>
                      <a:r>
                        <a:rPr lang="en-US" sz="1683">
                          <a:solidFill>
                            <a:srgbClr val="000000"/>
                          </a:solidFill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Vlaga ispod TiO₂</a:t>
                      </a:r>
                      <a:endParaRPr lang="en-US" sz="1100"/>
                    </a:p>
                  </a:txBody>
                  <a:tcPr marL="178196" marR="178196" marT="178196" marB="178196" anchor="ctr">
                    <a:lnL cmpd="sng" algn="ctr" cap="flat" w="35639">
                      <a:solidFill>
                        <a:srgbClr val="456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5639">
                      <a:solidFill>
                        <a:srgbClr val="456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5639">
                      <a:solidFill>
                        <a:srgbClr val="456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5639">
                      <a:solidFill>
                        <a:srgbClr val="456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57"/>
                        </a:lnSpc>
                        <a:defRPr/>
                      </a:pPr>
                      <a:r>
                        <a:rPr lang="en-US" sz="1683">
                          <a:solidFill>
                            <a:srgbClr val="000000"/>
                          </a:solidFill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Ti / Cu</a:t>
                      </a:r>
                      <a:endParaRPr lang="en-US" sz="1100"/>
                    </a:p>
                  </a:txBody>
                  <a:tcPr marL="178196" marR="178196" marT="178196" marB="178196" anchor="ctr">
                    <a:lnL cmpd="sng" algn="ctr" cap="flat" w="35639">
                      <a:solidFill>
                        <a:srgbClr val="456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5639">
                      <a:solidFill>
                        <a:srgbClr val="456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5639">
                      <a:solidFill>
                        <a:srgbClr val="456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5639">
                      <a:solidFill>
                        <a:srgbClr val="456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57"/>
                        </a:lnSpc>
                        <a:defRPr/>
                      </a:pPr>
                      <a:r>
                        <a:rPr lang="en-US" sz="1683">
                          <a:solidFill>
                            <a:srgbClr val="000000"/>
                          </a:solidFill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0.60</a:t>
                      </a:r>
                      <a:endParaRPr lang="en-US" sz="1100"/>
                    </a:p>
                  </a:txBody>
                  <a:tcPr marL="178196" marR="178196" marT="178196" marB="178196" anchor="ctr">
                    <a:lnL cmpd="sng" algn="ctr" cap="flat" w="35639">
                      <a:solidFill>
                        <a:srgbClr val="456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5639">
                      <a:solidFill>
                        <a:srgbClr val="456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5639">
                      <a:solidFill>
                        <a:srgbClr val="456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5639">
                      <a:solidFill>
                        <a:srgbClr val="456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46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57"/>
                        </a:lnSpc>
                        <a:defRPr/>
                      </a:pPr>
                      <a:r>
                        <a:rPr lang="en-US" sz="1683">
                          <a:solidFill>
                            <a:srgbClr val="000000"/>
                          </a:solidFill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R5</a:t>
                      </a:r>
                      <a:endParaRPr lang="en-US" sz="1100"/>
                    </a:p>
                  </a:txBody>
                  <a:tcPr marL="178196" marR="178196" marT="178196" marB="178196" anchor="ctr">
                    <a:lnL cmpd="sng" algn="ctr" cap="flat" w="35639">
                      <a:solidFill>
                        <a:srgbClr val="456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5639">
                      <a:solidFill>
                        <a:srgbClr val="456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5639">
                      <a:solidFill>
                        <a:srgbClr val="456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5639">
                      <a:solidFill>
                        <a:srgbClr val="456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57"/>
                        </a:lnSpc>
                        <a:defRPr/>
                      </a:pPr>
                      <a:r>
                        <a:rPr lang="en-US" sz="1683">
                          <a:solidFill>
                            <a:srgbClr val="000000"/>
                          </a:solidFill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Fe-katalizovana Pb oksidacija</a:t>
                      </a:r>
                      <a:endParaRPr lang="en-US" sz="1100"/>
                    </a:p>
                  </a:txBody>
                  <a:tcPr marL="178196" marR="178196" marT="178196" marB="178196" anchor="ctr">
                    <a:lnL cmpd="sng" algn="ctr" cap="flat" w="35639">
                      <a:solidFill>
                        <a:srgbClr val="456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5639">
                      <a:solidFill>
                        <a:srgbClr val="456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5639">
                      <a:solidFill>
                        <a:srgbClr val="456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5639">
                      <a:solidFill>
                        <a:srgbClr val="456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57"/>
                        </a:lnSpc>
                        <a:defRPr/>
                      </a:pPr>
                      <a:r>
                        <a:rPr lang="en-US" sz="1683">
                          <a:solidFill>
                            <a:srgbClr val="000000"/>
                          </a:solidFill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Fe / Pb</a:t>
                      </a:r>
                      <a:endParaRPr lang="en-US" sz="1100"/>
                    </a:p>
                  </a:txBody>
                  <a:tcPr marL="178196" marR="178196" marT="178196" marB="178196" anchor="ctr">
                    <a:lnL cmpd="sng" algn="ctr" cap="flat" w="35639">
                      <a:solidFill>
                        <a:srgbClr val="456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5639">
                      <a:solidFill>
                        <a:srgbClr val="456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5639">
                      <a:solidFill>
                        <a:srgbClr val="456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5639">
                      <a:solidFill>
                        <a:srgbClr val="456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57"/>
                        </a:lnSpc>
                        <a:defRPr/>
                      </a:pPr>
                      <a:r>
                        <a:rPr lang="en-US" sz="1683">
                          <a:solidFill>
                            <a:srgbClr val="000000"/>
                          </a:solidFill>
                          <a:latin typeface="Gothic A1"/>
                          <a:ea typeface="Gothic A1"/>
                          <a:cs typeface="Gothic A1"/>
                          <a:sym typeface="Gothic A1"/>
                        </a:rPr>
                        <a:t>0.80</a:t>
                      </a:r>
                      <a:endParaRPr lang="en-US" sz="1100"/>
                    </a:p>
                  </a:txBody>
                  <a:tcPr marL="178196" marR="178196" marT="178196" marB="178196" anchor="ctr">
                    <a:lnL cmpd="sng" algn="ctr" cap="flat" w="35639">
                      <a:solidFill>
                        <a:srgbClr val="456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5639">
                      <a:solidFill>
                        <a:srgbClr val="456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5639">
                      <a:solidFill>
                        <a:srgbClr val="456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5639">
                      <a:solidFill>
                        <a:srgbClr val="4564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20" id="20"/>
          <p:cNvSpPr txBox="true"/>
          <p:nvPr/>
        </p:nvSpPr>
        <p:spPr>
          <a:xfrm rot="0">
            <a:off x="10341267" y="3169430"/>
            <a:ext cx="4386734" cy="512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7"/>
              </a:lnSpc>
              <a:spcBef>
                <a:spcPct val="0"/>
              </a:spcBef>
            </a:pPr>
            <a:r>
              <a:rPr lang="en-US" b="true" sz="2981">
                <a:solidFill>
                  <a:srgbClr val="456446"/>
                </a:solidFill>
                <a:latin typeface="Gothic A1 Bold"/>
                <a:ea typeface="Gothic A1 Bold"/>
                <a:cs typeface="Gothic A1 Bold"/>
                <a:sym typeface="Gothic A1 Bold"/>
              </a:rPr>
              <a:t>PRAVILA DEGRADACIJE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986507"/>
            <a:ext cx="7066497" cy="0"/>
          </a:xfrm>
          <a:prstGeom prst="line">
            <a:avLst/>
          </a:prstGeom>
          <a:ln cap="flat" w="38100">
            <a:solidFill>
              <a:srgbClr val="456446"/>
            </a:solidFill>
            <a:prstDash val="solid"/>
            <a:headEnd type="none" len="sm" w="sm"/>
            <a:tailEnd type="none" len="sm" w="sm"/>
          </a:ln>
        </p:spPr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1028700" y="3549156"/>
          <a:ext cx="5759686" cy="4042279"/>
        </p:xfrm>
        <a:graphic>
          <a:graphicData uri="http://schemas.openxmlformats.org/drawingml/2006/table">
            <a:tbl>
              <a:tblPr/>
              <a:tblGrid>
                <a:gridCol w="2879843"/>
                <a:gridCol w="2879843"/>
              </a:tblGrid>
              <a:tr h="80845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4"/>
                        </a:lnSpc>
                        <a:defRPr/>
                      </a:pPr>
                      <a:r>
                        <a:rPr lang="en-US" sz="1417" b="true">
                          <a:solidFill>
                            <a:srgbClr val="000000"/>
                          </a:solidFill>
                          <a:latin typeface="Gothic A1 Bold"/>
                          <a:ea typeface="Gothic A1 Bold"/>
                          <a:cs typeface="Gothic A1 Bold"/>
                          <a:sym typeface="Gothic A1 Bold"/>
                        </a:rPr>
                        <a:t>Ca Kα</a:t>
                      </a:r>
                      <a:endParaRPr lang="en-US" sz="1100"/>
                    </a:p>
                  </a:txBody>
                  <a:tcPr marL="149992" marR="149992" marT="149992" marB="149992" anchor="ctr">
                    <a:lnL cmpd="sng" algn="ctr" cap="flat" w="2999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999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999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999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4"/>
                        </a:lnSpc>
                        <a:defRPr/>
                      </a:pPr>
                      <a:r>
                        <a:rPr lang="en-US" sz="1417" b="true">
                          <a:solidFill>
                            <a:srgbClr val="000000"/>
                          </a:solidFill>
                          <a:latin typeface="Gothic A1 Bold"/>
                          <a:ea typeface="Gothic A1 Bold"/>
                          <a:cs typeface="Gothic A1 Bold"/>
                          <a:sym typeface="Gothic A1 Bold"/>
                        </a:rPr>
                        <a:t>0.992</a:t>
                      </a:r>
                      <a:endParaRPr lang="en-US" sz="1100"/>
                    </a:p>
                  </a:txBody>
                  <a:tcPr marL="149992" marR="149992" marT="149992" marB="149992" anchor="ctr">
                    <a:lnL cmpd="sng" algn="ctr" cap="flat" w="2999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999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999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999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845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4"/>
                        </a:lnSpc>
                        <a:defRPr/>
                      </a:pPr>
                      <a:r>
                        <a:rPr lang="en-US" sz="1417" b="true">
                          <a:solidFill>
                            <a:srgbClr val="000000"/>
                          </a:solidFill>
                          <a:latin typeface="Gothic A1 Bold"/>
                          <a:ea typeface="Gothic A1 Bold"/>
                          <a:cs typeface="Gothic A1 Bold"/>
                          <a:sym typeface="Gothic A1 Bold"/>
                        </a:rPr>
                        <a:t>Fe Kα</a:t>
                      </a:r>
                      <a:endParaRPr lang="en-US" sz="1100"/>
                    </a:p>
                  </a:txBody>
                  <a:tcPr marL="149992" marR="149992" marT="149992" marB="149992" anchor="ctr">
                    <a:lnL cmpd="sng" algn="ctr" cap="flat" w="2999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999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999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999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4"/>
                        </a:lnSpc>
                        <a:defRPr/>
                      </a:pPr>
                      <a:r>
                        <a:rPr lang="en-US" sz="1417" b="true">
                          <a:solidFill>
                            <a:srgbClr val="000000"/>
                          </a:solidFill>
                          <a:latin typeface="Gothic A1 Bold"/>
                          <a:ea typeface="Gothic A1 Bold"/>
                          <a:cs typeface="Gothic A1 Bold"/>
                          <a:sym typeface="Gothic A1 Bold"/>
                        </a:rPr>
                        <a:t>0.993</a:t>
                      </a:r>
                      <a:endParaRPr lang="en-US" sz="1100"/>
                    </a:p>
                  </a:txBody>
                  <a:tcPr marL="149992" marR="149992" marT="149992" marB="149992" anchor="ctr">
                    <a:lnL cmpd="sng" algn="ctr" cap="flat" w="2999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999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999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999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845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4"/>
                        </a:lnSpc>
                        <a:defRPr/>
                      </a:pPr>
                      <a:r>
                        <a:rPr lang="en-US" sz="1417" b="true">
                          <a:solidFill>
                            <a:srgbClr val="000000"/>
                          </a:solidFill>
                          <a:latin typeface="Gothic A1 Bold"/>
                          <a:ea typeface="Gothic A1 Bold"/>
                          <a:cs typeface="Gothic A1 Bold"/>
                          <a:sym typeface="Gothic A1 Bold"/>
                        </a:rPr>
                        <a:t>Pb Lα</a:t>
                      </a:r>
                      <a:endParaRPr lang="en-US" sz="1100"/>
                    </a:p>
                  </a:txBody>
                  <a:tcPr marL="149992" marR="149992" marT="149992" marB="149992" anchor="ctr">
                    <a:lnL cmpd="sng" algn="ctr" cap="flat" w="2999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999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999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999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4"/>
                        </a:lnSpc>
                        <a:defRPr/>
                      </a:pPr>
                      <a:r>
                        <a:rPr lang="en-US" sz="1417" b="true">
                          <a:solidFill>
                            <a:srgbClr val="000000"/>
                          </a:solidFill>
                          <a:latin typeface="Gothic A1 Bold"/>
                          <a:ea typeface="Gothic A1 Bold"/>
                          <a:cs typeface="Gothic A1 Bold"/>
                          <a:sym typeface="Gothic A1 Bold"/>
                        </a:rPr>
                        <a:t>0.991</a:t>
                      </a:r>
                      <a:endParaRPr lang="en-US" sz="1100"/>
                    </a:p>
                  </a:txBody>
                  <a:tcPr marL="149992" marR="149992" marT="149992" marB="149992" anchor="ctr">
                    <a:lnL cmpd="sng" algn="ctr" cap="flat" w="2999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999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999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999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845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4"/>
                        </a:lnSpc>
                        <a:defRPr/>
                      </a:pPr>
                      <a:r>
                        <a:rPr lang="en-US" sz="1417" b="true">
                          <a:solidFill>
                            <a:srgbClr val="000000"/>
                          </a:solidFill>
                          <a:latin typeface="Gothic A1 Bold"/>
                          <a:ea typeface="Gothic A1 Bold"/>
                          <a:cs typeface="Gothic A1 Bold"/>
                          <a:sym typeface="Gothic A1 Bold"/>
                        </a:rPr>
                        <a:t>Cu Kα</a:t>
                      </a:r>
                      <a:endParaRPr lang="en-US" sz="1100"/>
                    </a:p>
                  </a:txBody>
                  <a:tcPr marL="149992" marR="149992" marT="149992" marB="149992" anchor="ctr">
                    <a:lnL cmpd="sng" algn="ctr" cap="flat" w="2999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999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999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999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4"/>
                        </a:lnSpc>
                        <a:defRPr/>
                      </a:pPr>
                      <a:r>
                        <a:rPr lang="en-US" sz="1417" b="true">
                          <a:solidFill>
                            <a:srgbClr val="000000"/>
                          </a:solidFill>
                          <a:latin typeface="Gothic A1 Bold"/>
                          <a:ea typeface="Gothic A1 Bold"/>
                          <a:cs typeface="Gothic A1 Bold"/>
                          <a:sym typeface="Gothic A1 Bold"/>
                        </a:rPr>
                        <a:t>0.983</a:t>
                      </a:r>
                      <a:endParaRPr lang="en-US" sz="1100"/>
                    </a:p>
                  </a:txBody>
                  <a:tcPr marL="149992" marR="149992" marT="149992" marB="149992" anchor="ctr">
                    <a:lnL cmpd="sng" algn="ctr" cap="flat" w="2999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999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999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999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845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4"/>
                        </a:lnSpc>
                        <a:defRPr/>
                      </a:pPr>
                      <a:r>
                        <a:rPr lang="en-US" sz="1417" b="true">
                          <a:solidFill>
                            <a:srgbClr val="000000"/>
                          </a:solidFill>
                          <a:latin typeface="Gothic A1 Bold"/>
                          <a:ea typeface="Gothic A1 Bold"/>
                          <a:cs typeface="Gothic A1 Bold"/>
                          <a:sym typeface="Gothic A1 Bold"/>
                        </a:rPr>
                        <a:t>Ti Kα</a:t>
                      </a:r>
                      <a:endParaRPr lang="en-US" sz="1100"/>
                    </a:p>
                  </a:txBody>
                  <a:tcPr marL="149992" marR="149992" marT="149992" marB="149992" anchor="ctr">
                    <a:lnL cmpd="sng" algn="ctr" cap="flat" w="2999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999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999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999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4"/>
                        </a:lnSpc>
                        <a:defRPr/>
                      </a:pPr>
                      <a:r>
                        <a:rPr lang="en-US" sz="1417" b="true">
                          <a:solidFill>
                            <a:srgbClr val="000000"/>
                          </a:solidFill>
                          <a:latin typeface="Gothic A1 Bold"/>
                          <a:ea typeface="Gothic A1 Bold"/>
                          <a:cs typeface="Gothic A1 Bold"/>
                          <a:sym typeface="Gothic A1 Bold"/>
                        </a:rPr>
                        <a:t>0.982</a:t>
                      </a:r>
                      <a:endParaRPr lang="en-US" sz="1100"/>
                    </a:p>
                  </a:txBody>
                  <a:tcPr marL="149992" marR="149992" marT="149992" marB="149992" anchor="ctr">
                    <a:lnL cmpd="sng" algn="ctr" cap="flat" w="2999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999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999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999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1028700" y="7734310"/>
            <a:ext cx="5842992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6"/>
              </a:lnSpc>
              <a:spcBef>
                <a:spcPct val="0"/>
              </a:spcBef>
            </a:pPr>
            <a:r>
              <a:rPr lang="en-US" b="true" sz="2313">
                <a:solidFill>
                  <a:srgbClr val="456446"/>
                </a:solidFill>
                <a:latin typeface="Gothic A1 Bold"/>
                <a:ea typeface="Gothic A1 Bold"/>
                <a:cs typeface="Gothic A1 Bold"/>
                <a:sym typeface="Gothic A1 Bold"/>
              </a:rPr>
              <a:t>KOMBINOVANI </a:t>
            </a:r>
            <a:r>
              <a:rPr lang="en-US" b="true" sz="2313">
                <a:solidFill>
                  <a:srgbClr val="456446"/>
                </a:solidFill>
                <a:latin typeface="Gothic A1 Bold"/>
                <a:ea typeface="Gothic A1 Bold"/>
                <a:cs typeface="Gothic A1 Bold"/>
                <a:sym typeface="Gothic A1 Bold"/>
              </a:rPr>
              <a:t>CVI (PROVA1 VS PROVA2)</a:t>
            </a:r>
          </a:p>
          <a:p>
            <a:pPr algn="ctr">
              <a:lnSpc>
                <a:spcPts val="2776"/>
              </a:lnSpc>
              <a:spcBef>
                <a:spcPct val="0"/>
              </a:spcBef>
            </a:pPr>
          </a:p>
        </p:txBody>
      </p: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1028700" y="8296285"/>
          <a:ext cx="5759686" cy="832455"/>
        </p:xfrm>
        <a:graphic>
          <a:graphicData uri="http://schemas.openxmlformats.org/drawingml/2006/table">
            <a:tbl>
              <a:tblPr/>
              <a:tblGrid>
                <a:gridCol w="1919895"/>
                <a:gridCol w="1919895"/>
                <a:gridCol w="1919895"/>
              </a:tblGrid>
              <a:tr h="83245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4"/>
                        </a:lnSpc>
                        <a:defRPr/>
                      </a:pPr>
                      <a:r>
                        <a:rPr lang="en-US" sz="1417" b="true">
                          <a:solidFill>
                            <a:srgbClr val="000000"/>
                          </a:solidFill>
                          <a:latin typeface="Gothic A1 Bold"/>
                          <a:ea typeface="Gothic A1 Bold"/>
                          <a:cs typeface="Gothic A1 Bold"/>
                          <a:sym typeface="Gothic A1 Bold"/>
                        </a:rPr>
                        <a:t>W₁=0.0054</a:t>
                      </a:r>
                      <a:endParaRPr lang="en-US" sz="1100"/>
                    </a:p>
                  </a:txBody>
                  <a:tcPr marL="149992" marR="149992" marT="149992" marB="149992" anchor="ctr">
                    <a:lnL cmpd="sng" algn="ctr" cap="flat" w="2999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999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999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999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4"/>
                        </a:lnSpc>
                        <a:defRPr/>
                      </a:pPr>
                      <a:r>
                        <a:rPr lang="en-US" sz="1417" b="true">
                          <a:solidFill>
                            <a:srgbClr val="000000"/>
                          </a:solidFill>
                          <a:latin typeface="Gothic A1 Bold"/>
                          <a:ea typeface="Gothic A1 Bold"/>
                          <a:cs typeface="Gothic A1 Bold"/>
                          <a:sym typeface="Gothic A1 Bold"/>
                        </a:rPr>
                        <a:t>r=0.994</a:t>
                      </a:r>
                      <a:endParaRPr lang="en-US" sz="1100"/>
                    </a:p>
                  </a:txBody>
                  <a:tcPr marL="149992" marR="149992" marT="149992" marB="149992" anchor="ctr">
                    <a:lnL cmpd="sng" algn="ctr" cap="flat" w="2999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999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999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999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4"/>
                        </a:lnSpc>
                        <a:defRPr/>
                      </a:pPr>
                      <a:r>
                        <a:rPr lang="en-US" sz="1417" b="true">
                          <a:solidFill>
                            <a:srgbClr val="000000"/>
                          </a:solidFill>
                          <a:latin typeface="Gothic A1 Bold"/>
                          <a:ea typeface="Gothic A1 Bold"/>
                          <a:cs typeface="Gothic A1 Bold"/>
                          <a:sym typeface="Gothic A1 Bold"/>
                        </a:rPr>
                        <a:t>SSIM=0.982</a:t>
                      </a:r>
                      <a:endParaRPr lang="en-US" sz="1100"/>
                    </a:p>
                  </a:txBody>
                  <a:tcPr marL="149992" marR="149992" marT="149992" marB="149992" anchor="ctr">
                    <a:lnL cmpd="sng" algn="ctr" cap="flat" w="2999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999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999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999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6" id="6"/>
          <p:cNvGrpSpPr/>
          <p:nvPr/>
        </p:nvGrpSpPr>
        <p:grpSpPr>
          <a:xfrm rot="0">
            <a:off x="7462775" y="3563342"/>
            <a:ext cx="454522" cy="454522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FECAC"/>
            </a:solidFill>
            <a:ln w="19050" cap="sq">
              <a:solidFill>
                <a:srgbClr val="456446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65517" lIns="65517" bIns="65517" rIns="65517"/>
            <a:lstStyle/>
            <a:p>
              <a:pPr algn="ctr">
                <a:lnSpc>
                  <a:spcPts val="2465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462775" y="4286377"/>
            <a:ext cx="474512" cy="474512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27D"/>
            </a:solidFill>
            <a:ln w="19050" cap="sq">
              <a:solidFill>
                <a:srgbClr val="456446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65517" lIns="65517" bIns="65517" rIns="65517"/>
            <a:lstStyle/>
            <a:p>
              <a:pPr algn="ctr">
                <a:lnSpc>
                  <a:spcPts val="2465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467238" y="3549156"/>
            <a:ext cx="478703" cy="478703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B7D"/>
            </a:solidFill>
            <a:ln w="19050" cap="sq">
              <a:solidFill>
                <a:srgbClr val="456446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65517" lIns="65517" bIns="65517" rIns="65517"/>
            <a:lstStyle/>
            <a:p>
              <a:pPr algn="ctr">
                <a:lnSpc>
                  <a:spcPts val="2465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467238" y="4298467"/>
            <a:ext cx="450330" cy="450330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9797"/>
            </a:solidFill>
            <a:ln w="19050" cap="sq">
              <a:solidFill>
                <a:srgbClr val="456446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65517" lIns="65517" bIns="65517" rIns="65517"/>
            <a:lstStyle/>
            <a:p>
              <a:pPr algn="ctr">
                <a:lnSpc>
                  <a:spcPts val="2465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8187147" y="3496667"/>
            <a:ext cx="1257971" cy="521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0"/>
              </a:lnSpc>
              <a:spcBef>
                <a:spcPct val="0"/>
              </a:spcBef>
            </a:pPr>
            <a:r>
              <a:rPr lang="en-US" b="true" sz="2983">
                <a:solidFill>
                  <a:srgbClr val="456446"/>
                </a:solidFill>
                <a:latin typeface="Gothic A1 Bold"/>
                <a:ea typeface="Gothic A1 Bold"/>
                <a:cs typeface="Gothic A1 Bold"/>
                <a:sym typeface="Gothic A1 Bold"/>
              </a:rPr>
              <a:t>NISKO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207137" y="4229697"/>
            <a:ext cx="2118863" cy="521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0"/>
              </a:lnSpc>
              <a:spcBef>
                <a:spcPct val="0"/>
              </a:spcBef>
            </a:pPr>
            <a:r>
              <a:rPr lang="en-US" b="true" sz="2983">
                <a:solidFill>
                  <a:srgbClr val="456446"/>
                </a:solidFill>
                <a:latin typeface="Gothic A1 Bold"/>
                <a:ea typeface="Gothic A1 Bold"/>
                <a:cs typeface="Gothic A1 Bold"/>
                <a:sym typeface="Gothic A1 Bold"/>
              </a:rPr>
              <a:t>UMERENO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215791" y="3494572"/>
            <a:ext cx="2182375" cy="521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0"/>
              </a:lnSpc>
              <a:spcBef>
                <a:spcPct val="0"/>
              </a:spcBef>
            </a:pPr>
            <a:r>
              <a:rPr lang="en-US" b="true" sz="2983">
                <a:solidFill>
                  <a:srgbClr val="456446"/>
                </a:solidFill>
                <a:latin typeface="Gothic A1 Bold"/>
                <a:ea typeface="Gothic A1 Bold"/>
                <a:cs typeface="Gothic A1 Bold"/>
                <a:sym typeface="Gothic A1 Bold"/>
              </a:rPr>
              <a:t>POViŠENO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187419" y="4229697"/>
            <a:ext cx="1957824" cy="521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0"/>
              </a:lnSpc>
              <a:spcBef>
                <a:spcPct val="0"/>
              </a:spcBef>
            </a:pPr>
            <a:r>
              <a:rPr lang="en-US" b="true" sz="2983">
                <a:solidFill>
                  <a:srgbClr val="456446"/>
                </a:solidFill>
                <a:latin typeface="Gothic A1 Bold"/>
                <a:ea typeface="Gothic A1 Bold"/>
                <a:cs typeface="Gothic A1 Bold"/>
                <a:sym typeface="Gothic A1 Bold"/>
              </a:rPr>
              <a:t>KRITIČNO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445119" y="3482481"/>
            <a:ext cx="1204637" cy="521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0"/>
              </a:lnSpc>
              <a:spcBef>
                <a:spcPct val="0"/>
              </a:spcBef>
            </a:pPr>
            <a:r>
              <a:rPr lang="en-US" b="true" sz="2983">
                <a:solidFill>
                  <a:srgbClr val="456446"/>
                </a:solidFill>
                <a:latin typeface="Gothic A1 Bold"/>
                <a:ea typeface="Gothic A1 Bold"/>
                <a:cs typeface="Gothic A1 Bold"/>
                <a:sym typeface="Gothic A1 Bold"/>
              </a:rPr>
              <a:t>13.9%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595851" y="4229697"/>
            <a:ext cx="1204637" cy="521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0"/>
              </a:lnSpc>
              <a:spcBef>
                <a:spcPct val="0"/>
              </a:spcBef>
            </a:pPr>
            <a:r>
              <a:rPr lang="en-US" b="true" sz="2983">
                <a:solidFill>
                  <a:srgbClr val="456446"/>
                </a:solidFill>
                <a:latin typeface="Gothic A1 Bold"/>
                <a:ea typeface="Gothic A1 Bold"/>
                <a:cs typeface="Gothic A1 Bold"/>
                <a:sym typeface="Gothic A1 Bold"/>
              </a:rPr>
              <a:t>49.9%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5398166" y="3494572"/>
            <a:ext cx="1204637" cy="521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0"/>
              </a:lnSpc>
              <a:spcBef>
                <a:spcPct val="0"/>
              </a:spcBef>
            </a:pPr>
            <a:r>
              <a:rPr lang="en-US" b="true" sz="2983">
                <a:solidFill>
                  <a:srgbClr val="456446"/>
                </a:solidFill>
                <a:latin typeface="Gothic A1 Bold"/>
                <a:ea typeface="Gothic A1 Bold"/>
                <a:cs typeface="Gothic A1 Bold"/>
                <a:sym typeface="Gothic A1 Bold"/>
              </a:rPr>
              <a:t>30.3%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5184760" y="4229697"/>
            <a:ext cx="982750" cy="521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0"/>
              </a:lnSpc>
              <a:spcBef>
                <a:spcPct val="0"/>
              </a:spcBef>
            </a:pPr>
            <a:r>
              <a:rPr lang="en-US" b="true" sz="2983">
                <a:solidFill>
                  <a:srgbClr val="456446"/>
                </a:solidFill>
                <a:latin typeface="Gothic A1 Bold"/>
                <a:ea typeface="Gothic A1 Bold"/>
                <a:cs typeface="Gothic A1 Bold"/>
                <a:sym typeface="Gothic A1 Bold"/>
              </a:rPr>
              <a:t>5.9%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12467238" y="5037113"/>
            <a:ext cx="4489010" cy="2227709"/>
          </a:xfrm>
          <a:custGeom>
            <a:avLst/>
            <a:gdLst/>
            <a:ahLst/>
            <a:cxnLst/>
            <a:rect r="r" b="b" t="t" l="l"/>
            <a:pathLst>
              <a:path h="2227709" w="4489010">
                <a:moveTo>
                  <a:pt x="0" y="0"/>
                </a:moveTo>
                <a:lnTo>
                  <a:pt x="4489009" y="0"/>
                </a:lnTo>
                <a:lnTo>
                  <a:pt x="4489009" y="2227709"/>
                </a:lnTo>
                <a:lnTo>
                  <a:pt x="0" y="22277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17" t="-39352" r="-125918" b="-30371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1028700" y="1034955"/>
            <a:ext cx="14116543" cy="1266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640"/>
              </a:lnSpc>
              <a:spcBef>
                <a:spcPct val="0"/>
              </a:spcBef>
            </a:pPr>
            <a:r>
              <a:rPr lang="en-US" sz="7200">
                <a:solidFill>
                  <a:srgbClr val="456446"/>
                </a:solidFill>
                <a:latin typeface="Gothic A1"/>
                <a:ea typeface="Gothic A1"/>
                <a:cs typeface="Gothic A1"/>
                <a:sym typeface="Gothic A1"/>
              </a:rPr>
              <a:t>Rezultati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28700" y="2489553"/>
            <a:ext cx="5211143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8"/>
              </a:lnSpc>
              <a:spcBef>
                <a:spcPct val="0"/>
              </a:spcBef>
            </a:pPr>
            <a:r>
              <a:rPr lang="en-US" b="true" sz="2923">
                <a:solidFill>
                  <a:srgbClr val="456446"/>
                </a:solidFill>
                <a:latin typeface="Gothic A1 Bold"/>
                <a:ea typeface="Gothic A1 Bold"/>
                <a:cs typeface="Gothic A1 Bold"/>
                <a:sym typeface="Gothic A1 Bold"/>
              </a:rPr>
              <a:t>Reproduktivnost skenova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28700" y="3061251"/>
            <a:ext cx="6037504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0"/>
              </a:lnSpc>
              <a:spcBef>
                <a:spcPct val="0"/>
              </a:spcBef>
            </a:pPr>
            <a:r>
              <a:rPr lang="en-US" sz="2183">
                <a:solidFill>
                  <a:srgbClr val="456446"/>
                </a:solidFill>
                <a:latin typeface="Gothic A1"/>
                <a:ea typeface="Gothic A1"/>
                <a:cs typeface="Gothic A1"/>
                <a:sym typeface="Gothic A1"/>
              </a:rPr>
              <a:t>Dva skena, 7 dana razlike, isti uslovi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7454549" y="5037113"/>
            <a:ext cx="4465904" cy="2227709"/>
          </a:xfrm>
          <a:custGeom>
            <a:avLst/>
            <a:gdLst/>
            <a:ahLst/>
            <a:cxnLst/>
            <a:rect r="r" b="b" t="t" l="l"/>
            <a:pathLst>
              <a:path h="2227709" w="4465904">
                <a:moveTo>
                  <a:pt x="0" y="0"/>
                </a:moveTo>
                <a:lnTo>
                  <a:pt x="4465904" y="0"/>
                </a:lnTo>
                <a:lnTo>
                  <a:pt x="4465904" y="2227709"/>
                </a:lnTo>
                <a:lnTo>
                  <a:pt x="0" y="22277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6069" t="-31674" r="-899" b="-22319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7454549" y="2489553"/>
            <a:ext cx="5211143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8"/>
              </a:lnSpc>
              <a:spcBef>
                <a:spcPct val="0"/>
              </a:spcBef>
            </a:pPr>
            <a:r>
              <a:rPr lang="en-US" b="true" sz="2923">
                <a:solidFill>
                  <a:srgbClr val="456446"/>
                </a:solidFill>
                <a:latin typeface="Gothic A1 Bold"/>
                <a:ea typeface="Gothic A1 Bold"/>
                <a:cs typeface="Gothic A1 Bold"/>
                <a:sym typeface="Gothic A1 Bold"/>
              </a:rPr>
              <a:t>CVI ZONE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7454549" y="7614397"/>
            <a:ext cx="9529902" cy="1657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59"/>
              </a:lnSpc>
              <a:spcBef>
                <a:spcPct val="0"/>
              </a:spcBef>
            </a:pPr>
            <a:r>
              <a:rPr lang="en-US" b="true" sz="2633">
                <a:solidFill>
                  <a:srgbClr val="456446"/>
                </a:solidFill>
                <a:latin typeface="Gothic A1 Bold"/>
                <a:ea typeface="Gothic A1 Bold"/>
                <a:cs typeface="Gothic A1 Bold"/>
                <a:sym typeface="Gothic A1 Bold"/>
              </a:rPr>
              <a:t>DENOISING </a:t>
            </a:r>
          </a:p>
          <a:p>
            <a:pPr algn="just">
              <a:lnSpc>
                <a:spcPts val="3159"/>
              </a:lnSpc>
              <a:spcBef>
                <a:spcPct val="0"/>
              </a:spcBef>
            </a:pPr>
            <a:r>
              <a:rPr lang="en-US" sz="2633">
                <a:solidFill>
                  <a:srgbClr val="456446"/>
                </a:solidFill>
                <a:latin typeface="Gothic A1"/>
                <a:ea typeface="Gothic A1"/>
                <a:cs typeface="Gothic A1"/>
                <a:sym typeface="Gothic A1"/>
              </a:rPr>
              <a:t>Uklanjanje </a:t>
            </a:r>
            <a:r>
              <a:rPr lang="en-US" sz="2633">
                <a:solidFill>
                  <a:srgbClr val="456446"/>
                </a:solidFill>
                <a:latin typeface="Gothic A1"/>
                <a:ea typeface="Gothic A1"/>
                <a:cs typeface="Gothic A1"/>
                <a:sym typeface="Gothic A1"/>
              </a:rPr>
              <a:t>U-Net denoising-a povećava kombinovani W₁ za 65% and i smanjuje SSIM za 0.018, što potvrđuje da se arhitektura primetno stabilizuje.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986507"/>
            <a:ext cx="7066497" cy="0"/>
          </a:xfrm>
          <a:prstGeom prst="line">
            <a:avLst/>
          </a:prstGeom>
          <a:ln cap="flat" w="38100">
            <a:solidFill>
              <a:srgbClr val="45644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2881358" y="5559494"/>
            <a:ext cx="4377942" cy="2176391"/>
          </a:xfrm>
          <a:custGeom>
            <a:avLst/>
            <a:gdLst/>
            <a:ahLst/>
            <a:cxnLst/>
            <a:rect r="r" b="b" t="t" l="l"/>
            <a:pathLst>
              <a:path h="2176391" w="4377942">
                <a:moveTo>
                  <a:pt x="0" y="0"/>
                </a:moveTo>
                <a:lnTo>
                  <a:pt x="4377942" y="0"/>
                </a:lnTo>
                <a:lnTo>
                  <a:pt x="4377942" y="2176391"/>
                </a:lnTo>
                <a:lnTo>
                  <a:pt x="0" y="21763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2881358" y="2947710"/>
            <a:ext cx="4377942" cy="2195790"/>
          </a:xfrm>
          <a:custGeom>
            <a:avLst/>
            <a:gdLst/>
            <a:ahLst/>
            <a:cxnLst/>
            <a:rect r="r" b="b" t="t" l="l"/>
            <a:pathLst>
              <a:path h="2195790" w="4377942">
                <a:moveTo>
                  <a:pt x="0" y="0"/>
                </a:moveTo>
                <a:lnTo>
                  <a:pt x="4377942" y="0"/>
                </a:lnTo>
                <a:lnTo>
                  <a:pt x="4377942" y="2195790"/>
                </a:lnTo>
                <a:lnTo>
                  <a:pt x="0" y="21957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5" id="5"/>
          <p:cNvSpPr txBox="true"/>
          <p:nvPr/>
        </p:nvSpPr>
        <p:spPr>
          <a:xfrm rot="0">
            <a:off x="1028700" y="1034955"/>
            <a:ext cx="14116543" cy="1266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640"/>
              </a:lnSpc>
              <a:spcBef>
                <a:spcPct val="0"/>
              </a:spcBef>
            </a:pPr>
            <a:r>
              <a:rPr lang="en-US" sz="7200">
                <a:solidFill>
                  <a:srgbClr val="456446"/>
                </a:solidFill>
                <a:latin typeface="Gothic A1"/>
                <a:ea typeface="Gothic A1"/>
                <a:cs typeface="Gothic A1"/>
                <a:sym typeface="Gothic A1"/>
              </a:rPr>
              <a:t>SAM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722218"/>
            <a:ext cx="7258071" cy="705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86"/>
              </a:lnSpc>
              <a:spcBef>
                <a:spcPct val="0"/>
              </a:spcBef>
            </a:pPr>
            <a:r>
              <a:rPr lang="en-US" b="true" sz="4072">
                <a:solidFill>
                  <a:srgbClr val="456446"/>
                </a:solidFill>
                <a:latin typeface="Gothic A1 Bold"/>
                <a:ea typeface="Gothic A1 Bold"/>
                <a:cs typeface="Gothic A1 Bold"/>
                <a:sym typeface="Gothic A1 Bold"/>
              </a:rPr>
              <a:t>SAM REGIONA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561165"/>
            <a:ext cx="430399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0"/>
              </a:lnSpc>
              <a:spcBef>
                <a:spcPct val="0"/>
              </a:spcBef>
            </a:pPr>
            <a:r>
              <a:rPr lang="en-US" sz="2983">
                <a:solidFill>
                  <a:srgbClr val="456446"/>
                </a:solidFill>
                <a:latin typeface="Gothic A1"/>
                <a:ea typeface="Gothic A1"/>
                <a:cs typeface="Gothic A1"/>
                <a:sym typeface="Gothic A1"/>
              </a:rPr>
              <a:t>13 identifikovanih regiona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4504107"/>
            <a:ext cx="3433249" cy="401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9"/>
              </a:lnSpc>
              <a:spcBef>
                <a:spcPct val="0"/>
              </a:spcBef>
            </a:pPr>
            <a:r>
              <a:rPr lang="en-US" b="true" sz="3699">
                <a:solidFill>
                  <a:srgbClr val="456446"/>
                </a:solidFill>
                <a:latin typeface="Gothic A1 Bold"/>
                <a:ea typeface="Gothic A1 Bold"/>
                <a:cs typeface="Gothic A1 Bold"/>
                <a:sym typeface="Gothic A1 Bold"/>
              </a:rPr>
              <a:t>Pb-dominantno</a:t>
            </a:r>
          </a:p>
          <a:p>
            <a:pPr algn="l">
              <a:lnSpc>
                <a:spcPts val="4439"/>
              </a:lnSpc>
              <a:spcBef>
                <a:spcPct val="0"/>
              </a:spcBef>
            </a:pPr>
            <a:r>
              <a:rPr lang="en-US" sz="3699">
                <a:solidFill>
                  <a:srgbClr val="456446"/>
                </a:solidFill>
                <a:latin typeface="Gothic A1"/>
                <a:ea typeface="Gothic A1"/>
                <a:cs typeface="Gothic A1"/>
                <a:sym typeface="Gothic A1"/>
              </a:rPr>
              <a:t>max CVI 0.93</a:t>
            </a:r>
          </a:p>
          <a:p>
            <a:pPr algn="l">
              <a:lnSpc>
                <a:spcPts val="4439"/>
              </a:lnSpc>
              <a:spcBef>
                <a:spcPct val="0"/>
              </a:spcBef>
            </a:pPr>
            <a:r>
              <a:rPr lang="en-US" sz="3699">
                <a:solidFill>
                  <a:srgbClr val="456446"/>
                </a:solidFill>
                <a:latin typeface="Gothic A1"/>
                <a:ea typeface="Gothic A1"/>
                <a:cs typeface="Gothic A1"/>
                <a:sym typeface="Gothic A1"/>
              </a:rPr>
              <a:t>medijana 0.54</a:t>
            </a:r>
          </a:p>
          <a:p>
            <a:pPr algn="l">
              <a:lnSpc>
                <a:spcPts val="4439"/>
              </a:lnSpc>
              <a:spcBef>
                <a:spcPct val="0"/>
              </a:spcBef>
            </a:pPr>
            <a:r>
              <a:rPr lang="en-US" b="true" sz="3699">
                <a:solidFill>
                  <a:srgbClr val="FF2828"/>
                </a:solidFill>
                <a:latin typeface="Gothic A1 Bold"/>
                <a:ea typeface="Gothic A1 Bold"/>
                <a:cs typeface="Gothic A1 Bold"/>
                <a:sym typeface="Gothic A1 Bold"/>
              </a:rPr>
              <a:t>Hitno</a:t>
            </a:r>
            <a:r>
              <a:rPr lang="en-US" b="true" sz="3699">
                <a:solidFill>
                  <a:srgbClr val="FF2828"/>
                </a:solidFill>
                <a:latin typeface="Gothic A1 Bold"/>
                <a:ea typeface="Gothic A1 Bold"/>
                <a:cs typeface="Gothic A1 Bold"/>
                <a:sym typeface="Gothic A1 Bold"/>
              </a:rPr>
              <a:t> (R3 – Pb potamljivanje)</a:t>
            </a:r>
          </a:p>
          <a:p>
            <a:pPr algn="l">
              <a:lnSpc>
                <a:spcPts val="4439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4871524" y="4504107"/>
            <a:ext cx="3215448" cy="401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9"/>
              </a:lnSpc>
              <a:spcBef>
                <a:spcPct val="0"/>
              </a:spcBef>
            </a:pPr>
            <a:r>
              <a:rPr lang="en-US" b="true" sz="3699">
                <a:solidFill>
                  <a:srgbClr val="456446"/>
                </a:solidFill>
                <a:latin typeface="Gothic A1 Bold"/>
                <a:ea typeface="Gothic A1 Bold"/>
                <a:cs typeface="Gothic A1 Bold"/>
                <a:sym typeface="Gothic A1 Bold"/>
              </a:rPr>
              <a:t>Cu-dominantno</a:t>
            </a:r>
          </a:p>
          <a:p>
            <a:pPr algn="l">
              <a:lnSpc>
                <a:spcPts val="4439"/>
              </a:lnSpc>
              <a:spcBef>
                <a:spcPct val="0"/>
              </a:spcBef>
            </a:pPr>
            <a:r>
              <a:rPr lang="en-US" sz="3699">
                <a:solidFill>
                  <a:srgbClr val="456446"/>
                </a:solidFill>
                <a:latin typeface="Gothic A1"/>
                <a:ea typeface="Gothic A1"/>
                <a:cs typeface="Gothic A1"/>
                <a:sym typeface="Gothic A1"/>
              </a:rPr>
              <a:t>max CVI 0.97 medijana 0.45</a:t>
            </a:r>
          </a:p>
          <a:p>
            <a:pPr algn="l">
              <a:lnSpc>
                <a:spcPts val="4439"/>
              </a:lnSpc>
              <a:spcBef>
                <a:spcPct val="0"/>
              </a:spcBef>
            </a:pPr>
            <a:r>
              <a:rPr lang="en-US" b="true" sz="3699">
                <a:solidFill>
                  <a:srgbClr val="FFA51F"/>
                </a:solidFill>
                <a:latin typeface="Gothic A1 Bold"/>
                <a:ea typeface="Gothic A1 Bold"/>
                <a:cs typeface="Gothic A1 Bold"/>
                <a:sym typeface="Gothic A1 Bold"/>
              </a:rPr>
              <a:t>Pratiti (R2 – Cu degr.)</a:t>
            </a:r>
          </a:p>
          <a:p>
            <a:pPr algn="l">
              <a:lnSpc>
                <a:spcPts val="4439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8286771" y="4504107"/>
            <a:ext cx="3571757" cy="3457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9"/>
              </a:lnSpc>
              <a:spcBef>
                <a:spcPct val="0"/>
              </a:spcBef>
            </a:pPr>
            <a:r>
              <a:rPr lang="en-US" b="true" sz="3699">
                <a:solidFill>
                  <a:srgbClr val="456446"/>
                </a:solidFill>
                <a:latin typeface="Gothic A1 Bold"/>
                <a:ea typeface="Gothic A1 Bold"/>
                <a:cs typeface="Gothic A1 Bold"/>
                <a:sym typeface="Gothic A1 Bold"/>
              </a:rPr>
              <a:t>Ti/Cu preklapanje</a:t>
            </a:r>
          </a:p>
          <a:p>
            <a:pPr algn="l">
              <a:lnSpc>
                <a:spcPts val="4439"/>
              </a:lnSpc>
              <a:spcBef>
                <a:spcPct val="0"/>
              </a:spcBef>
            </a:pPr>
            <a:r>
              <a:rPr lang="en-US" sz="3699">
                <a:solidFill>
                  <a:srgbClr val="456446"/>
                </a:solidFill>
                <a:latin typeface="Gothic A1"/>
                <a:ea typeface="Gothic A1"/>
                <a:cs typeface="Gothic A1"/>
                <a:sym typeface="Gothic A1"/>
              </a:rPr>
              <a:t>medijana CVI ≈ 0.45</a:t>
            </a:r>
          </a:p>
          <a:p>
            <a:pPr algn="l">
              <a:lnSpc>
                <a:spcPts val="4439"/>
              </a:lnSpc>
              <a:spcBef>
                <a:spcPct val="0"/>
              </a:spcBef>
            </a:pPr>
            <a:r>
              <a:rPr lang="en-US" b="true" sz="3699">
                <a:solidFill>
                  <a:srgbClr val="7ED957"/>
                </a:solidFill>
                <a:latin typeface="Gothic A1 Bold"/>
                <a:ea typeface="Gothic A1 Bold"/>
                <a:cs typeface="Gothic A1 Bold"/>
                <a:sym typeface="Gothic A1 Bold"/>
              </a:rPr>
              <a:t>Vlaga (R4)</a:t>
            </a:r>
          </a:p>
          <a:p>
            <a:pPr algn="l">
              <a:lnSpc>
                <a:spcPts val="4439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3811065" y="7894610"/>
            <a:ext cx="2518529" cy="96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80"/>
              </a:lnSpc>
              <a:spcBef>
                <a:spcPct val="0"/>
              </a:spcBef>
            </a:pPr>
            <a:r>
              <a:rPr lang="en-US" b="true" sz="2983">
                <a:solidFill>
                  <a:srgbClr val="000000"/>
                </a:solidFill>
                <a:latin typeface="Gothic A1 Bold"/>
                <a:ea typeface="Gothic A1 Bold"/>
                <a:cs typeface="Gothic A1 Bold"/>
                <a:sym typeface="Gothic A1 Bold"/>
              </a:rPr>
              <a:t>SAM REGIONI</a:t>
            </a:r>
          </a:p>
          <a:p>
            <a:pPr algn="ctr">
              <a:lnSpc>
                <a:spcPts val="3580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3194856" y="2303151"/>
            <a:ext cx="3750945" cy="96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80"/>
              </a:lnSpc>
              <a:spcBef>
                <a:spcPct val="0"/>
              </a:spcBef>
            </a:pPr>
            <a:r>
              <a:rPr lang="en-US" b="true" sz="2983">
                <a:solidFill>
                  <a:srgbClr val="000000"/>
                </a:solidFill>
                <a:latin typeface="Gothic A1 Bold"/>
                <a:ea typeface="Gothic A1 Bold"/>
                <a:cs typeface="Gothic A1 Bold"/>
                <a:sym typeface="Gothic A1 Bold"/>
              </a:rPr>
              <a:t>CVI PO SAM REGION</a:t>
            </a:r>
          </a:p>
          <a:p>
            <a:pPr algn="ctr">
              <a:lnSpc>
                <a:spcPts val="358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986507"/>
            <a:ext cx="7066497" cy="0"/>
          </a:xfrm>
          <a:prstGeom prst="line">
            <a:avLst/>
          </a:prstGeom>
          <a:ln cap="flat" w="38100">
            <a:solidFill>
              <a:srgbClr val="45644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28700" y="1034955"/>
            <a:ext cx="14116543" cy="1266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640"/>
              </a:lnSpc>
              <a:spcBef>
                <a:spcPct val="0"/>
              </a:spcBef>
            </a:pPr>
            <a:r>
              <a:rPr lang="en-US" sz="7200">
                <a:solidFill>
                  <a:srgbClr val="456446"/>
                </a:solidFill>
                <a:latin typeface="Gothic A1"/>
                <a:ea typeface="Gothic A1"/>
                <a:cs typeface="Gothic A1"/>
                <a:sym typeface="Gothic A1"/>
              </a:rPr>
              <a:t>Zaključci i dalji rad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63290" y="2739306"/>
            <a:ext cx="3914477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24"/>
              </a:lnSpc>
              <a:spcBef>
                <a:spcPct val="0"/>
              </a:spcBef>
            </a:pPr>
            <a:r>
              <a:rPr lang="en-US" b="true" sz="3187">
                <a:solidFill>
                  <a:srgbClr val="456446"/>
                </a:solidFill>
                <a:latin typeface="Gothic A1 Bold"/>
                <a:ea typeface="Gothic A1 Bold"/>
                <a:cs typeface="Gothic A1 Bold"/>
                <a:sym typeface="Gothic A1 Bold"/>
              </a:rPr>
              <a:t>ŠTA SMO POKAZALI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3739431"/>
            <a:ext cx="7614616" cy="5667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3018" indent="-331509" lvl="1">
              <a:lnSpc>
                <a:spcPts val="3685"/>
              </a:lnSpc>
              <a:buFont typeface="Arial"/>
              <a:buChar char="•"/>
            </a:pPr>
            <a:r>
              <a:rPr lang="en-US" sz="3070">
                <a:solidFill>
                  <a:srgbClr val="456446"/>
                </a:solidFill>
                <a:latin typeface="Gothic A1"/>
                <a:ea typeface="Gothic A1"/>
                <a:cs typeface="Gothic A1"/>
                <a:sym typeface="Gothic A1"/>
              </a:rPr>
              <a:t>End-</a:t>
            </a:r>
            <a:r>
              <a:rPr lang="en-US" sz="3070">
                <a:solidFill>
                  <a:srgbClr val="456446"/>
                </a:solidFill>
                <a:latin typeface="Gothic A1"/>
                <a:ea typeface="Gothic A1"/>
                <a:cs typeface="Gothic A1"/>
                <a:sym typeface="Gothic A1"/>
              </a:rPr>
              <a:t>to-end pipeline: od raw XRF spektara do conservation-priority map za manje od 70 sekundi</a:t>
            </a:r>
          </a:p>
          <a:p>
            <a:pPr algn="l" marL="663018" indent="-331509" lvl="1">
              <a:lnSpc>
                <a:spcPts val="3685"/>
              </a:lnSpc>
              <a:buFont typeface="Arial"/>
              <a:buChar char="•"/>
            </a:pPr>
            <a:r>
              <a:rPr lang="en-US" sz="3070">
                <a:solidFill>
                  <a:srgbClr val="456446"/>
                </a:solidFill>
                <a:latin typeface="Gothic A1"/>
                <a:ea typeface="Gothic A1"/>
                <a:cs typeface="Gothic A1"/>
                <a:sym typeface="Gothic A1"/>
              </a:rPr>
              <a:t>Physics-based CVI bez supervised treninga u bilo kojoj fazi</a:t>
            </a:r>
          </a:p>
          <a:p>
            <a:pPr algn="l" marL="663018" indent="-331509" lvl="1">
              <a:lnSpc>
                <a:spcPts val="3685"/>
              </a:lnSpc>
              <a:buFont typeface="Arial"/>
              <a:buChar char="•"/>
            </a:pPr>
            <a:r>
              <a:rPr lang="en-US" sz="3070">
                <a:solidFill>
                  <a:srgbClr val="456446"/>
                </a:solidFill>
                <a:latin typeface="Gothic A1"/>
                <a:ea typeface="Gothic A1"/>
                <a:cs typeface="Gothic A1"/>
                <a:sym typeface="Gothic A1"/>
              </a:rPr>
              <a:t>Potvrđena stabilnost između skenova: r &gt; 0.98 za sve elemente, composite W1 = 0.0054</a:t>
            </a:r>
          </a:p>
          <a:p>
            <a:pPr algn="l" marL="663018" indent="-331509" lvl="1">
              <a:lnSpc>
                <a:spcPts val="3685"/>
              </a:lnSpc>
              <a:buFont typeface="Arial"/>
              <a:buChar char="•"/>
            </a:pPr>
            <a:r>
              <a:rPr lang="en-US" sz="3070">
                <a:solidFill>
                  <a:srgbClr val="456446"/>
                </a:solidFill>
                <a:latin typeface="Gothic A1"/>
                <a:ea typeface="Gothic A1"/>
                <a:cs typeface="Gothic A1"/>
                <a:sym typeface="Gothic A1"/>
              </a:rPr>
              <a:t>SAM daje 13 actionable regiona, pri čemu je svaki opisan dominantnim mehanizmom i nivoom rizika</a:t>
            </a:r>
          </a:p>
          <a:p>
            <a:pPr algn="l">
              <a:lnSpc>
                <a:spcPts val="3685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9593836" y="2739618"/>
            <a:ext cx="3336206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24"/>
              </a:lnSpc>
              <a:spcBef>
                <a:spcPct val="0"/>
              </a:spcBef>
            </a:pPr>
            <a:r>
              <a:rPr lang="en-US" b="true" sz="3187">
                <a:solidFill>
                  <a:srgbClr val="456446"/>
                </a:solidFill>
                <a:latin typeface="Gothic A1 Bold"/>
                <a:ea typeface="Gothic A1 Bold"/>
                <a:cs typeface="Gothic A1 Bold"/>
                <a:sym typeface="Gothic A1 Bold"/>
              </a:rPr>
              <a:t>SLEDEĆI KORACI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44000" y="3739431"/>
            <a:ext cx="8600812" cy="6134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3018" indent="-331509" lvl="1">
              <a:lnSpc>
                <a:spcPts val="3685"/>
              </a:lnSpc>
              <a:buFont typeface="Arial"/>
              <a:buChar char="•"/>
            </a:pPr>
            <a:r>
              <a:rPr lang="en-US" sz="3070">
                <a:solidFill>
                  <a:srgbClr val="456446"/>
                </a:solidFill>
                <a:latin typeface="Gothic A1"/>
                <a:ea typeface="Gothic A1"/>
                <a:cs typeface="Gothic A1"/>
                <a:sym typeface="Gothic A1"/>
              </a:rPr>
              <a:t>Va</a:t>
            </a:r>
            <a:r>
              <a:rPr lang="en-US" sz="3070">
                <a:solidFill>
                  <a:srgbClr val="456446"/>
                </a:solidFill>
                <a:latin typeface="Gothic A1"/>
                <a:ea typeface="Gothic A1"/>
                <a:cs typeface="Gothic A1"/>
                <a:sym typeface="Gothic A1"/>
              </a:rPr>
              <a:t>lidirati CVI u odnosu na procene eksperata konzervatora na pravim slikama sa poznatim ishodima degradacije</a:t>
            </a:r>
          </a:p>
          <a:p>
            <a:pPr algn="l" marL="663018" indent="-331509" lvl="1">
              <a:lnSpc>
                <a:spcPts val="3685"/>
              </a:lnSpc>
              <a:buFont typeface="Arial"/>
              <a:buChar char="•"/>
            </a:pPr>
            <a:r>
              <a:rPr lang="en-US" sz="3070">
                <a:solidFill>
                  <a:srgbClr val="456446"/>
                </a:solidFill>
                <a:latin typeface="Gothic A1"/>
                <a:ea typeface="Gothic A1"/>
                <a:cs typeface="Gothic A1"/>
                <a:sym typeface="Gothic A1"/>
              </a:rPr>
              <a:t>Skenirati prava platna u partnerskim institucijama kako bi se izgradio prvi labeled XRF conservation dataset</a:t>
            </a:r>
          </a:p>
          <a:p>
            <a:pPr algn="l" marL="663018" indent="-331509" lvl="1">
              <a:lnSpc>
                <a:spcPts val="3685"/>
              </a:lnSpc>
              <a:buFont typeface="Arial"/>
              <a:buChar char="•"/>
            </a:pPr>
            <a:r>
              <a:rPr lang="en-US" sz="3070">
                <a:solidFill>
                  <a:srgbClr val="456446"/>
                </a:solidFill>
                <a:latin typeface="Gothic A1"/>
                <a:ea typeface="Gothic A1"/>
                <a:cs typeface="Gothic A1"/>
                <a:sym typeface="Gothic A1"/>
              </a:rPr>
              <a:t>Proširiti dataset pomoću spatial augmentation-a radi boljeg pokrivanja različitih raspodela pigmenata</a:t>
            </a:r>
          </a:p>
          <a:p>
            <a:pPr algn="l" marL="663018" indent="-331509" lvl="1">
              <a:lnSpc>
                <a:spcPts val="3685"/>
              </a:lnSpc>
              <a:buFont typeface="Arial"/>
              <a:buChar char="•"/>
            </a:pPr>
            <a:r>
              <a:rPr lang="en-US" sz="3070">
                <a:solidFill>
                  <a:srgbClr val="456446"/>
                </a:solidFill>
                <a:latin typeface="Gothic A1"/>
                <a:ea typeface="Gothic A1"/>
                <a:cs typeface="Gothic A1"/>
                <a:sym typeface="Gothic A1"/>
              </a:rPr>
              <a:t>Istrenirati domain-specific segmentation model na prikupljenom dataset-u, sa ciljem da zameni SAM</a:t>
            </a:r>
          </a:p>
          <a:p>
            <a:pPr algn="l">
              <a:lnSpc>
                <a:spcPts val="3685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DAHLqZEFXr0</dc:identifier>
  <dcterms:modified xsi:type="dcterms:W3CDTF">2011-08-01T06:04:30Z</dcterms:modified>
  <cp:revision>1</cp:revision>
  <dc:title>IcETRAN2026_final</dc:title>
</cp:coreProperties>
</file>